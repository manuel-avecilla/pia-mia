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A4EE5D-103D-468E-87BA-169503756C09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Sesión corta y muy práctica: es el puente entre "programar" y "trabajar con datos reales".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D22697-D2CD-4BBF-AFE4-ADF0D7D35D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E7DB00-A8FA-40F2-BA94-0F2C203AA6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Comparar con try/finally manual en Java antes del try-with-resources.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BCABFE-899B-455C-B973-DCA5C43D66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modo "x" es útil para no pisar resultados de un entrenamiento anterior.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6F7FED-C2DF-483A-89D0-9374C5750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Recordar el parseo manual del proyecto 1: ahora se ve lo que resuelve el módulo csv.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6D9B42-B12F-4956-83EB-D17EEE9003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Toda API de IA devuelve JSON. Enlazar con el criterio RA1.f sobre lenguajes de marcado.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A7A5BB-B7B1-4730-B555-35B8A82B9D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Muchos fallos de "no encuentra el fichero" son rutas relativas al directorio de ejecución: por eso Path(__file__).parent.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410A10-15F4-4169-8CF2-0DAD611ADC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 alguien va rápido: que compare su parser manual con DictReader y mida cuánto código se ahorra.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E47AED-BDCD-494E-A162-CFD5BBEE73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24911C-60B7-48A2-8E96-D9099EA683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Comparar con las checked exceptions de Java: en Python no hay que declararlas.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F4A5A8-36AE-4B28-B870-7F35B3E5EC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Todas heredan de Exception. Capturar Exception es correcto solo en el nivel más externo del programa.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8C4F59-BFA1-47C7-9909-F793C9AE59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Adelanta la sintaxis de class del bloque 4: aquí se ve en su forma más simple.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75C393-0B89-4748-B39E-32BCB18980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939658-CF28-410F-9EDA-C3A33379B3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Mostrar el efecto de importar un módulo que imprime al cargarse: se ejecuta todo lo que esté a nivel superior.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B4DF89-43DF-4B27-A6C3-70AA6F3689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 reorganicen su proyecto 1 con esta estructura: es parte de la práctica final.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D25E82-D139-449D-90BE-D6C952E17F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Enlazar con MLOps y con el módulo de Big Data aplicado.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687B46-E4BE-49DC-8EA0-1CEE5BB060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Dar el CSV sucio ya preparado con errores variados. El objetivo pedagógico: un fallo en una fila no puede tumbar el proceso.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632667-3EA3-4185-B0E9-3EB629C5D7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418320" y="-1371600"/>
            <a:ext cx="4205520" cy="4205520"/>
          </a:xfrm>
          <a:prstGeom prst="ellipse">
            <a:avLst/>
          </a:prstGeom>
          <a:solidFill>
            <a:srgbClr val="0E7C7B">
              <a:alpha val="28000"/>
            </a:srgbClr>
          </a:solidFill>
          <a:ln w="12700">
            <a:solidFill>
              <a:srgbClr val="0E7C7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67000" y="1325880"/>
            <a:ext cx="11054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17BEBB"/>
                </a:solidFill>
                <a:effectLst/>
                <a:uFillTx/>
                <a:latin typeface="Calibri"/>
                <a:ea typeface="Calibri"/>
              </a:rPr>
              <a:t>BLOQUE 3 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67000" y="1737360"/>
            <a:ext cx="78631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Ficheros, errores y módulos</a:t>
            </a:r>
            <a:endParaRPr lang="es-E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67000" y="3154680"/>
            <a:ext cx="74973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9C8D0"/>
                </a:solidFill>
                <a:effectLst/>
                <a:uFillTx/>
                <a:latin typeface="Calibri"/>
                <a:ea typeface="Calibri"/>
              </a:rPr>
              <a:t>Sacar los datos del código fuente, sobrevivir a los datos sucios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9C8D0"/>
                </a:solidFill>
                <a:effectLst/>
                <a:uFillTx/>
                <a:latin typeface="Calibri"/>
                <a:ea typeface="Calibri"/>
              </a:rPr>
              <a:t>y organizar el proyecto en varios ficheros.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67000" y="4160520"/>
            <a:ext cx="6765840" cy="2046240"/>
          </a:xfrm>
          <a:prstGeom prst="roundRect">
            <a:avLst>
              <a:gd name="adj" fmla="val 3573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68240" y="43344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969120" y="43344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170360" y="43344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435680" y="4260960"/>
            <a:ext cx="5668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bloque3.py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49880" y="4572000"/>
            <a:ext cx="6445800" cy="15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pathlib </a:t>
            </a: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Path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csv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(Path(</a:t>
            </a:r>
            <a:r>
              <a:rPr lang="en-US" sz="12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"datos/iris.csv"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)) </a:t>
            </a: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filas = </a:t>
            </a:r>
            <a:r>
              <a:rPr lang="en-US" sz="12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list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(csv.DictReader(f))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len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(filas), </a:t>
            </a:r>
            <a:r>
              <a:rPr lang="en-US" sz="12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"muestras cargadas"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589520" y="5943600"/>
            <a:ext cx="4022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alibri"/>
                <a:ea typeface="Calibri"/>
              </a:rPr>
              <a:t>Programación de Inteligencia Artificial · CE IA y Big Data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Persistencia: leer y escribir datos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A9BAC4"/>
                </a:solidFill>
                <a:effectLst/>
                <a:uFillTx/>
                <a:latin typeface="Calibri"/>
                <a:ea typeface="Calibri"/>
              </a:rPr>
              <a:t>Ningún dataset vive dentro del código. </a:t>
            </a:r>
            <a:endParaRPr lang="es-E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FICHEROS DE TEXTO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with open(...): abrir y cerrar sin olvidos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El bloque with cierra el fichero aunque salte una excepción.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Indica siempre encoding="utf-8": evita sorpresas entre sistemas.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Iterar el fichero lee línea a línea sin cargarlo entero.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read() devuelve todo; readlines() una lista con saltos de línea.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Cada línea leída termina en \n: usa .strip().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5943600" y="1444680"/>
            <a:ext cx="5668560" cy="2427120"/>
          </a:xfrm>
          <a:prstGeom prst="roundRect">
            <a:avLst>
              <a:gd name="adj" fmla="val 3013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texto.py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6126480" y="1856160"/>
            <a:ext cx="5348520" cy="19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"notas.txt"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encoding=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"utf-8"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linea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(linea.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strip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())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"salida.txt"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"w"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encoding=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"utf-8"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f.write(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"primera linea\n"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f.writelines([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"a\n"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"b\n"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Fuera del with el fichero ya está cerrado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f.read()  -&gt; ValueError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MODOS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El segundo argumento de open()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67000" y="1371600"/>
            <a:ext cx="11054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Elegir mal el modo destruye datos: "w" trunca el fichero al abrirlo.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" name="Table 0"/>
          <p:cNvGraphicFramePr/>
          <p:nvPr/>
        </p:nvGraphicFramePr>
        <p:xfrm>
          <a:off x="567000" y="1874520"/>
          <a:ext cx="11054520" cy="27432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  <a:gridCol w="2834640"/>
                <a:gridCol w="2916720"/>
              </a:tblGrid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Significado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 no existe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 existe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"r"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Lectura (valor por defecto)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FileNotFoundError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 lee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"w"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Escritura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 crea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BORRA el contenido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"a"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Añadir al final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 crea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Escribe al final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"x"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Creación exclusiva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 crea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FileExistsError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"rb" / "wb"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Binario (imágenes, modelos)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Sin codificación de texto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CSV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CSV: el formato universal de los datos tabulares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567000" y="1417320"/>
            <a:ext cx="11054520" cy="3484440"/>
          </a:xfrm>
          <a:prstGeom prst="roundRect">
            <a:avLst>
              <a:gd name="adj" fmla="val 2099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lectura_csv.py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749880" y="1828800"/>
            <a:ext cx="10734480" cy="29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csv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Leer como diccionarios: la primera fila da los nombres de columna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"iris.csv"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newline=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encoding=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"utf-8"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filas =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list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(csv.DictReader(f))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(filas[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])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{'largo_sep': '5.1', ..., 'clase': 'setosa'}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(filas[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][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"largo_sep"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]) +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¡todo llega como texto!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Escribir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campos = [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"clase"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"media"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"resumen.csv"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"w"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newline=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encoding=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"utf-8"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escritor = csv.DictWriter(f, fieldnames=campos)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escritor.writeheader()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escritor.writerows([{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"clase"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"setosa"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"media"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5.0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}])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567000" y="513108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768240" y="513108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Dos detalles: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newline="" evita líneas en blanco intercaladas en Windows, y csv gestiona por ti las comas dentro de campos entrecomillados. No partas el CSV con split(",").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JSON: configuración, APIs y modelos serializados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567000" y="1417320"/>
            <a:ext cx="11054520" cy="3678840"/>
          </a:xfrm>
          <a:prstGeom prst="roundRect">
            <a:avLst>
              <a:gd name="adj" fmla="val 1988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trabajo_json.py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749880" y="1828800"/>
            <a:ext cx="10734480" cy="31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json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De fichero a estructuras de Python (dict / list)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"config.json"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encoding=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"utf-8"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config = json.load(f)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(config[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"modelo"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][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"k"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De Python a fichero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resultados = {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"acierto"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0.93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"clases"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[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"setosa"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"virginica"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]}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"resultados.json"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"w"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encoding=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"utf-8"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json.dump(resultados, f, indent=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ensure_ascii=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False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Y sobre cadenas de texto (respuestas de una API REST)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texto = json.dumps(resultados)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vuelta = json.loads(texto)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567000" y="532548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768240" y="532548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Límite: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JSON solo entiende dict, list, str, int, float, bool y None. Un objeto propio o una fecha hay que convertirlos antes; lo veremos en el bloque 4.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RUTAS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pathlib: rutas que funcionan en los tres sistemas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Olvida concatenar cadenas con barras: el operador / compone rutas.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Path(__file__).parent da la carpeta del propio script.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Comprobaciones sin excepciones: .exists(), .is_file().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.glob("*.csv") recorre todos los ficheros de un patrón.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mkdir(parents=True, exist_ok=True) crea la estructura de salida.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5943600" y="1444680"/>
            <a:ext cx="5668560" cy="3171240"/>
          </a:xfrm>
          <a:prstGeom prst="roundRect">
            <a:avLst>
              <a:gd name="adj" fmla="val 2306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rutas.py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6126480" y="1856160"/>
            <a:ext cx="5348520" cy="26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pathlib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Path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BASE = Path(__file__).parent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entrada = BASE / 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"datos"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/ 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"iris.csv"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entrada.exists()      </a:t>
            </a:r>
            <a:r>
              <a:rPr lang="en-US" sz="11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True / False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entrada.suffix        </a:t>
            </a:r>
            <a:r>
              <a:rPr lang="en-US" sz="11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'.csv'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entrada.stem          </a:t>
            </a:r>
            <a:r>
              <a:rPr lang="en-US" sz="11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'iris'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salida = BASE / 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"salida"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salida.mkdir(parents=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exist_ok=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csv_file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(BASE / 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"datos"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).glob(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"*.csv"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(csv_file.name)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67000" y="45720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17BEBB"/>
                </a:solidFill>
                <a:effectLst/>
                <a:uFillTx/>
                <a:latin typeface="Calibri"/>
                <a:ea typeface="Calibri"/>
              </a:rPr>
              <a:t>PRÁCTICA 3.1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567000" y="74988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Entrada y salida de datos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567000" y="1600200"/>
            <a:ext cx="539424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E3.1 · Lee un fichero de texto y muestra número de líneas, palabras y caracteres.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E3.2 · Carga iris.csv con DictReader, convierte las medidas a float y calcula la media por clase.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E3.3 · Guarda ese resumen en resumen.csv y también en resumen.json.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E3.4 · Recorre una carpeta con glob y genera un índice con nombre y tamaño de cada fichero.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6309360" y="1600200"/>
            <a:ext cx="5302800" cy="2706120"/>
          </a:xfrm>
          <a:prstGeom prst="roundRect">
            <a:avLst>
              <a:gd name="adj" fmla="val 2702"/>
            </a:avLst>
          </a:prstGeom>
          <a:solidFill>
            <a:srgbClr val="1A2F3D"/>
          </a:solidFill>
          <a:ln w="12700">
            <a:solidFill>
              <a:srgbClr val="2B4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492240" y="2011680"/>
            <a:ext cx="4982760" cy="37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E3.2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csv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pathlib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Path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RUTA = Path(__file__).parent /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"iris.csv"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(RUTA, newline=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filas =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list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(csv.DictReader(f))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fila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filas: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fila[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"largo_pet"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 =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(...)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6492240" y="1710000"/>
            <a:ext cx="4937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e3_2.py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567000" y="6035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Excepciones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A9BAC4"/>
                </a:solidFill>
                <a:effectLst/>
                <a:uFillTx/>
                <a:latin typeface="Calibri"/>
                <a:ea typeface="Calibri"/>
              </a:rPr>
              <a:t>Los datos reales vienen sucios. Un programa de datos se juzga por cómo falla.</a:t>
            </a:r>
            <a:endParaRPr lang="es-E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MANEJO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try / except / else / finally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Captura lo que sabes tratar; deja subir lo que no.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except sin tipo captura todo, incluidos tus propios fallos: evítalo.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else: código que solo corre si no hubo excepción.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finally: se ejecuta siempre (limpieza, cierres, registro).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as e da acceso al objeto excepción y a su mensaje.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5943600" y="1444680"/>
            <a:ext cx="5668560" cy="2799000"/>
          </a:xfrm>
          <a:prstGeom prst="roundRect">
            <a:avLst>
              <a:gd name="adj" fmla="val 2613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excepciones.py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6126480" y="1856160"/>
            <a:ext cx="5348520" cy="22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valor =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(fila[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"largo_pet"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except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ValueError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e: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"Valor no numérico: {e}"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valor =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None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except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KeyError: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"Falta la columna"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valor =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None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"Conversión correcta"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finally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"Fila procesada"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JERARQUÍA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Las excepciones que verás en datos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2" name="Table 0"/>
          <p:cNvGraphicFramePr/>
          <p:nvPr/>
        </p:nvGraphicFramePr>
        <p:xfrm>
          <a:off x="567000" y="1481400"/>
          <a:ext cx="11054520" cy="307188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3922560"/>
              </a:tblGrid>
              <a:tr h="43884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Excepción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Cuándo salta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Reacción habitual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</a:tr>
              <a:tr h="43884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ValueError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float("n/d"), conversión imposible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Descartar o imputar el valor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3884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KeyError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Clave inexistente en un dict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Usar .get() con valor por defecto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84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IndexError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Índice fuera de rango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Revisar longitudes antes de indexar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3884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TypeError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Operación entre tipos incompatibles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Convertir antes de operar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84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FileNotFoundError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Ruta que no existe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Comprobar con pathlib y avisar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3884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ZeroDivisionError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Media de una lista vacía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Validar que hay muestras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LANZAR ERRORES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raise y excepciones propias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567000" y="1417320"/>
            <a:ext cx="11054520" cy="4287960"/>
          </a:xfrm>
          <a:prstGeom prst="roundRect">
            <a:avLst>
              <a:gd name="adj" fmla="val 1706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propias.py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749880" y="1828800"/>
            <a:ext cx="10734480" cy="37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dividir(a, b):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b == </a:t>
            </a:r>
            <a:r>
              <a:rPr lang="en-US" sz="11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raise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ValueError(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"El divisor no puede ser cero"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a / b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DatosInvalidosError(Exception):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"""El fichero de entrada no cumple el formato esperado."""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validar(fila, columnas):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faltan =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set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(columnas) -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set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(fila)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faltan: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raise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DatosInvalidosError(f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"Faltan columnas: {sorted(faltan)}"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fila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validar({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"clase"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"setosa"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}, [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"clase"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"largo_pet"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except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DatosInvalidosError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e: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"Fichero rechazado:"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e)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567000" y="593460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768240" y="593460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Por qué crear la tuya: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una excepción propia documenta el dominio del problema y permite que quien use tu módulo distinga un error de datos de un error de programación.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Módulos, paquetes y dependencias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A9BAC4"/>
                </a:solidFill>
                <a:effectLst/>
                <a:uFillTx/>
                <a:latin typeface="Calibri"/>
                <a:ea typeface="Calibri"/>
              </a:rPr>
              <a:t>Un fichero de 800 líneas no se mantiene. Así se reparte el código de un proyecto.</a:t>
            </a:r>
            <a:endParaRPr lang="es-E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IMPORTAR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Cada .py es un módulo importable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Un paquete es una carpeta de módulos; import ejecuta el módulo una sola vez.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import modulo → modulo.funcion() (mantiene el origen visible).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from modulo import funcion → funcion() directa.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Evita from modulo import *: contamina el espacio de nombres.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Orden PEP 8: estándar, terceros, propios; separados por líneas en blanco.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5943600" y="1444680"/>
            <a:ext cx="5668560" cy="2613240"/>
          </a:xfrm>
          <a:prstGeom prst="roundRect">
            <a:avLst>
              <a:gd name="adj" fmla="val 2799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imports.py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6126480" y="1856160"/>
            <a:ext cx="5348520" cy="21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math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json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pathlib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Path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numpy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np              </a:t>
            </a:r>
            <a:r>
              <a:rPr lang="en-US" sz="11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terceros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.carga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leer_csv     </a:t>
            </a:r>
            <a:r>
              <a:rPr lang="en-US" sz="11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propios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.estadistica </a:t>
            </a:r>
            <a:r>
              <a:rPr lang="en-US" sz="11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media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math.</a:t>
            </a: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sqrt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16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               </a:t>
            </a:r>
            <a:r>
              <a:rPr lang="en-US" sz="11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4.0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(media([</a:t>
            </a:r>
            <a:r>
              <a:rPr lang="en-US" sz="11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]))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ESTRUCTURA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Un proyecto pequeño bien ordenado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567000" y="1417320"/>
            <a:ext cx="11054520" cy="3678840"/>
          </a:xfrm>
          <a:prstGeom prst="roundRect">
            <a:avLst>
              <a:gd name="adj" fmla="val 1988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estructura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749880" y="1828800"/>
            <a:ext cx="10734480" cy="31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analisis_iris/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├── datos/iris.csv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├── analisis/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│   ├── __init__.py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marca la carpeta como paquete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│   ├── carga.py   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leer_csv(), validar_fila()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│   ├── estadistica.py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media(), desviacion(), resumen_por_clase()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│   └── informe.py 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imprimir_informe()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├── main.py        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punto de entrada: orquesta, no calcula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├── requirements.txt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└── README.md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main.py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analisis.carga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leer_csv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__name__ ==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"__main__"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solo al ejecutar, no al importar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filas = leer_csv(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"datos/iris.csv"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8"/>
          <p:cNvSpPr/>
          <p:nvPr/>
        </p:nvSpPr>
        <p:spPr>
          <a:xfrm>
            <a:off x="567000" y="532548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768240" y="532548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El guardián: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sin el if __name__, importar tu módulo desde otro fichero (o desde los tests) lanzaría el programa entero. Es el equivalente al main() de Java.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DEPENDENCIAS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Entorno virtual y dependencias reproducibles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567000" y="1417320"/>
            <a:ext cx="11054520" cy="3205080"/>
          </a:xfrm>
          <a:prstGeom prst="roundRect">
            <a:avLst>
              <a:gd name="adj" fmla="val 2282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terminal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749880" y="1828800"/>
            <a:ext cx="10734480" cy="27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python -m venv .venv   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un entorno por proyecto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source .venv/bin/activate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.venv\Scripts\activate en Windows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pip install pandas scikit-learn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pip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list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     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qué hay instalado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pip freeze &gt; requirements.txt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versiones exactas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En otra máquina (o en el aula de al lado):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pip install -r requirements.txt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.gitignore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.venv/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__pycache__/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567000" y="485172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768240" y="485172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Reproducibilidad: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requirements.txt es lo que hace reproducible un experimento de IA: sin versiones fijadas, el mismo código puede dar métricas distintas.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67000" y="45720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17BEBB"/>
                </a:solidFill>
                <a:effectLst/>
                <a:uFillTx/>
                <a:latin typeface="Calibri"/>
                <a:ea typeface="Calibri"/>
              </a:rPr>
              <a:t>PRÁCTICA 3.2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67000" y="74988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Mini-ETL: extraer, transformar, cargar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67000" y="1600200"/>
            <a:ext cx="539424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Lee ventas_sucio.csv, que contiene filas con campos vacíos, números con coma y fechas mal formadas.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1 · Valida cada fila y convierte los tipos; captura ValueError sin abortar el proceso.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2 · Acumula las filas rechazadas con su número de línea y el motivo.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3 · Escribe ventas_limpio.csv con las filas válidas y errores.json con el informe de rechazos.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4 · Reparte el código en carga.py, limpieza.py e informe.py, con main.py como punto de entrada.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6309360" y="1600200"/>
            <a:ext cx="5302800" cy="2511720"/>
          </a:xfrm>
          <a:prstGeom prst="roundRect">
            <a:avLst>
              <a:gd name="adj" fmla="val 2912"/>
            </a:avLst>
          </a:prstGeom>
          <a:solidFill>
            <a:srgbClr val="1A2F3D"/>
          </a:solidFill>
          <a:ln w="12700">
            <a:solidFill>
              <a:srgbClr val="2B4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6492240" y="2011680"/>
            <a:ext cx="4982760" cy="37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rechazos = []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n, fila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enumerate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(filas, start=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limpia = limpiar(fila)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except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(ValueError, KeyError)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e: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rechazos.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append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({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"linea"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n,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              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"motivo"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str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(e)})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continue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validas.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append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(limpia)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492240" y="1710000"/>
            <a:ext cx="4937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main.py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567000" y="6035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4B363"/>
                </a:solidFill>
                <a:effectLst/>
                <a:uFillTx/>
                <a:latin typeface="Calibri"/>
                <a:ea typeface="Calibri"/>
              </a:rPr>
              <a:t>Entrega: carpeta etl/ ejecutable con python main.py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Application>LibreOffice/26.2.6.3$Windows_X86_64 LibreOffice_project/8221e31b3ac356a1623c672912a3d2b492f7e3d1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2026-09-21T10:54:36Z</dcterms:created>
  <dc:creator>PptxGenJS</dc:creator>
  <dc:description/>
  <dc:language>es-ES</dc:language>
  <cp:lastModifiedBy/>
  <dcterms:modified xsi:type="dcterms:W3CDTF">2026-10-12T12:05:34Z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