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2C6413-3D60-4845-8947-7E4A0212FD1D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Presentación del bloque. Preguntar al grupo: lenguajes que ya conocen (Java, C, C#, JS). Todo el bloque se apoya en traducir conceptos conocidos, no en explicar qué es una variable.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5C2B35-64BB-49C2-87F4-28A4DC78D4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Criterio de evaluación RA1.b/d: valorar características de los lenguajes para IA. Insistir en que "Python es lento" es cierto y por eso NumPy vectoriza.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0F215D-F948-4225-9A5A-1D9B962AA8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EA8470-24D5-40BA-83EC-B136BE745B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Comparar con el ciclo javac/java. Mencionar que el .pyc en __pycache__ es bytecode, no código máquina.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1BA517-C114-44DF-A257-1CBBE96834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Volveremos a esto en el bloque 3 con requirements.txt. Que cada alumno cree hoy su entorno del curso.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D188D7-E52F-492E-89E0-9BD3E3DE57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Error típico de quien viene de Java: mezclar tabuladores y espacios. Configurar el editor para insertar 4 espacios.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01EF30-6B26-4369-ADE8-7A46221C1D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Mencionar herramientas: black/ruff format, pylint. En el proyecto final se valora el estilo.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0543AC-D672-4952-8934-9112345A0C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4B3C73-50B1-42B3-949C-13AF384C91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alias b = a es la fuente número uno de bugs para quien viene de lenguajes con copia por valor. Se retoma en el bloque 2 con listas.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12FE13-1B43-4A86-9135-113914303F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Demostrar en el REPL 0.1+0.2 y 2**200. El detalle de float importa mucho en métricas de modelos.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1B60CF3-B1F0-4442-92CA-E5F583642A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Insistir en / vs // porque en cálculos de índices y medias es error frecuente al venir de Java.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760A24-F065-446D-B21A-A67464E9B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f-strings desde 3.6. El formato :.2% y :.3f se usará al mostrar métricas del clasificador del bloque 4.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FE4B4E-5EBF-46C3-A80E-B926D55C42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 barras | solo están para que se vea el ancho. Pedir que prueben en el REPL cambiando el ancho y el relleno.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E7C0FC-9D4D-4AE4-A747-E4FF430F2A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formatos .2f y .1% son los que más usarán al imprimir métricas. El separador de miles sale con coma (formato inglés); para formato español se usa el módulo locale.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EE57F9-7EDA-4AFF-B4CF-CF613BAC0B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{variable=} es el truco más agradecido: sustituye a print("k =", k) al depurar.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DDE2FD-A585-45EC-9EB0-9DB1407FD8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bool("False") == True sorprende siempre: cualquier cadena no vacía es verdadera. Para leer booleanos de texto hay que comparar: texto.lower() == "true".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143DC2-6EF6-459C-B572-0F4D9FE2C4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Leer juntos un traceback completo de TypeError y otro de ValueError: la diferencia entre "tipo equivocado" y "valor imposible de convertir" se usará en el bloque 3.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54AFC7-DC5E-43F5-B1C7-AE456B5E1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C5255C-E9AD-4A7F-A27A-ECCD5EF61E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verdad implícita ahorra código pero esconde errores: if datos es distinto de if datos is not None cuando la lista está vacía.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965A77-2649-42AA-93EE-792440EF49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Quien viene de C escribe for i in range(len(lista)). Corregir ese hábito ya, se usará mucho en el bloque 2.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003265-C04B-4F3A-B65A-A7EB3A8754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caso range(5, 2) vacío y silencioso genera bugs: el bucle no se ejecuta y no hay error. Preguntar qué haría falta para contar de 5 a 2.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487194-3534-413F-AD19-A873D950D6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Comparar sys.getsizeof(range(10**6)) con sys.getsizeof(list(range(10**6))) en directo: 48 bytes frente a unos 8 MB.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D206EE-ADE7-4188-A177-879BA488C7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match-case solo como curiosidad: si el aula tiene 3.9 no está disponible. Comprobar versión con python --version.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8009B8-5CCD-410F-8F5D-490BB6EB52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Hacer E1.1 juntos en pantalla y dejar el resto autónomo. Pasar por los puestos: el 80 % de las dudas serán indentación y conversión de tipos.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72C9EF-5CDA-4571-95AA-0F53A0ACBF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E1.7 anticipa las excepciones: con lo visto hasta ahora se resuelve con str.isdigit() y comprobando un único punto decimal.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4CE013-932C-45AC-A928-DD0F781048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418320" y="-1371600"/>
            <a:ext cx="4205520" cy="4205520"/>
          </a:xfrm>
          <a:prstGeom prst="ellipse">
            <a:avLst/>
          </a:prstGeom>
          <a:solidFill>
            <a:srgbClr val="0E7C7B">
              <a:alpha val="28000"/>
            </a:srgbClr>
          </a:solidFill>
          <a:ln w="12700">
            <a:solidFill>
              <a:srgbClr val="0E7C7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67000" y="1325880"/>
            <a:ext cx="11054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201" strike="noStrike">
                <a:solidFill>
                  <a:srgbClr val="17BEBB"/>
                </a:solidFill>
                <a:effectLst/>
                <a:uFillTx/>
                <a:latin typeface="Calibri"/>
                <a:ea typeface="Calibri"/>
              </a:rPr>
              <a:t>BLOQUE 1 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67000" y="173736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 </a:t>
            </a:r>
            <a:endParaRPr lang="es-E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67000" y="3060000"/>
            <a:ext cx="74973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B9C8D0"/>
                </a:solidFill>
                <a:effectLst/>
                <a:uFillTx/>
                <a:latin typeface="Calibri"/>
                <a:ea typeface="Calibri"/>
              </a:rPr>
              <a:t>Sintaxis, tipos y control de flujo. 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67000" y="4160520"/>
            <a:ext cx="6765840" cy="1623600"/>
          </a:xfrm>
          <a:prstGeom prst="roundRect">
            <a:avLst>
              <a:gd name="adj" fmla="val 4504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68240" y="43344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969120" y="43344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170360" y="43344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435680" y="4260960"/>
            <a:ext cx="5668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bloque1.py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49880" y="4572000"/>
            <a:ext cx="644580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entorno = </a:t>
            </a:r>
            <a:r>
              <a:rPr lang="en-US" sz="12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"venv + VS Code"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version =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3.12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sesion </a:t>
            </a: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"Sesion {sesion}: lista"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589520" y="594360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alibri"/>
                <a:ea typeface="Calibri"/>
              </a:rPr>
              <a:t>Programación de Inteligencia Artificial · CE IA y Big Data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CONTEXTO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¿Por qué Python es el lenguaje de la IA?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67000" y="1463040"/>
            <a:ext cx="3489120" cy="2010960"/>
          </a:xfrm>
          <a:prstGeom prst="roundRect">
            <a:avLst>
              <a:gd name="adj" fmla="val 2727"/>
            </a:avLst>
          </a:prstGeom>
          <a:solidFill>
            <a:srgbClr val="EDF3F3"/>
          </a:solidFill>
          <a:ln w="12700">
            <a:solidFill>
              <a:srgbClr val="E1E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822960" y="1700640"/>
            <a:ext cx="419760" cy="419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822960" y="17006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353240" y="1719000"/>
            <a:ext cx="248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Ecosistema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841320" y="2240280"/>
            <a:ext cx="2940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NumPy, pandas, scikit-learn, PyTorch, TensorFlow. La comunidad científica publica en Python.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349520" y="1463040"/>
            <a:ext cx="3489120" cy="2010960"/>
          </a:xfrm>
          <a:prstGeom prst="roundRect">
            <a:avLst>
              <a:gd name="adj" fmla="val 2727"/>
            </a:avLst>
          </a:prstGeom>
          <a:solidFill>
            <a:srgbClr val="EDF3F3"/>
          </a:solidFill>
          <a:ln w="12700">
            <a:solidFill>
              <a:srgbClr val="E1E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605480" y="1700640"/>
            <a:ext cx="419760" cy="419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4605480" y="17006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5135760" y="1719000"/>
            <a:ext cx="248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Lenguaje pegamento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4623840" y="2240280"/>
            <a:ext cx="2940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Sintaxis sencilla por fuera, C y CUDA por dentro. Prototipas rápido sin pagar el rendimiento.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8132040" y="1463040"/>
            <a:ext cx="3489120" cy="2010960"/>
          </a:xfrm>
          <a:prstGeom prst="roundRect">
            <a:avLst>
              <a:gd name="adj" fmla="val 2727"/>
            </a:avLst>
          </a:prstGeom>
          <a:solidFill>
            <a:srgbClr val="EDF3F3"/>
          </a:solidFill>
          <a:ln w="12700">
            <a:solidFill>
              <a:srgbClr val="E1E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8388000" y="1700640"/>
            <a:ext cx="419760" cy="419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8388000" y="17006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8918280" y="1719000"/>
            <a:ext cx="248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Curva de entrada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8406360" y="2240280"/>
            <a:ext cx="2940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Poco código ceremonial: el foco está en el modelo y en los datos, no en la sintaxis.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567000" y="3767400"/>
            <a:ext cx="3489120" cy="2010960"/>
          </a:xfrm>
          <a:prstGeom prst="roundRect">
            <a:avLst>
              <a:gd name="adj" fmla="val 2727"/>
            </a:avLst>
          </a:prstGeom>
          <a:solidFill>
            <a:srgbClr val="EDF3F3"/>
          </a:solidFill>
          <a:ln w="12700">
            <a:solidFill>
              <a:srgbClr val="E1E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/>
          <p:cNvSpPr/>
          <p:nvPr/>
        </p:nvSpPr>
        <p:spPr>
          <a:xfrm>
            <a:off x="822960" y="4005000"/>
            <a:ext cx="419760" cy="419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822960" y="40050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353240" y="4023360"/>
            <a:ext cx="248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Interactividad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841320" y="4544640"/>
            <a:ext cx="2940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REPL y notebooks: exploras datos y ves resultados sin ciclo de compilación.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4349520" y="3767400"/>
            <a:ext cx="3489120" cy="2010960"/>
          </a:xfrm>
          <a:prstGeom prst="roundRect">
            <a:avLst>
              <a:gd name="adj" fmla="val 2727"/>
            </a:avLst>
          </a:prstGeom>
          <a:solidFill>
            <a:srgbClr val="EDF3F3"/>
          </a:solidFill>
          <a:ln w="12700">
            <a:solidFill>
              <a:srgbClr val="E1E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4605480" y="4005000"/>
            <a:ext cx="419760" cy="419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4605480" y="40050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5135760" y="4023360"/>
            <a:ext cx="248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Estándar de facto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6"/>
          <p:cNvSpPr/>
          <p:nvPr/>
        </p:nvSpPr>
        <p:spPr>
          <a:xfrm>
            <a:off x="4623840" y="4544640"/>
            <a:ext cx="2940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Casi toda API de IA (OpenAI, Hugging Face, cloud) ofrece SDK en Python antes que en nada más.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8132040" y="3767400"/>
            <a:ext cx="3489120" cy="2010960"/>
          </a:xfrm>
          <a:prstGeom prst="roundRect">
            <a:avLst>
              <a:gd name="adj" fmla="val 2727"/>
            </a:avLst>
          </a:prstGeom>
          <a:solidFill>
            <a:srgbClr val="EDF3F3"/>
          </a:solidFill>
          <a:ln w="12700">
            <a:solidFill>
              <a:srgbClr val="E1EB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8"/>
          <p:cNvSpPr/>
          <p:nvPr/>
        </p:nvSpPr>
        <p:spPr>
          <a:xfrm>
            <a:off x="8388000" y="4005000"/>
            <a:ext cx="419760" cy="419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8388000" y="400500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0"/>
          <p:cNvSpPr/>
          <p:nvPr/>
        </p:nvSpPr>
        <p:spPr>
          <a:xfrm>
            <a:off x="8918280" y="4023360"/>
            <a:ext cx="2483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Y sus límites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1"/>
          <p:cNvSpPr/>
          <p:nvPr/>
        </p:nvSpPr>
        <p:spPr>
          <a:xfrm>
            <a:off x="8406360" y="4544640"/>
            <a:ext cx="2940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Lento en bucles puros, GIL y tipado dinámico. Por eso el cálculo pesado se delega en librerías.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Entorno y primer programa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9BAC4"/>
                </a:solidFill>
                <a:effectLst/>
                <a:uFillTx/>
                <a:latin typeface="Calibri"/>
                <a:ea typeface="Calibri"/>
              </a:rPr>
              <a:t>Cómo se ejecuta un .py, cómo se aísla un proyecto y qué aspecto tiene el código bien escrito.</a:t>
            </a:r>
            <a:endParaRPr lang="es-E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EJECUCIÓN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Interpretado, no compilado (del todo)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CPython traduce a bytecode y lo ejecuta en una máquina virtual.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No hay paso explícito de compilación: editas y ejecutas.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Los errores de tipo aparecen en ejecución, no antes.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Tres formas de ejecutar: script, REPL interactivo y notebook.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Un fichero .py es a la vez programa y módulo importable.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5943600" y="1444680"/>
            <a:ext cx="5668560" cy="1927800"/>
          </a:xfrm>
          <a:prstGeom prst="roundRect">
            <a:avLst>
              <a:gd name="adj" fmla="val 379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terminal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6126480" y="1856160"/>
            <a:ext cx="5348520" cy="14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$ python hola.py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script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$ python    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REPL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&gt;&gt;&gt;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**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1024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Jupyter: celdas ejecutables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ideal para explorar datos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ENTORNO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Proyecto aislado en 4 órdenes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Todo proyecto de IA empieza igual: entorno virtual propio y dependencias declaradas.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67000" y="1828800"/>
            <a:ext cx="11054520" cy="2257920"/>
          </a:xfrm>
          <a:prstGeom prst="roundRect">
            <a:avLst>
              <a:gd name="adj" fmla="val 3239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768240" y="200268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969120" y="200268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1170360" y="200268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1435680" y="192924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terminal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749880" y="2240280"/>
            <a:ext cx="10734480" cy="17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python -m venv .venv          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crea el entorno en la carpeta .venv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source .venv/bin/activate     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Linux / macOS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.venv\Scripts\activate        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Windows (PowerShell o CMD)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pip install numpy pandas jupyter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instala solo en este entorno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pip freeze &gt; requirements.txt 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congela versiones para reproducir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python -m pip --version       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comprobar qué pip estamos usando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567000" y="431604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768240" y="431604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Regla de oro: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sin entorno virtual acabas con versiones incompatibles entre proyectos. En IA, reproducir una versión exacta de una librería es parte del trabajo.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SINTAXIS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Lo mismo que ya sabes, con menos ruido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85360" y="1417320"/>
            <a:ext cx="534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Java / C#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67000" y="1783080"/>
            <a:ext cx="5343840" cy="2706120"/>
          </a:xfrm>
          <a:prstGeom prst="roundRect">
            <a:avLst>
              <a:gd name="adj" fmla="val 2702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768240" y="19569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969120" y="19569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1170360" y="19569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1435680" y="1883520"/>
            <a:ext cx="424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Suma.java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749880" y="2194560"/>
            <a:ext cx="5023800" cy="220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public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Suma {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public static void main(String[] a) {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total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;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; i &lt;=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; i++) {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(i %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==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{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total += i;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}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System.out.println(total);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6295680" y="1417320"/>
            <a:ext cx="5343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Python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277320" y="1783080"/>
            <a:ext cx="5343840" cy="1927800"/>
          </a:xfrm>
          <a:prstGeom prst="roundRect">
            <a:avLst>
              <a:gd name="adj" fmla="val 379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1"/>
          <p:cNvSpPr/>
          <p:nvPr/>
        </p:nvSpPr>
        <p:spPr>
          <a:xfrm>
            <a:off x="6478560" y="19569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2"/>
          <p:cNvSpPr/>
          <p:nvPr/>
        </p:nvSpPr>
        <p:spPr>
          <a:xfrm>
            <a:off x="6679800" y="19569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6881040" y="19569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7146000" y="1883520"/>
            <a:ext cx="4246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suma.py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460200" y="2194560"/>
            <a:ext cx="5023800" cy="14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total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 %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==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total += i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(total)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6"/>
          <p:cNvSpPr/>
          <p:nvPr/>
        </p:nvSpPr>
        <p:spPr>
          <a:xfrm>
            <a:off x="567000" y="571500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768240" y="571500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Idea clave: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la indentación no es estilo, es sintaxis. Los dos puntos abren bloque y la sangría (4 espacios) lo delimita. No hay llaves ni punto y coma.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CONVENCIONES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PEP 8: el estilo es parte del lenguaje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La comunidad escribe igual. Tu editor puede aplicarlo solo con black o ruff.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Table 0"/>
          <p:cNvGraphicFramePr/>
          <p:nvPr/>
        </p:nvGraphicFramePr>
        <p:xfrm>
          <a:off x="567000" y="1874520"/>
          <a:ext cx="11054520" cy="336384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  <a:gridCol w="4562640"/>
              </a:tblGrid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Elemento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Convención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Ejemplo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Variables y funciones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snake_case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tasa_error, cargar_datos()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Clases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PascalCase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ClasificadorKNN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Constantes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MAYÚSCULAS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MAX_ITER = 100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Privado por convenio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guion bajo inicial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_cache, _normalizar()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Indentación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 espacios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    if x &gt; 0: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Longitud de línea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79-99 caracteres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# ruff format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Comentarios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explican el porqué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# evitamos división por cero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Tipos, variables y operadores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9BAC4"/>
                </a:solidFill>
                <a:effectLst/>
                <a:uFillTx/>
                <a:latin typeface="Calibri"/>
                <a:ea typeface="Calibri"/>
              </a:rPr>
              <a:t>Tipado dinámico pero fuerte: no declaras el tipo, pero el tipo existe y manda.</a:t>
            </a:r>
            <a:endParaRPr lang="es-E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VARIABLES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Las variables son etiquetas, no cajas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Una variable no reserva espacio: apunta a un objeto que vive en memoria.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No se declara el tipo; se deduce del valor asignado.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Una misma variable puede apuntar después a otro tipo.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type() dice el tipo; id() dice a qué objeto apunta.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Los type hints son opcionales: documentan, no obligan.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5943600" y="1444680"/>
            <a:ext cx="5668560" cy="2900520"/>
          </a:xfrm>
          <a:prstGeom prst="roundRect">
            <a:avLst>
              <a:gd name="adj" fmla="val 2521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variables.py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6126480" y="1856160"/>
            <a:ext cx="5348520" cy="239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x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42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int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x =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"cuarenta"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ahora str: legal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type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(x))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&lt;class 'str'&gt;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a = [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b = a  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misma lista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b.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append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(a)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[1, 2, 3, 4]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Type hints (opcionales)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tasa: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0.05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TIPOS BÁSICOS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Cinco tipos que cubren el 90 % del código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6" name="Table 0"/>
          <p:cNvGraphicFramePr/>
          <p:nvPr/>
        </p:nvGraphicFramePr>
        <p:xfrm>
          <a:off x="567000" y="1481400"/>
          <a:ext cx="11054520" cy="28512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6300000"/>
              </a:tblGrid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Tipo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Ejemplo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Qué conviene recordar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42, -7, 10_000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Precisión ilimitada: no hay desbordamiento.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float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3.14, 2e-3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Coma flotante IEEE 754: 0.1 + 0.2 != 0.3.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bool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True, False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 un int por debajo: True + True == 2.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"hola", 'hola'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Inmutable y Unicode. Comillas simples o dobles.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NoneType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Ausencia de valor. Se compara con "is None".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OPERADORES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Aritmética: dos divisiones y una potencia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567000" y="1417320"/>
            <a:ext cx="11054520" cy="3103560"/>
          </a:xfrm>
          <a:prstGeom prst="roundRect">
            <a:avLst>
              <a:gd name="adj" fmla="val 2356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operadores.py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749880" y="1828800"/>
            <a:ext cx="10734480" cy="260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/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3.5   división real: SIEMPRE devuelve float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//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3     división entera (hacia abajo)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-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//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-4    cuidado: redondea hacia menos infinito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%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1     resto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**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1024  potencia (no existe Math.pow por defecto)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contador =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contador +=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existe += -= *= /= //= **= %=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contador++        # NO existe el incremento en Python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&lt; x &lt; </a:t>
            </a:r>
            <a:r>
              <a:rPr lang="en-US" sz="12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comparaciones encadenadas: legal y legible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not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(a </a:t>
            </a: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and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b) </a:t>
            </a:r>
            <a:r>
              <a:rPr lang="en-US" sz="12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or</a:t>
            </a:r>
            <a:r>
              <a:rPr lang="en-US" sz="12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  </a:t>
            </a:r>
            <a:r>
              <a:rPr lang="en-US" sz="12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and / or / not en vez de &amp;&amp; || !</a:t>
            </a:r>
            <a:endParaRPr lang="es-E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567000" y="475020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768240" y="475020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Ojo: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and y or devuelven uno de los operandos, no un booleano: "" or "valor" devuelve "valor". Se usa mucho para valores por defecto.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TEXTO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Cadenas y f-strings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El texto es inmutable: cada operación devuelve una cadena nueva.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f-string: la forma moderna de interpolar y formatear.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Métodos encadenables: .strip(), .lower(), .split().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Formato numérico dentro de la propia llave: {x:.2f}.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Triple comilla para texto multilínea y docstrings.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5943600" y="1444680"/>
            <a:ext cx="5668560" cy="3289680"/>
          </a:xfrm>
          <a:prstGeom prst="roundRect">
            <a:avLst>
              <a:gd name="adj" fmla="val 222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cadenas.py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6126480" y="1856160"/>
            <a:ext cx="5348520" cy="27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nombre =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"Ada"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acierto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0.93412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"{nombre}: {acierto:.2%}"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Ada: 93.41%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"{acierto:.3f}"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0.934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linea =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  1,2,3  "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(linea.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strip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().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split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","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['1', '2', '3']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texto =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"varias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lineas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"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F-STRINGS · 1/3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Ancho, alineación y relleno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Patrón: {valor:[relleno][alineación][signo][ancho][,][.precisión][tipo]}. Aquí, s = "IA" y n = 42.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Table 0"/>
          <p:cNvGraphicFramePr/>
          <p:nvPr/>
        </p:nvGraphicFramePr>
        <p:xfrm>
          <a:off x="567000" y="1874520"/>
          <a:ext cx="1105452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5842800"/>
              </a:tblGrid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Formato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Resultado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Significado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f"|{s:10}|"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|IA        |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Ancho mínimo de 10 caracteres (el texto se alinea a la izquierda)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f"|{s:&gt;10}|"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|        IA|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 alinea a la derecha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f"|{s:^10}|"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|    IA    |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^ centra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f"|{n:&lt;6}|"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|42    |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 alinea a la izquierda (los números van a la derecha por defecto)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f"|{s:*^10}|"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|****IA****|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 carácter antes de la alineación es el relleno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f"{n:05d}"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00042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Rellena con ceros hasta 5 cifras (d = entero decimal)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F-STRINGS · 2/3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Formato de números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Con x = 3.14159, p = 0.9341, g = 1234567.891 y n = 42.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4" name="Table 0"/>
          <p:cNvGraphicFramePr/>
          <p:nvPr/>
        </p:nvGraphicFramePr>
        <p:xfrm>
          <a:off x="567000" y="1874520"/>
          <a:ext cx="11054520" cy="3784320"/>
        </p:xfrm>
        <a:graphic>
          <a:graphicData uri="http://schemas.openxmlformats.org/drawingml/2006/table">
            <a:tbl>
              <a:tblPr/>
              <a:tblGrid>
                <a:gridCol w="3108960"/>
                <a:gridCol w="2468880"/>
                <a:gridCol w="5477040"/>
              </a:tblGrid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Formato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Resultado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Significado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f"{x:.2f}"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3.14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Número fijo de decimales (f = coma fija)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f"|{x:8.3f}|"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|   3.142|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Ancho total 8 con 3 decimales: alinea columnas de cifras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f"{x:+.1f}"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+3.1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Muestra siempre el signo, también en positivos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f"{p:.1%}"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93.4%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Porcentaje: multiplica por 100 y añade el símbolo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f"{g:,.2f}"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1,234,567.89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Separador de miles con coma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f"{g:_.0f}"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1_234_568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Separador de miles con guion bajo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f"{g:.2e}"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1.23e+06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Notación científica (útil en tasas de aprendizaje)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20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f"{n:b} {n:o} {n:x}"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101010 52 2a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Binario, octal y hexadecimal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F-STRINGS · 3/3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Trucos que ahorran tiempo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567000" y="1417320"/>
            <a:ext cx="11054520" cy="3408120"/>
          </a:xfrm>
          <a:prstGeom prst="roundRect">
            <a:avLst>
              <a:gd name="adj" fmla="val 2146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fstrings.py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749880" y="1828800"/>
            <a:ext cx="10734480" cy="29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k, acierto =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0.9341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"{k=}, {acierto=:.3f}"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k=5, acierto=0.934   depuración (3.8+)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modelo = 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"knn"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"{modelo!r}"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'knn'   !r usa repr(): se ven las comillas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"{modelo.upper()} con k={k * 2}"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admite expresiones y llamadas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ancho, dec =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"{acierto:&gt;{ancho}.{dec}%}"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formato dinámico con llaves anidadas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"{{literal}} = {k}"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{literal} = 5   llaves dobles para escribirlas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from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datetime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date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"{date.today():%d/%m/%Y}"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21/09/2026   también formatea fechas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567000" y="505476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768240" y="505476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Contexto: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los f-strings existen desde Python 3.6. En código antiguo y en muchos tutoriales verás "%.2f" % x y "{:.2f}".format(x): usan el mismo minilenguaje de formato.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CASTING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Convertir de un tipo a otro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Cada tipo tiene una función con su nombre que intenta la conversión. Si no puede, lanza una excepción.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8" name="Table 0"/>
          <p:cNvGraphicFramePr/>
          <p:nvPr/>
        </p:nvGraphicFramePr>
        <p:xfrm>
          <a:off x="567000" y="1874520"/>
          <a:ext cx="11054520" cy="3657600"/>
        </p:xfrm>
        <a:graphic>
          <a:graphicData uri="http://schemas.openxmlformats.org/drawingml/2006/table">
            <a:tbl>
              <a:tblPr/>
              <a:tblGrid>
                <a:gridCol w="1600200"/>
                <a:gridCol w="3794760"/>
                <a:gridCol w="2377440"/>
                <a:gridCol w="3282480"/>
              </a:tblGrid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Función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Ejemplos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Resultado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Cuidado con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int()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int("42")  int(3.99)  int("ff", 16)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42  3  255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Trunca; int("3.5") da ValueError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float()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float("3.5")  float(7)  float("1e-3")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3.5  7.0  0.001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float("3,5") da ValueError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str()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str(42)  str(0.1)  str(None)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"42"  "0.1"  "None"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Nunca falla: todo tiene texto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bool()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bool(0)  bool("")  bool("False")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False  False  True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Solo lo vacío o cero es False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list()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list("abc")  list(range(3))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['a','b','c']  [0,1,2]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Acepta cualquier iterable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tuple() set()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tuple([1, 2])  set([1, 1, 2])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(1, 2)  {1, 2}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set() elimina duplicados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dict()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dict([("a", 1), ("b", 2)])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{'a': 1, 'b': 2}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Necesita pares clave-valor</a:t>
                      </a:r>
                      <a:endParaRPr lang="es-E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CASTING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Implícito solo entre números; el resto, explícito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567000" y="1417320"/>
            <a:ext cx="11054520" cy="3205080"/>
          </a:xfrm>
          <a:prstGeom prst="roundRect">
            <a:avLst>
              <a:gd name="adj" fmla="val 2282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casting.py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749880" y="1828800"/>
            <a:ext cx="10734480" cy="270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Implícito: Python promociona al tipo numérico "más amplio"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2.5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5.5    int + float -&gt; float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2      bool -&gt; int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7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/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3.5    / siempre devuelve float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Explícito: cualquier otra mezcla la conviertes tú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edad =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input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"Edad: 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input() SIEMPRE devuelve str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"3"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TypeError: no concatena str con int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"3"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+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str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"34"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"3,5"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ValueError: el decimal va con punto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"3.7"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3    de texto decimal a entero, en dos pasos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round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3.7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4    redondear no es lo mismo que convertir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isinstance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(edad,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comprobar el tipo antes de operar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567000" y="485172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768240" y="485172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Comparación: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JavaScript convertiría "3" + 4 en "34" sin avisar. Python prefiere fallar pronto y ruidosamente: el traceback dice la línea y los tipos implicados.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67000" y="1920240"/>
            <a:ext cx="173664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0E7C7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2286000" y="2148840"/>
            <a:ext cx="89604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Control de flujo</a:t>
            </a:r>
            <a:endParaRPr lang="es-E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2331720" y="3017520"/>
            <a:ext cx="87775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A9BAC4"/>
                </a:solidFill>
                <a:effectLst/>
                <a:uFillTx/>
                <a:latin typeface="Calibri"/>
                <a:ea typeface="Calibri"/>
              </a:rPr>
              <a:t>Condicionales y bucles: pocas novedades conceptuales, varias sintácticas.</a:t>
            </a:r>
            <a:endParaRPr lang="es-E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2331720" y="3886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CONDICIONALES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if / elif / else y la verdad implícita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Todo objeto tiene un valor de verdad: vacío o cero es falso.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elif sustituye a "else if"; no hay switch clásico.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Falsos: 0, 0.0, "", [], {}, set(), None, False.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Compara con None usando "is", no "==".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Existe el condicional en una línea (operador ternario).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5943600" y="1444680"/>
            <a:ext cx="5668560" cy="3289680"/>
          </a:xfrm>
          <a:prstGeom prst="roundRect">
            <a:avLst>
              <a:gd name="adj" fmla="val 2223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condicionales.py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6126480" y="1856160"/>
            <a:ext cx="5348520" cy="27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nota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7.5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nota &gt;=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9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"Sobresaliente"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elif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nota &gt;=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"Aprobado"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"Suspenso"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datos = []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not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datos: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"lista vacia"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estado =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"ok"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nota &gt;=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"ko"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BUCLES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for recorre elementos, no índices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567000" y="144468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El for de Python es un "for each": itera sobre cualquier iterable.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567000" y="222192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range(inicio, fin, paso): fin no se incluye.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enumerate() da índice y valor a la vez.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while para condiciones; for para colecciones.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901"/>
              </a:spcAft>
              <a:buClr>
                <a:srgbClr val="17262E"/>
              </a:buClr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El bucle else se ejecuta si no hubo break.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5943600" y="1444680"/>
            <a:ext cx="5668560" cy="3484440"/>
          </a:xfrm>
          <a:prstGeom prst="roundRect">
            <a:avLst>
              <a:gd name="adj" fmla="val 2099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6144840" y="161856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6346080" y="161856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6546960" y="161856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6812280" y="154548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bucles.py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6126480" y="1856160"/>
            <a:ext cx="5348520" cy="29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x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[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(x)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):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0, 1, 2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(i)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i, v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enumerate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([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"b"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]):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(i, v)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0 a / 1 b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intentos 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intentos &lt;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3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intentos +=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"IA"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(c)              </a:t>
            </a: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I / A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RANGE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range(inicio, fin, paso) 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567000" y="1371600"/>
            <a:ext cx="11054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A6B75"/>
                </a:solidFill>
                <a:effectLst/>
                <a:uFillTx/>
                <a:latin typeface="Calibri"/>
                <a:ea typeface="Calibri"/>
              </a:rPr>
              <a:t>Mismo criterio que el slicing: el inicio se incluye y el final nunca.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e 0"/>
          <p:cNvGraphicFramePr/>
          <p:nvPr/>
        </p:nvGraphicFramePr>
        <p:xfrm>
          <a:off x="567000" y="1874520"/>
          <a:ext cx="11054520" cy="370332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5477040"/>
              </a:tblGrid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Llamada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Valores generados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Qué hay que ver</a:t>
                      </a:r>
                      <a:endParaRPr lang="es-E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0E7C7B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range(5)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0 1 2 3 4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 un argumento es el final; empieza en 0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range(2, 6)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2 3 4 5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Inicio incluido, final excluido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range(1, 11)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1 2 3 ... 10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 llegar hasta N, el final es N + 1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range(0, 20, 5)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0 5 10 15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 tercer argumento es el paso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range(10, 0, -3)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10 7 4 1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Paso negativo: cuenta hacia atrás (inicio &gt; final)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range(5, 2)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(ninguno)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Inicio ≥ final con paso positivo: vacío, sin 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range(0, 1, 0.1)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TypeError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Solo enteros; con decimales se usa numpy.arange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EDF3F3"/>
                    </a:solidFill>
                  </a:tcPr>
                </a:tc>
              </a:tr>
              <a:tr h="41148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range(0, 10, 0)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ValueError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17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 paso no puede ser cero</a:t>
                      </a:r>
                      <a:endParaRPr lang="es-E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6480">
                      <a:solidFill>
                        <a:srgbClr val="D8E2E1"/>
                      </a:solidFill>
                      <a:prstDash val="solid"/>
                    </a:lnL>
                    <a:lnR w="6480">
                      <a:solidFill>
                        <a:srgbClr val="D8E2E1"/>
                      </a:solidFill>
                      <a:prstDash val="solid"/>
                    </a:lnR>
                    <a:lnT w="6480">
                      <a:solidFill>
                        <a:srgbClr val="D8E2E1"/>
                      </a:solidFill>
                      <a:prstDash val="solid"/>
                    </a:lnT>
                    <a:lnB w="6480">
                      <a:solidFill>
                        <a:srgbClr val="D8E2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RANGE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range no es una lista: calcula, no almacena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567000" y="1417320"/>
            <a:ext cx="11054520" cy="3611160"/>
          </a:xfrm>
          <a:prstGeom prst="roundRect">
            <a:avLst>
              <a:gd name="adj" fmla="val 2025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range_perezoso.py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749880" y="1828800"/>
            <a:ext cx="1073448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 =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1_000_000_000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no reserva mil millones de números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import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sys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sys.getsizeof(r)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48 bytes: guarda solo inicio, fin y paso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len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(r)       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1000000000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r[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], r[-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 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(10, 999999999)   se puede indexar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500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r     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True, instantáneo: lo calcula, no lo busca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r[::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        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range(0, 1000000000, 2)  slicing -&gt; otro range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    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[0, 1, 2, 3, 4]   materializar si hace falta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list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reversed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5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)))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[4, 3, 2, 1, 0]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sum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101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5050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i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range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len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(notas)):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funciona, pero casi nunca es lo mejor: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(i, notas[i])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mejor enumerate(notas)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8"/>
          <p:cNvSpPr/>
          <p:nvPr/>
        </p:nvSpPr>
        <p:spPr>
          <a:xfrm>
            <a:off x="567000" y="525780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768240" y="525780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Idea clave: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range genera cada valor cuando se le pide (evaluación perezosa). La misma idea reaparece con generadores, ficheros y datasets que no caben en memoria.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67000" y="38412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CONTROL FINO</a:t>
            </a:r>
            <a:endParaRPr lang="es-E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567000" y="65844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7262E"/>
                </a:solidFill>
                <a:effectLst/>
                <a:uFillTx/>
                <a:latin typeface="Cambria"/>
                <a:ea typeface="Cambria"/>
              </a:rPr>
              <a:t>break, continue y el else del bucle</a:t>
            </a:r>
            <a:endParaRPr lang="es-E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"/>
          <p:cNvSpPr/>
          <p:nvPr/>
        </p:nvSpPr>
        <p:spPr>
          <a:xfrm>
            <a:off x="567000" y="1417320"/>
            <a:ext cx="11054520" cy="4017240"/>
          </a:xfrm>
          <a:prstGeom prst="roundRect">
            <a:avLst>
              <a:gd name="adj" fmla="val 1821"/>
            </a:avLst>
          </a:prstGeom>
          <a:solidFill>
            <a:srgbClr val="10202B"/>
          </a:solidFill>
          <a:ln w="12700">
            <a:solidFill>
              <a:srgbClr val="1020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768240" y="1591200"/>
            <a:ext cx="95400" cy="95400"/>
          </a:xfrm>
          <a:prstGeom prst="ellipse">
            <a:avLst/>
          </a:prstGeom>
          <a:solidFill>
            <a:srgbClr val="E4B363"/>
          </a:solidFill>
          <a:ln w="12700">
            <a:solidFill>
              <a:srgbClr val="E4B3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4"/>
          <p:cNvSpPr/>
          <p:nvPr/>
        </p:nvSpPr>
        <p:spPr>
          <a:xfrm>
            <a:off x="969120" y="1591200"/>
            <a:ext cx="95400" cy="95400"/>
          </a:xfrm>
          <a:prstGeom prst="ellipse">
            <a:avLst/>
          </a:prstGeom>
          <a:solidFill>
            <a:srgbClr val="17BEBB"/>
          </a:solidFill>
          <a:ln w="12700">
            <a:solidFill>
              <a:srgbClr val="17BE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"/>
          <p:cNvSpPr/>
          <p:nvPr/>
        </p:nvSpPr>
        <p:spPr>
          <a:xfrm>
            <a:off x="1170360" y="1591200"/>
            <a:ext cx="95400" cy="95400"/>
          </a:xfrm>
          <a:prstGeom prst="ellipse">
            <a:avLst/>
          </a:prstGeom>
          <a:solidFill>
            <a:srgbClr val="3E5563"/>
          </a:solidFill>
          <a:ln w="12700">
            <a:solidFill>
              <a:srgbClr val="3E55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7880" tIns="22680" rIns="47880" bIns="2268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1435680" y="1517760"/>
            <a:ext cx="9957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flujo.py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749880" y="1828800"/>
            <a:ext cx="10734480" cy="35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numeros = [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4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8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15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16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23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42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objetivo =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15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numeros: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 %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!= </a:t>
            </a:r>
            <a:r>
              <a:rPr lang="en-US" sz="120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continue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salta al siguiente elemento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 == objetivo: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"encontrado"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break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sale del bucle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else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"no encontrado"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  </a:t>
            </a: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solo si NO hubo break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match (Python 3.10+): alternativa legible a cadenas de elif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match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modelo: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case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"knn"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| 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"vecinos"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"clasificador por distancia"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case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"arbol"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:          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"arbol de decision"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case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_:                 </a:t>
            </a:r>
            <a:r>
              <a:rPr lang="en-US" sz="120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"modelo desconocido"</a:t>
            </a:r>
            <a:r>
              <a:rPr lang="en-US" sz="120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8"/>
          <p:cNvSpPr/>
          <p:nvPr/>
        </p:nvSpPr>
        <p:spPr>
          <a:xfrm>
            <a:off x="567000" y="5663880"/>
            <a:ext cx="11054520" cy="657720"/>
          </a:xfrm>
          <a:prstGeom prst="roundRect">
            <a:avLst>
              <a:gd name="adj" fmla="val 8333"/>
            </a:avLst>
          </a:prstGeom>
          <a:solidFill>
            <a:srgbClr val="EDF3F3"/>
          </a:solidFill>
          <a:ln w="12700">
            <a:solidFill>
              <a:srgbClr val="EDF3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768240" y="5663880"/>
            <a:ext cx="10643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Detalle propio: </a:t>
            </a:r>
            <a:r>
              <a:rPr lang="en-US" sz="1400" b="0" u="none" strike="noStrike">
                <a:solidFill>
                  <a:srgbClr val="17262E"/>
                </a:solidFill>
                <a:effectLst/>
                <a:uFillTx/>
                <a:latin typeface="Calibri"/>
                <a:ea typeface="Calibri"/>
              </a:rPr>
              <a:t>el for...else es exclusivo de Python y sustituye a la típica variable "encontrado = False". Se lee como "si terminó sin encontrar nada".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17BEBB"/>
                </a:solidFill>
                <a:effectLst/>
                <a:uFillTx/>
                <a:latin typeface="Calibri"/>
                <a:ea typeface="Calibri"/>
              </a:rPr>
              <a:t>PRÁCTICA ·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Ejercicios del bloque 1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E1.1 · Conversor de unidades: pide grados Celsius y muestra Fahrenheit y Kelvin con 2 decimales.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E1.2 · Clasificador de notas: pide una nota, valida el rango 0-10 y muestra la calificación.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E1.3 · Tabla de multiplicar con formato alineado usando f-strings.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E1.4 · FizzBuzz del 1 al 100, en 6 líneas o menos.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E1.5 · Adivina el número: bucle while con intentos limitados y pistas mayor/menor.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E1.6 · Sucesión de Fibonacci hasta N usando asignación múltiple a, b = b, a + b.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6309360" y="1600200"/>
            <a:ext cx="5302800" cy="2122560"/>
          </a:xfrm>
          <a:prstGeom prst="roundRect">
            <a:avLst>
              <a:gd name="adj" fmla="val 3445"/>
            </a:avLst>
          </a:prstGeom>
          <a:solidFill>
            <a:srgbClr val="1A2F3D"/>
          </a:solidFill>
          <a:ln w="12700">
            <a:solidFill>
              <a:srgbClr val="2B4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E1.1  esqueleto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 =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float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input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"Grados Celsius: 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f = ...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k = ...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"{c:.2f} C = {f:.2f} F"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"{c:.2f} C = {k:.2f} K"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e1_1.py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6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4B363"/>
                </a:solidFill>
                <a:effectLst/>
                <a:uFillTx/>
                <a:latin typeface="Calibri"/>
                <a:ea typeface="Calibri"/>
              </a:rPr>
              <a:t>Un fichero por ejercicio</a:t>
            </a:r>
            <a:endParaRPr lang="es-E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567000" y="457200"/>
            <a:ext cx="1105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9" strike="noStrike">
                <a:solidFill>
                  <a:srgbClr val="17BEBB"/>
                </a:solidFill>
                <a:effectLst/>
                <a:uFillTx/>
                <a:latin typeface="Calibri"/>
                <a:ea typeface="Calibri"/>
              </a:rPr>
              <a:t>PRÁCTICA ·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567000" y="749880"/>
            <a:ext cx="11054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Ejercicios: tipos, formato y range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567000" y="1600200"/>
            <a:ext cx="539424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E1.7 · Conversor seguro: pide un valor e indica si es entero, decimal o no numérico, convirtiéndolo al tipo adecuado.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E1.8 · Ticket de compra: nombre alineado a la izquierda, unidades centradas y precio a la derecha con 2 decimales.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E1.9 · Con range: múltiplos de 7 hasta 100, cuenta atrás de 10 a 0 y suma de los pares hasta 1000.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1100"/>
              </a:spcAft>
              <a:buClr>
                <a:srgbClr val="D6E2E8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D6E2E8"/>
                </a:solidFill>
                <a:effectLst/>
                <a:uFillTx/>
                <a:latin typeface="Calibri"/>
                <a:ea typeface="Calibri"/>
              </a:rPr>
              <a:t>E1.10 · Tabla de -20 °C a 40 °C de 5 en 5 con su equivalente en Fahrenheit, en dos columnas alineadas.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6309360" y="1600200"/>
            <a:ext cx="5302800" cy="2316960"/>
          </a:xfrm>
          <a:prstGeom prst="roundRect">
            <a:avLst>
              <a:gd name="adj" fmla="val 3156"/>
            </a:avLst>
          </a:prstGeom>
          <a:solidFill>
            <a:srgbClr val="1A2F3D"/>
          </a:solidFill>
          <a:ln w="12700">
            <a:solidFill>
              <a:srgbClr val="2B4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6492240" y="2011680"/>
            <a:ext cx="4982760" cy="37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E1.8  esqueleto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compra = [(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"Teclado"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24.9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),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"Raton"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2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12.5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),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      (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"Monitor"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1150" b="0" u="none" strike="noStrike">
                <a:solidFill>
                  <a:srgbClr val="F0A6A6"/>
                </a:solidFill>
                <a:effectLst/>
                <a:uFillTx/>
                <a:latin typeface="Courier New"/>
                <a:ea typeface="Courier New"/>
              </a:rPr>
              <a:t>189.0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)]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for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nombre, uds, precio </a:t>
            </a:r>
            <a:r>
              <a:rPr lang="en-US" sz="1150" b="0" u="none" strike="noStrike">
                <a:solidFill>
                  <a:srgbClr val="17BEBB"/>
                </a:solidFill>
                <a:effectLst/>
                <a:uFillTx/>
                <a:latin typeface="Courier New"/>
                <a:ea typeface="Courier New"/>
              </a:rPr>
              <a:t>in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compra: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8ECFEE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(f</a:t>
            </a:r>
            <a:r>
              <a:rPr lang="en-US" sz="1150" b="0" u="none" strike="noStrike">
                <a:solidFill>
                  <a:srgbClr val="E4B363"/>
                </a:solidFill>
                <a:effectLst/>
                <a:uFillTx/>
                <a:latin typeface="Courier New"/>
                <a:ea typeface="Courier New"/>
              </a:rPr>
              <a:t>"{nombre:&lt;12}{uds:^6}{precio:&gt;10.2f}"</a:t>
            </a: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6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F9A"/>
                </a:solidFill>
                <a:effectLst/>
                <a:uFillTx/>
                <a:latin typeface="Courier New"/>
                <a:ea typeface="Courier New"/>
              </a:rPr>
              <a:t># Teclado       1        24.90</a:t>
            </a:r>
            <a:endParaRPr lang="es-E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6492240" y="1710000"/>
            <a:ext cx="4937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E8390"/>
                </a:solidFill>
                <a:effectLst/>
                <a:uFillTx/>
                <a:latin typeface="Courier New"/>
                <a:ea typeface="Courier New"/>
              </a:rPr>
              <a:t>e1_8.py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567000" y="60350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LibreOffice/26.2.6.3$Windows_X86_64 LibreOffice_project/8221e31b3ac356a1623c672912a3d2b492f7e3d1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2026-09-21T10:54:36Z</dcterms:created>
  <dc:creator>PptxGenJS</dc:creator>
  <dc:description/>
  <dc:language>es-ES</dc:language>
  <cp:lastModifiedBy/>
  <dcterms:modified xsi:type="dcterms:W3CDTF">2026-09-27T00:14:56Z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