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0" roundtripDataSignature="AMtx7mg+znJIPEKPzj/S3uj6mZhLsd7+4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8A5DC23-B735-46A8-A9A1-F7ADEC74921B}">
  <a:tblStyle styleId="{78A5DC23-B735-46A8-A9A1-F7ADEC74921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6000" y="812520"/>
            <a:ext cx="7127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/>
          <p:nvPr>
            <p:ph idx="2" type="sldImg"/>
          </p:nvPr>
        </p:nvSpPr>
        <p:spPr>
          <a:xfrm>
            <a:off x="685800" y="1143000"/>
            <a:ext cx="5484600" cy="30844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" name="Google Shape;15;p1:notes"/>
          <p:cNvSpPr txBox="1"/>
          <p:nvPr>
            <p:ph idx="1"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Sesión larga: alternar teoría (20-25 min) con práctica (20-25 min). Nunca más de media hora seguida de explicación.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:notes"/>
          <p:cNvSpPr txBox="1"/>
          <p:nvPr>
            <p:ph idx="12" type="sldNum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/>
          <p:nvPr>
            <p:ph idx="2" type="sldImg"/>
          </p:nvPr>
        </p:nvSpPr>
        <p:spPr>
          <a:xfrm>
            <a:off x="685800" y="1143000"/>
            <a:ext cx="5484600" cy="30844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:notes"/>
          <p:cNvSpPr txBox="1"/>
          <p:nvPr>
            <p:ph idx="12" type="sldNum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:notes"/>
          <p:cNvSpPr/>
          <p:nvPr>
            <p:ph idx="2" type="sldImg"/>
          </p:nvPr>
        </p:nvSpPr>
        <p:spPr>
          <a:xfrm>
            <a:off x="685800" y="1143000"/>
            <a:ext cx="5484600" cy="30844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" name="Google Shape;40;p3:notes"/>
          <p:cNvSpPr txBox="1"/>
          <p:nvPr>
            <p:ph idx="1"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Insistir: el dict es la estructura estrella de Python; la mayor parte del código de datos son dicts dentro de listas.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3:notes"/>
          <p:cNvSpPr txBox="1"/>
          <p:nvPr>
            <p:ph idx="12" type="sldNum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:notes"/>
          <p:cNvSpPr/>
          <p:nvPr>
            <p:ph idx="2" type="sldImg"/>
          </p:nvPr>
        </p:nvSpPr>
        <p:spPr>
          <a:xfrm>
            <a:off x="685800" y="1143000"/>
            <a:ext cx="5484600" cy="30844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" name="Google Shape;48;p4:notes"/>
          <p:cNvSpPr txBox="1"/>
          <p:nvPr>
            <p:ph idx="1"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Índices negativos: pedirles que calculen notas[-2] mentalmente.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4:notes"/>
          <p:cNvSpPr txBox="1"/>
          <p:nvPr>
            <p:ph idx="12" type="sldNum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:notes"/>
          <p:cNvSpPr/>
          <p:nvPr>
            <p:ph idx="2" type="sldImg"/>
          </p:nvPr>
        </p:nvSpPr>
        <p:spPr>
          <a:xfrm>
            <a:off x="685800" y="1143000"/>
            <a:ext cx="5484600" cy="30844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" name="Google Shape;63;p5:notes"/>
          <p:cNvSpPr txBox="1"/>
          <p:nvPr>
            <p:ph idx="1"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particionado train/test es exactamente esto. Enlazarlo con el módulo de aprendizaje automático.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5:notes"/>
          <p:cNvSpPr txBox="1"/>
          <p:nvPr>
            <p:ph idx="12" type="sldNum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:notes"/>
          <p:cNvSpPr/>
          <p:nvPr>
            <p:ph idx="2" type="sldImg"/>
          </p:nvPr>
        </p:nvSpPr>
        <p:spPr>
          <a:xfrm>
            <a:off x="685800" y="1143000"/>
            <a:ext cx="5484600" cy="30844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" name="Google Shape;78;p6:notes"/>
          <p:cNvSpPr txBox="1"/>
          <p:nvPr>
            <p:ph idx="1"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Demostrar en vivo el fallo de xs = xs.sort(). Les pasará a todos.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6:notes"/>
          <p:cNvSpPr txBox="1"/>
          <p:nvPr>
            <p:ph idx="12" type="sldNum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:notes"/>
          <p:cNvSpPr/>
          <p:nvPr>
            <p:ph idx="2" type="sldImg"/>
          </p:nvPr>
        </p:nvSpPr>
        <p:spPr>
          <a:xfrm>
            <a:off x="685800" y="1143000"/>
            <a:ext cx="5484600" cy="30844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" name="Google Shape;93;p7:notes"/>
          <p:cNvSpPr txBox="1"/>
          <p:nvPr>
            <p:ph idx="1"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Este es el concepto más caro de la sesión. Dibujar en la pizarra las dos etiquetas apuntando al mismo objeto.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7:notes"/>
          <p:cNvSpPr txBox="1"/>
          <p:nvPr>
            <p:ph idx="12" type="sldNum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8:notes"/>
          <p:cNvSpPr/>
          <p:nvPr>
            <p:ph idx="2" type="sldImg"/>
          </p:nvPr>
        </p:nvSpPr>
        <p:spPr>
          <a:xfrm>
            <a:off x="685800" y="1143000"/>
            <a:ext cx="5484600" cy="30844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desempaquetado con * es muy útil al leer ficheros CSV en el bloque 3.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8:notes"/>
          <p:cNvSpPr txBox="1"/>
          <p:nvPr>
            <p:ph idx="12" type="sldNum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:notes"/>
          <p:cNvSpPr/>
          <p:nvPr>
            <p:ph idx="2" type="sldImg"/>
          </p:nvPr>
        </p:nvSpPr>
        <p:spPr>
          <a:xfrm>
            <a:off x="685800" y="1143000"/>
            <a:ext cx="5484600" cy="30844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1" name="Google Shape;131;p9:notes"/>
          <p:cNvSpPr txBox="1"/>
          <p:nvPr>
            <p:ph idx="1"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Comparar con HashMap de Java. El .get con valor por defecto sustituye a media docena de ifs.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9:notes"/>
          <p:cNvSpPr txBox="1"/>
          <p:nvPr>
            <p:ph idx="12" type="sldNum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:notes"/>
          <p:cNvSpPr/>
          <p:nvPr>
            <p:ph idx="2" type="sldImg"/>
          </p:nvPr>
        </p:nvSpPr>
        <p:spPr>
          <a:xfrm>
            <a:off x="685800" y="1143000"/>
            <a:ext cx="5484600" cy="30844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6" name="Google Shape;146;p10:notes"/>
          <p:cNvSpPr txBox="1"/>
          <p:nvPr>
            <p:ph idx="1"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Enseñar primero el patrón manual y después Counter, para que entiendan qué hace el atajo.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0:notes"/>
          <p:cNvSpPr txBox="1"/>
          <p:nvPr>
            <p:ph idx="12" type="sldNum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:notes"/>
          <p:cNvSpPr/>
          <p:nvPr>
            <p:ph idx="2" type="sldImg"/>
          </p:nvPr>
        </p:nvSpPr>
        <p:spPr>
          <a:xfrm>
            <a:off x="685800" y="1143000"/>
            <a:ext cx="5484600" cy="30844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1" name="Google Shape;161;p11:notes"/>
          <p:cNvSpPr txBox="1"/>
          <p:nvPr>
            <p:ph idx="1"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intersección/diferencia se usará al comparar etiquetas reales y predichas en el proyecto final.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1:notes"/>
          <p:cNvSpPr txBox="1"/>
          <p:nvPr>
            <p:ph idx="12" type="sldNum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2:notes"/>
          <p:cNvSpPr/>
          <p:nvPr>
            <p:ph idx="2" type="sldImg"/>
          </p:nvPr>
        </p:nvSpPr>
        <p:spPr>
          <a:xfrm>
            <a:off x="685800" y="1143000"/>
            <a:ext cx="5484600" cy="30844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6" name="Google Shape;176;p12:notes"/>
          <p:cNvSpPr txBox="1"/>
          <p:nvPr>
            <p:ph idx="1"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E2.5 anticipa el preprocesado de texto de PLN. Si sobra tiempo, pedir que ordenen el top 5 por frecuencia.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2:notes"/>
          <p:cNvSpPr txBox="1"/>
          <p:nvPr>
            <p:ph idx="12" type="sldNum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3:notes"/>
          <p:cNvSpPr/>
          <p:nvPr>
            <p:ph idx="2" type="sldImg"/>
          </p:nvPr>
        </p:nvSpPr>
        <p:spPr>
          <a:xfrm>
            <a:off x="685800" y="1143000"/>
            <a:ext cx="5484600" cy="30844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7" name="Google Shape;187;p13:notes"/>
          <p:cNvSpPr txBox="1"/>
          <p:nvPr>
            <p:ph idx="1"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3:notes"/>
          <p:cNvSpPr txBox="1"/>
          <p:nvPr>
            <p:ph idx="12" type="sldNum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4:notes"/>
          <p:cNvSpPr/>
          <p:nvPr>
            <p:ph idx="2" type="sldImg"/>
          </p:nvPr>
        </p:nvSpPr>
        <p:spPr>
          <a:xfrm>
            <a:off x="685800" y="1143000"/>
            <a:ext cx="5484600" cy="30844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" name="Google Shape;196;p14:notes"/>
          <p:cNvSpPr txBox="1"/>
          <p:nvPr>
            <p:ph idx="1"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Practicar la traducción en los dos sentidos: dar una comprensión y pedir el bucle equivalente.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4:notes"/>
          <p:cNvSpPr txBox="1"/>
          <p:nvPr>
            <p:ph idx="12" type="sldNum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5:notes"/>
          <p:cNvSpPr/>
          <p:nvPr>
            <p:ph idx="2" type="sldImg"/>
          </p:nvPr>
        </p:nvSpPr>
        <p:spPr>
          <a:xfrm>
            <a:off x="685800" y="1143000"/>
            <a:ext cx="5484600" cy="30844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9" name="Google Shape;219;p15:notes"/>
          <p:cNvSpPr txBox="1"/>
          <p:nvPr>
            <p:ph idx="1"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Mostrar con sys.getsizeof la diferencia de memoria entre lista y generador.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5:notes"/>
          <p:cNvSpPr txBox="1"/>
          <p:nvPr>
            <p:ph idx="12" type="sldNum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6:notes"/>
          <p:cNvSpPr/>
          <p:nvPr>
            <p:ph idx="2" type="sldImg"/>
          </p:nvPr>
        </p:nvSpPr>
        <p:spPr>
          <a:xfrm>
            <a:off x="685800" y="1143000"/>
            <a:ext cx="5484600" cy="30844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4" name="Google Shape;234;p16:notes"/>
          <p:cNvSpPr txBox="1"/>
          <p:nvPr>
            <p:ph idx="1"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truncado silencioso es la trampa: si una lista de predicciones sale más corta que la de etiquetas, el acierto se calcula mal sin ningún error. Por eso strict=True.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6:notes"/>
          <p:cNvSpPr txBox="1"/>
          <p:nvPr>
            <p:ph idx="12" type="sldNum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7:notes"/>
          <p:cNvSpPr/>
          <p:nvPr>
            <p:ph idx="2" type="sldImg"/>
          </p:nvPr>
        </p:nvSpPr>
        <p:spPr>
          <a:xfrm>
            <a:off x="685800" y="1143000"/>
            <a:ext cx="5484600" cy="30844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9" name="Google Shape;249;p17:notes"/>
          <p:cNvSpPr txBox="1"/>
          <p:nvPr>
            <p:ph idx="1"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zip(*pares) desconcierta: explicarlo como "zip es su propia inversa". El patrón zip(xs, xs[1:]) aparece en series temporales.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7:notes"/>
          <p:cNvSpPr txBox="1"/>
          <p:nvPr>
            <p:ph idx="12" type="sldNum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8:notes"/>
          <p:cNvSpPr/>
          <p:nvPr>
            <p:ph idx="2" type="sldImg"/>
          </p:nvPr>
        </p:nvSpPr>
        <p:spPr>
          <a:xfrm>
            <a:off x="685800" y="1143000"/>
            <a:ext cx="5484600" cy="30844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4" name="Google Shape;264;p18:notes"/>
          <p:cNvSpPr txBox="1"/>
          <p:nvPr>
            <p:ph idx="1"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max(conteo, key=conteo.get) es exactamente la votación del k-NN del bloque 4. Anunciarlo.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8:notes"/>
          <p:cNvSpPr txBox="1"/>
          <p:nvPr>
            <p:ph idx="12" type="sldNum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9:notes"/>
          <p:cNvSpPr/>
          <p:nvPr>
            <p:ph idx="2" type="sldImg"/>
          </p:nvPr>
        </p:nvSpPr>
        <p:spPr>
          <a:xfrm>
            <a:off x="685800" y="1143000"/>
            <a:ext cx="5484600" cy="30844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9" name="Google Shape;279;p19:notes"/>
          <p:cNvSpPr txBox="1"/>
          <p:nvPr>
            <p:ph idx="1"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E2.8 es el escalado de características. Preguntar qué pasa si hi == lo (división por cero): enlaza con excepciones del bloque 3.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9:notes"/>
          <p:cNvSpPr txBox="1"/>
          <p:nvPr>
            <p:ph idx="12" type="sldNum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0:notes"/>
          <p:cNvSpPr/>
          <p:nvPr>
            <p:ph idx="2" type="sldImg"/>
          </p:nvPr>
        </p:nvSpPr>
        <p:spPr>
          <a:xfrm>
            <a:off x="685800" y="1143000"/>
            <a:ext cx="5484600" cy="30844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2" name="Google Shape;292;p20:notes"/>
          <p:cNvSpPr txBox="1"/>
          <p:nvPr>
            <p:ph idx="1"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0:notes"/>
          <p:cNvSpPr txBox="1"/>
          <p:nvPr>
            <p:ph idx="12" type="sldNum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1:notes"/>
          <p:cNvSpPr/>
          <p:nvPr>
            <p:ph idx="2" type="sldImg"/>
          </p:nvPr>
        </p:nvSpPr>
        <p:spPr>
          <a:xfrm>
            <a:off x="685800" y="1143000"/>
            <a:ext cx="5484600" cy="30844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1" name="Google Shape;301;p21:notes"/>
          <p:cNvSpPr txBox="1"/>
          <p:nvPr>
            <p:ph idx="1"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Mostrar help() y el docstring en el REPL: engancha bastante.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1:notes"/>
          <p:cNvSpPr txBox="1"/>
          <p:nvPr>
            <p:ph idx="12" type="sldNum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2:notes"/>
          <p:cNvSpPr/>
          <p:nvPr>
            <p:ph idx="2" type="sldImg"/>
          </p:nvPr>
        </p:nvSpPr>
        <p:spPr>
          <a:xfrm>
            <a:off x="685800" y="1143000"/>
            <a:ext cx="5484600" cy="30844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6" name="Google Shape;316;p22:notes"/>
          <p:cNvSpPr txBox="1"/>
          <p:nvPr>
            <p:ph idx="1"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**config aparecerá en todas las librerías de ML.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22:notes"/>
          <p:cNvSpPr txBox="1"/>
          <p:nvPr>
            <p:ph idx="12" type="sldNum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3:notes"/>
          <p:cNvSpPr/>
          <p:nvPr>
            <p:ph idx="2" type="sldImg"/>
          </p:nvPr>
        </p:nvSpPr>
        <p:spPr>
          <a:xfrm>
            <a:off x="685800" y="1143000"/>
            <a:ext cx="5484600" cy="30844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1" name="Google Shape;331;p23:notes"/>
          <p:cNvSpPr txBox="1"/>
          <p:nvPr>
            <p:ph idx="1"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Ejecutarlo en vivo. Es de los momentos que mejor se recuerdan de la sesión.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23:notes"/>
          <p:cNvSpPr txBox="1"/>
          <p:nvPr>
            <p:ph idx="12" type="sldNum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4:notes"/>
          <p:cNvSpPr/>
          <p:nvPr>
            <p:ph idx="2" type="sldImg"/>
          </p:nvPr>
        </p:nvSpPr>
        <p:spPr>
          <a:xfrm>
            <a:off x="685800" y="1143000"/>
            <a:ext cx="5484600" cy="30844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4" name="Google Shape;354;p24:notes"/>
          <p:cNvSpPr txBox="1"/>
          <p:nvPr>
            <p:ph idx="1"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Conectar con la firma de fit/predict de scikit-learn.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24:notes"/>
          <p:cNvSpPr txBox="1"/>
          <p:nvPr>
            <p:ph idx="12" type="sldNum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5:notes"/>
          <p:cNvSpPr/>
          <p:nvPr>
            <p:ph idx="2" type="sldImg"/>
          </p:nvPr>
        </p:nvSpPr>
        <p:spPr>
          <a:xfrm>
            <a:off x="685800" y="1143000"/>
            <a:ext cx="5484600" cy="30844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9" name="Google Shape;369;p25:notes"/>
          <p:cNvSpPr txBox="1"/>
          <p:nvPr>
            <p:ph idx="1"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Función pura vs función con efectos colaterales: vocabulario que les servirá en el módulo de ML.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25:notes"/>
          <p:cNvSpPr txBox="1"/>
          <p:nvPr>
            <p:ph idx="12" type="sldNum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6:notes"/>
          <p:cNvSpPr/>
          <p:nvPr>
            <p:ph idx="2" type="sldImg"/>
          </p:nvPr>
        </p:nvSpPr>
        <p:spPr>
          <a:xfrm>
            <a:off x="685800" y="1143000"/>
            <a:ext cx="5484600" cy="30844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4" name="Google Shape;384;p26:notes"/>
          <p:cNvSpPr txBox="1"/>
          <p:nvPr>
            <p:ph idx="1"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Las funciones son objetos: se guardan en variables, en diccionarios y se pasan como argumento. Eso es lo que permite map, filter, reduce y key=.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26:notes"/>
          <p:cNvSpPr txBox="1"/>
          <p:nvPr>
            <p:ph idx="12" type="sldNum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7:notes"/>
          <p:cNvSpPr/>
          <p:nvPr>
            <p:ph idx="2" type="sldImg"/>
          </p:nvPr>
        </p:nvSpPr>
        <p:spPr>
          <a:xfrm>
            <a:off x="685800" y="1143000"/>
            <a:ext cx="5484600" cy="30844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9" name="Google Shape;399;p27:notes"/>
          <p:cNvSpPr txBox="1"/>
          <p:nvPr>
            <p:ph idx="1"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tupla como clave (-nota, nombre) resuelve la ordenación por varios criterios con sentidos distintos: truco muy práctico.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27:notes"/>
          <p:cNvSpPr txBox="1"/>
          <p:nvPr>
            <p:ph idx="12" type="sldNum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8:notes"/>
          <p:cNvSpPr/>
          <p:nvPr>
            <p:ph idx="2" type="sldImg"/>
          </p:nvPr>
        </p:nvSpPr>
        <p:spPr>
          <a:xfrm>
            <a:off x="685800" y="1143000"/>
            <a:ext cx="5484600" cy="30844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4" name="Google Shape;414;p28:notes"/>
          <p:cNvSpPr txBox="1"/>
          <p:nvPr>
            <p:ph idx="1"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Demostrar el iterador agotado en directo. map(float, ...) es el uso más natural: convierte columnas leídas como texto.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28:notes"/>
          <p:cNvSpPr txBox="1"/>
          <p:nvPr>
            <p:ph idx="12" type="sldNum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9:notes"/>
          <p:cNvSpPr/>
          <p:nvPr>
            <p:ph idx="2" type="sldImg"/>
          </p:nvPr>
        </p:nvSpPr>
        <p:spPr>
          <a:xfrm>
            <a:off x="685800" y="1143000"/>
            <a:ext cx="5484600" cy="30844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0" name="Google Shape;430;p29:notes"/>
          <p:cNvSpPr txBox="1"/>
          <p:nvPr>
            <p:ph idx="1"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encadenado map(filter(...)) se lee de dentro hacia fuera: es el principal argumento a favor de las comprensiones.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29:notes"/>
          <p:cNvSpPr txBox="1"/>
          <p:nvPr>
            <p:ph idx="12" type="sldNum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30:notes"/>
          <p:cNvSpPr/>
          <p:nvPr>
            <p:ph idx="2" type="sldImg"/>
          </p:nvPr>
        </p:nvSpPr>
        <p:spPr>
          <a:xfrm>
            <a:off x="685800" y="1143000"/>
            <a:ext cx="5484600" cy="30844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6" name="Google Shape;446;p30:notes"/>
          <p:cNvSpPr txBox="1"/>
          <p:nvPr>
            <p:ph idx="1"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Dibujar en la pizarra la "bola de nieve" del acumulador: acc=1, x=2 → 3; acc=3, x=3 → 6... Es el mismo concepto que el Reduce de MapReduce que verán en Big Data.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30:notes"/>
          <p:cNvSpPr txBox="1"/>
          <p:nvPr>
            <p:ph idx="12" type="sldNum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1:notes"/>
          <p:cNvSpPr/>
          <p:nvPr>
            <p:ph idx="2" type="sldImg"/>
          </p:nvPr>
        </p:nvSpPr>
        <p:spPr>
          <a:xfrm>
            <a:off x="685800" y="1143000"/>
            <a:ext cx="5484600" cy="30844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2" name="Google Shape;462;p31:notes"/>
          <p:cNvSpPr txBox="1"/>
          <p:nvPr>
            <p:ph idx="1"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Mencionar MapReduce y PySpark: rdd.filter(...).map(...).reduce(...) es exactamente la columna de la izquierda. Enlace directo con el módulo de Sistemas de Big Data.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31:notes"/>
          <p:cNvSpPr txBox="1"/>
          <p:nvPr>
            <p:ph idx="12" type="sldNum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2:notes"/>
          <p:cNvSpPr/>
          <p:nvPr>
            <p:ph idx="2" type="sldImg"/>
          </p:nvPr>
        </p:nvSpPr>
        <p:spPr>
          <a:xfrm>
            <a:off x="685800" y="1143000"/>
            <a:ext cx="5484600" cy="30844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5" name="Google Shape;485;p32:notes"/>
          <p:cNvSpPr txBox="1"/>
          <p:nvPr>
            <p:ph idx="1"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E2.17 cierra el tema con un debate breve: no hay respuesta única, pero la comprensión suele ganar en legibilidad.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32:notes"/>
          <p:cNvSpPr txBox="1"/>
          <p:nvPr>
            <p:ph idx="12" type="sldNum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3:notes"/>
          <p:cNvSpPr/>
          <p:nvPr>
            <p:ph idx="2" type="sldImg"/>
          </p:nvPr>
        </p:nvSpPr>
        <p:spPr>
          <a:xfrm>
            <a:off x="685800" y="1143000"/>
            <a:ext cx="5484600" cy="30844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7" name="Google Shape;497;p33:notes"/>
          <p:cNvSpPr txBox="1"/>
          <p:nvPr>
            <p:ph idx="1"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33:notes"/>
          <p:cNvSpPr txBox="1"/>
          <p:nvPr>
            <p:ph idx="12" type="sldNum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4:notes"/>
          <p:cNvSpPr/>
          <p:nvPr>
            <p:ph idx="2" type="sldImg"/>
          </p:nvPr>
        </p:nvSpPr>
        <p:spPr>
          <a:xfrm>
            <a:off x="685800" y="1143000"/>
            <a:ext cx="5484600" cy="30844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6" name="Google Shape;506;p34:notes"/>
          <p:cNvSpPr txBox="1"/>
          <p:nvPr>
            <p:ph idx="1"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lang="en-US" sz="20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Dar el dataset ya preparado en un fichero de apoyo. Insistir en trocear en funciones pequeñas y probar cada una en el REPL.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34:notes"/>
          <p:cNvSpPr txBox="1"/>
          <p:nvPr>
            <p:ph idx="12" type="sldNum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5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" name="Google Shape;11;p35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2004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85750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−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85750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8575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8575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202B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"/>
          <p:cNvSpPr/>
          <p:nvPr/>
        </p:nvSpPr>
        <p:spPr>
          <a:xfrm>
            <a:off x="9418320" y="-1371600"/>
            <a:ext cx="4204440" cy="4204440"/>
          </a:xfrm>
          <a:prstGeom prst="ellipse">
            <a:avLst/>
          </a:prstGeom>
          <a:solidFill>
            <a:srgbClr val="0E7C7B">
              <a:alpha val="27843"/>
            </a:srgbClr>
          </a:solidFill>
          <a:ln cap="flat" cmpd="sng" w="12700">
            <a:solidFill>
              <a:srgbClr val="0E7C7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567000" y="1325880"/>
            <a:ext cx="11053440" cy="31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17BEBB"/>
                </a:solidFill>
                <a:latin typeface="Calibri"/>
                <a:ea typeface="Calibri"/>
                <a:cs typeface="Calibri"/>
                <a:sym typeface="Calibri"/>
              </a:rPr>
              <a:t>BLOQUE 2 </a:t>
            </a:r>
            <a:endParaRPr b="0" sz="1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67000" y="1737360"/>
            <a:ext cx="786204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 u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Colecciones y funciones</a:t>
            </a:r>
            <a:endParaRPr b="0" sz="4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67000" y="3154680"/>
            <a:ext cx="7496280" cy="821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 u="none" strike="noStrike">
                <a:solidFill>
                  <a:srgbClr val="B9C8D0"/>
                </a:solidFill>
                <a:latin typeface="Calibri"/>
                <a:ea typeface="Calibri"/>
                <a:cs typeface="Calibri"/>
                <a:sym typeface="Calibri"/>
              </a:rPr>
              <a:t>Las estructuras de datos de Python y la forma de organizar el código.</a:t>
            </a:r>
            <a:endParaRPr b="0" sz="16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67000" y="4160520"/>
            <a:ext cx="6764760" cy="1833840"/>
          </a:xfrm>
          <a:prstGeom prst="roundRect">
            <a:avLst>
              <a:gd fmla="val 3985" name="adj"/>
            </a:avLst>
          </a:prstGeom>
          <a:solidFill>
            <a:srgbClr val="10202B"/>
          </a:solidFill>
          <a:ln cap="flat" cmpd="sng" w="12700">
            <a:solidFill>
              <a:srgbClr val="102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68240" y="4334400"/>
            <a:ext cx="94320" cy="94320"/>
          </a:xfrm>
          <a:prstGeom prst="ellipse">
            <a:avLst/>
          </a:prstGeom>
          <a:solidFill>
            <a:srgbClr val="E4B363"/>
          </a:solidFill>
          <a:ln cap="flat" cmpd="sng" w="12700">
            <a:solidFill>
              <a:srgbClr val="E4B3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969120" y="4334400"/>
            <a:ext cx="94320" cy="94320"/>
          </a:xfrm>
          <a:prstGeom prst="ellipse">
            <a:avLst/>
          </a:prstGeom>
          <a:solidFill>
            <a:srgbClr val="17BEBB"/>
          </a:solidFill>
          <a:ln cap="flat" cmpd="sng" w="12700">
            <a:solidFill>
              <a:srgbClr val="17BE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1170360" y="4334400"/>
            <a:ext cx="94320" cy="94320"/>
          </a:xfrm>
          <a:prstGeom prst="ellipse">
            <a:avLst/>
          </a:prstGeom>
          <a:solidFill>
            <a:srgbClr val="3E5563"/>
          </a:solidFill>
          <a:ln cap="flat" cmpd="sng" w="12700">
            <a:solidFill>
              <a:srgbClr val="3E5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1435680" y="4260960"/>
            <a:ext cx="566748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E8390"/>
                </a:solidFill>
                <a:latin typeface="Courier New"/>
                <a:ea typeface="Courier New"/>
                <a:cs typeface="Courier New"/>
                <a:sym typeface="Courier New"/>
              </a:rPr>
              <a:t>bloque2.py</a:t>
            </a:r>
            <a:endParaRPr b="0" sz="10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749880" y="4572000"/>
            <a:ext cx="6444720" cy="133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muestras = [</a:t>
            </a:r>
            <a:endParaRPr b="0" sz="12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{</a:t>
            </a:r>
            <a:r>
              <a:rPr b="0" lang="en-US" sz="12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"petalo"</a:t>
            </a:r>
            <a:r>
              <a:rPr b="0" lang="en-US" sz="12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lang="en-US" sz="12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1.4</a:t>
            </a:r>
            <a:r>
              <a:rPr b="0" lang="en-US" sz="12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2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"clase"</a:t>
            </a:r>
            <a:r>
              <a:rPr b="0" lang="en-US" sz="12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lang="en-US" sz="12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"setosa"</a:t>
            </a:r>
            <a:r>
              <a:rPr b="0" lang="en-US" sz="12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},</a:t>
            </a:r>
            <a:endParaRPr b="0" sz="12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{</a:t>
            </a:r>
            <a:r>
              <a:rPr b="0" lang="en-US" sz="12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"petalo"</a:t>
            </a:r>
            <a:r>
              <a:rPr b="0" lang="en-US" sz="12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lang="en-US" sz="12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4.7</a:t>
            </a:r>
            <a:r>
              <a:rPr b="0" lang="en-US" sz="12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2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"clase"</a:t>
            </a:r>
            <a:r>
              <a:rPr b="0" lang="en-US" sz="12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lang="en-US" sz="12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"versicolor"</a:t>
            </a:r>
            <a:r>
              <a:rPr b="0" lang="en-US" sz="12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},</a:t>
            </a:r>
            <a:endParaRPr b="0" sz="12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0" sz="12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2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clases = {m[</a:t>
            </a:r>
            <a:r>
              <a:rPr b="0" lang="en-US" sz="12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"clase"</a:t>
            </a:r>
            <a:r>
              <a:rPr b="0" lang="en-US" sz="12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b="0" lang="en-US" sz="12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lang="en-US" sz="12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m </a:t>
            </a:r>
            <a:r>
              <a:rPr b="0" lang="en-US" sz="12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lang="en-US" sz="12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muestras}</a:t>
            </a:r>
            <a:endParaRPr b="0" sz="12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7589520" y="5943600"/>
            <a:ext cx="4021560" cy="31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7C8F9A"/>
                </a:solidFill>
                <a:latin typeface="Calibri"/>
                <a:ea typeface="Calibri"/>
                <a:cs typeface="Calibri"/>
                <a:sym typeface="Calibri"/>
              </a:rPr>
              <a:t>Programación de Inteligencia Artificial · CE IA y Big Data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202B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"/>
          <p:cNvSpPr/>
          <p:nvPr/>
        </p:nvSpPr>
        <p:spPr>
          <a:xfrm>
            <a:off x="567000" y="1920240"/>
            <a:ext cx="173556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400" u="none" strike="noStrike">
                <a:solidFill>
                  <a:srgbClr val="0E7C7B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sz="8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2286000" y="2148840"/>
            <a:ext cx="8959320" cy="821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 u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Las cuatro colecciones</a:t>
            </a:r>
            <a:endParaRPr b="0" sz="3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2331720" y="3017520"/>
            <a:ext cx="8776440" cy="821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50" u="none" strike="noStrike">
                <a:solidFill>
                  <a:srgbClr val="A9BAC4"/>
                </a:solidFill>
                <a:latin typeface="Calibri"/>
                <a:ea typeface="Calibri"/>
                <a:cs typeface="Calibri"/>
                <a:sym typeface="Calibri"/>
              </a:rPr>
              <a:t>Elegir bien la estructura es la mitad del algoritmo. En Python la elección es explícita y barata.</a:t>
            </a:r>
            <a:endParaRPr b="0" sz="15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2331720" y="3886200"/>
            <a:ext cx="5484600" cy="36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"/>
          <p:cNvSpPr/>
          <p:nvPr/>
        </p:nvSpPr>
        <p:spPr>
          <a:xfrm>
            <a:off x="567000" y="384120"/>
            <a:ext cx="11053440" cy="27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567000" y="658440"/>
            <a:ext cx="11053440" cy="63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none" strike="noStrike">
                <a:solidFill>
                  <a:srgbClr val="17262E"/>
                </a:solidFill>
                <a:latin typeface="Cambria"/>
                <a:ea typeface="Cambria"/>
                <a:cs typeface="Cambria"/>
                <a:sym typeface="Cambria"/>
              </a:rPr>
              <a:t>Cuándo usar cada una</a:t>
            </a:r>
            <a:endParaRPr b="0" sz="3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5" name="Google Shape;45;p3"/>
          <p:cNvGraphicFramePr/>
          <p:nvPr/>
        </p:nvGraphicFramePr>
        <p:xfrm>
          <a:off x="567000" y="1481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{78A5DC23-B735-46A8-A9A1-F7ADEC74921B}</a:tableStyleId>
              </a:tblPr>
              <a:tblGrid>
                <a:gridCol w="1828800"/>
                <a:gridCol w="2103125"/>
                <a:gridCol w="1371600"/>
                <a:gridCol w="1463050"/>
                <a:gridCol w="4288325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Colección</a:t>
                      </a:r>
                      <a:endParaRPr b="0" sz="14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75" marB="73075" marR="73075" marL="73075" anchor="ctr">
                    <a:lnL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Sintaxis</a:t>
                      </a:r>
                      <a:endParaRPr b="0" sz="14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75" marB="73075" marR="73075" marL="73075" anchor="ctr">
                    <a:lnL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¿Mutable?</a:t>
                      </a:r>
                      <a:endParaRPr b="0" sz="14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75" marB="73075" marR="73075" marL="73075" anchor="ctr">
                    <a:lnL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Duplicados</a:t>
                      </a:r>
                      <a:endParaRPr b="0" sz="14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75" marB="73075" marR="73075" marL="73075" anchor="ctr">
                    <a:lnL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7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Caso típico en IA</a:t>
                      </a:r>
                      <a:endParaRPr b="0" sz="14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75" marB="73075" marR="73075" marL="73075" anchor="ctr">
                    <a:lnL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7C7B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7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list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75" marB="73075" marR="73075" marL="73075" anchor="ctr">
                    <a:lnL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7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[1, 2, 3]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75" marB="73075" marR="73075" marL="73075" anchor="ctr">
                    <a:lnL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7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Sí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75" marB="73075" marR="73075" marL="73075" anchor="ctr">
                    <a:lnL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7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Sí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75" marB="73075" marR="73075" marL="73075" anchor="ctr">
                    <a:lnL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7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Secuencia de muestras o de predicciones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75" marB="73075" marR="73075" marL="73075" anchor="ctr">
                    <a:lnL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3F3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7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tuple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75" marB="73075" marR="73075" marL="73075" anchor="ctr">
                    <a:lnL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7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(1, 2, 3)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75" marB="73075" marR="73075" marL="73075" anchor="ctr">
                    <a:lnL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7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75" marB="73075" marR="73075" marL="73075" anchor="ctr">
                    <a:lnL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7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Sí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75" marB="73075" marR="73075" marL="73075" anchor="ctr">
                    <a:lnL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7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Registro fijo: (x, y), forma de una matriz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75" marB="73075" marR="73075" marL="73075" anchor="ctr">
                    <a:lnL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7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dict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75" marB="73075" marR="73075" marL="73075" anchor="ctr">
                    <a:lnL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7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{"a": 1}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75" marB="73075" marR="73075" marL="73075" anchor="ctr">
                    <a:lnL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7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Sí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75" marB="73075" marR="73075" marL="73075" anchor="ctr">
                    <a:lnL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7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Claves no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75" marB="73075" marR="73075" marL="73075" anchor="ctr">
                    <a:lnL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7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Una fila con nombre de columna; conteos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75" marB="73075" marR="73075" marL="73075" anchor="ctr">
                    <a:lnL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F3F3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7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set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75" marB="73075" marR="73075" marL="73075" anchor="ctr">
                    <a:lnL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7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{1, 2, 3}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75" marB="73075" marR="73075" marL="73075" anchor="ctr">
                    <a:lnL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7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Sí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75" marB="73075" marR="73075" marL="73075" anchor="ctr">
                    <a:lnL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7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75" marB="73075" marR="73075" marL="73075" anchor="ctr">
                    <a:lnL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726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Etiquetas distintas, vocabulario, deduplicar</a:t>
                      </a:r>
                      <a:endParaRPr b="0" sz="13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3075" marB="73075" marR="73075" marL="73075" anchor="ctr">
                    <a:lnL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2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"/>
          <p:cNvSpPr/>
          <p:nvPr/>
        </p:nvSpPr>
        <p:spPr>
          <a:xfrm>
            <a:off x="567000" y="384120"/>
            <a:ext cx="11053440" cy="27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 u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LISTAS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567000" y="658440"/>
            <a:ext cx="11053440" cy="63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none" strike="noStrike">
                <a:solidFill>
                  <a:srgbClr val="17262E"/>
                </a:solidFill>
                <a:latin typeface="Cambria"/>
                <a:ea typeface="Cambria"/>
                <a:cs typeface="Cambria"/>
                <a:sym typeface="Cambria"/>
              </a:rPr>
              <a:t>Listas: la colección por defecto</a:t>
            </a:r>
            <a:endParaRPr b="0" sz="3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567000" y="1444680"/>
            <a:ext cx="5027400" cy="72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 u="none" strike="noStrike">
                <a:solidFill>
                  <a:srgbClr val="5A6B75"/>
                </a:solidFill>
                <a:latin typeface="Calibri"/>
                <a:ea typeface="Calibri"/>
                <a:cs typeface="Calibri"/>
                <a:sym typeface="Calibri"/>
              </a:rPr>
              <a:t>Heterogéneas, dinámicas y con índices negativos.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567000" y="2221920"/>
            <a:ext cx="5027400" cy="397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3080" lvl="0" marL="34308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262E"/>
              </a:buClr>
              <a:buSzPts val="1500"/>
              <a:buFont typeface="Noto Sans Symbols"/>
              <a:buChar char="●"/>
            </a:pPr>
            <a:r>
              <a:rPr b="0" lang="en-US" sz="15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Índice 0 al principio; -1 es el último elemento.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15000"/>
              </a:lnSpc>
              <a:spcBef>
                <a:spcPts val="901"/>
              </a:spcBef>
              <a:spcAft>
                <a:spcPts val="0"/>
              </a:spcAft>
              <a:buClr>
                <a:srgbClr val="17262E"/>
              </a:buClr>
              <a:buSzPts val="1500"/>
              <a:buFont typeface="Noto Sans Symbols"/>
              <a:buChar char="●"/>
            </a:pPr>
            <a:r>
              <a:rPr b="0" lang="en-US" sz="15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Crecen y encogen: no hay que dimensionarlas.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15000"/>
              </a:lnSpc>
              <a:spcBef>
                <a:spcPts val="901"/>
              </a:spcBef>
              <a:spcAft>
                <a:spcPts val="0"/>
              </a:spcAft>
              <a:buClr>
                <a:srgbClr val="17262E"/>
              </a:buClr>
              <a:buSzPts val="1500"/>
              <a:buFont typeface="Noto Sans Symbols"/>
              <a:buChar char="●"/>
            </a:pPr>
            <a:r>
              <a:rPr b="0" lang="en-US" sz="15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Pueden mezclar tipos, aunque casi nunca conviene.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15000"/>
              </a:lnSpc>
              <a:spcBef>
                <a:spcPts val="901"/>
              </a:spcBef>
              <a:spcAft>
                <a:spcPts val="0"/>
              </a:spcAft>
              <a:buClr>
                <a:srgbClr val="17262E"/>
              </a:buClr>
              <a:buSzPts val="1500"/>
              <a:buFont typeface="Noto Sans Symbols"/>
              <a:buChar char="●"/>
            </a:pPr>
            <a:r>
              <a:rPr b="0" lang="en-US" sz="15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in comprueba pertenencia; len() da el tamaño.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5943600" y="1444680"/>
            <a:ext cx="5667480" cy="2899440"/>
          </a:xfrm>
          <a:prstGeom prst="roundRect">
            <a:avLst>
              <a:gd fmla="val 2521" name="adj"/>
            </a:avLst>
          </a:prstGeom>
          <a:solidFill>
            <a:srgbClr val="10202B"/>
          </a:solidFill>
          <a:ln cap="flat" cmpd="sng" w="12700">
            <a:solidFill>
              <a:srgbClr val="102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6144840" y="1618560"/>
            <a:ext cx="94320" cy="94320"/>
          </a:xfrm>
          <a:prstGeom prst="ellipse">
            <a:avLst/>
          </a:prstGeom>
          <a:solidFill>
            <a:srgbClr val="E4B363"/>
          </a:solidFill>
          <a:ln cap="flat" cmpd="sng" w="12700">
            <a:solidFill>
              <a:srgbClr val="E4B3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6346080" y="1618560"/>
            <a:ext cx="94320" cy="94320"/>
          </a:xfrm>
          <a:prstGeom prst="ellipse">
            <a:avLst/>
          </a:prstGeom>
          <a:solidFill>
            <a:srgbClr val="17BEBB"/>
          </a:solidFill>
          <a:ln cap="flat" cmpd="sng" w="12700">
            <a:solidFill>
              <a:srgbClr val="17BE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6546960" y="1618560"/>
            <a:ext cx="94320" cy="94320"/>
          </a:xfrm>
          <a:prstGeom prst="ellipse">
            <a:avLst/>
          </a:prstGeom>
          <a:solidFill>
            <a:srgbClr val="3E5563"/>
          </a:solidFill>
          <a:ln cap="flat" cmpd="sng" w="12700">
            <a:solidFill>
              <a:srgbClr val="3E5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6812280" y="1545480"/>
            <a:ext cx="45702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E8390"/>
                </a:solidFill>
                <a:latin typeface="Courier New"/>
                <a:ea typeface="Courier New"/>
                <a:cs typeface="Courier New"/>
                <a:sym typeface="Courier New"/>
              </a:rPr>
              <a:t>listas.py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6126480" y="1856160"/>
            <a:ext cx="5347440" cy="239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notas = [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7.5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9.0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4.2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6.8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notas[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       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7.5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notas[-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      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6.8  el ultimo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(notas)     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4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notas.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append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8.1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notas[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 =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5.0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mutable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9.0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notas   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True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mixta = [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"dos"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3.0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"/>
          <p:cNvSpPr/>
          <p:nvPr/>
        </p:nvSpPr>
        <p:spPr>
          <a:xfrm>
            <a:off x="567000" y="384120"/>
            <a:ext cx="11053440" cy="27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 u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LISTAS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567000" y="658440"/>
            <a:ext cx="11053440" cy="63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none" strike="noStrike">
                <a:solidFill>
                  <a:srgbClr val="17262E"/>
                </a:solidFill>
                <a:latin typeface="Cambria"/>
                <a:ea typeface="Cambria"/>
                <a:cs typeface="Cambria"/>
                <a:sym typeface="Cambria"/>
              </a:rPr>
              <a:t>Slicing: rebanadas [inicio:fin:paso]</a:t>
            </a:r>
            <a:endParaRPr b="0" sz="3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567000" y="1417320"/>
            <a:ext cx="11053440" cy="3102480"/>
          </a:xfrm>
          <a:prstGeom prst="roundRect">
            <a:avLst>
              <a:gd fmla="val 2356" name="adj"/>
            </a:avLst>
          </a:prstGeom>
          <a:solidFill>
            <a:srgbClr val="10202B"/>
          </a:solidFill>
          <a:ln cap="flat" cmpd="sng" w="12700">
            <a:solidFill>
              <a:srgbClr val="102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768240" y="1591200"/>
            <a:ext cx="94320" cy="94320"/>
          </a:xfrm>
          <a:prstGeom prst="ellipse">
            <a:avLst/>
          </a:prstGeom>
          <a:solidFill>
            <a:srgbClr val="E4B363"/>
          </a:solidFill>
          <a:ln cap="flat" cmpd="sng" w="12700">
            <a:solidFill>
              <a:srgbClr val="E4B3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969120" y="1591200"/>
            <a:ext cx="94320" cy="94320"/>
          </a:xfrm>
          <a:prstGeom prst="ellipse">
            <a:avLst/>
          </a:prstGeom>
          <a:solidFill>
            <a:srgbClr val="17BEBB"/>
          </a:solidFill>
          <a:ln cap="flat" cmpd="sng" w="12700">
            <a:solidFill>
              <a:srgbClr val="17BE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1170360" y="1591200"/>
            <a:ext cx="94320" cy="94320"/>
          </a:xfrm>
          <a:prstGeom prst="ellipse">
            <a:avLst/>
          </a:prstGeom>
          <a:solidFill>
            <a:srgbClr val="3E5563"/>
          </a:solidFill>
          <a:ln cap="flat" cmpd="sng" w="12700">
            <a:solidFill>
              <a:srgbClr val="3E5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1435680" y="1517760"/>
            <a:ext cx="995616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E8390"/>
                </a:solidFill>
                <a:latin typeface="Courier New"/>
                <a:ea typeface="Courier New"/>
                <a:cs typeface="Courier New"/>
                <a:sym typeface="Courier New"/>
              </a:rPr>
              <a:t>slicing.py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749880" y="1828800"/>
            <a:ext cx="10733400" cy="2599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datos = [</a:t>
            </a:r>
            <a:r>
              <a:rPr b="0" lang="en-US" sz="12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b="0" lang="en-US" sz="12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2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20</a:t>
            </a:r>
            <a:r>
              <a:rPr b="0" lang="en-US" sz="12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2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30</a:t>
            </a:r>
            <a:r>
              <a:rPr b="0" lang="en-US" sz="12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2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40</a:t>
            </a:r>
            <a:r>
              <a:rPr b="0" lang="en-US" sz="12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2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50</a:t>
            </a:r>
            <a:r>
              <a:rPr b="0" lang="en-US" sz="12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2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60</a:t>
            </a:r>
            <a:r>
              <a:rPr b="0" lang="en-US" sz="12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datos[</a:t>
            </a:r>
            <a:r>
              <a:rPr b="0" lang="en-US" sz="12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lang="en-US" sz="12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b="0" lang="en-US" sz="12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0" lang="en-US" sz="12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     </a:t>
            </a:r>
            <a:r>
              <a:rPr b="0" lang="en-US" sz="12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[20, 30, 40]     el final NO se incluye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datos[:</a:t>
            </a:r>
            <a:r>
              <a:rPr b="0" lang="en-US" sz="12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0" lang="en-US" sz="12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      </a:t>
            </a:r>
            <a:r>
              <a:rPr b="0" lang="en-US" sz="12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[10, 20, 30]     desde el principio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datos[</a:t>
            </a:r>
            <a:r>
              <a:rPr b="0" lang="en-US" sz="12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0" lang="en-US" sz="12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:]      </a:t>
            </a:r>
            <a:r>
              <a:rPr b="0" lang="en-US" sz="12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[40, 50, 60]     hasta el final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datos[-</a:t>
            </a:r>
            <a:r>
              <a:rPr b="0" lang="en-US" sz="12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lang="en-US" sz="12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:]     </a:t>
            </a:r>
            <a:r>
              <a:rPr b="0" lang="en-US" sz="12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[50, 60]         los dos ultimos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datos[::</a:t>
            </a:r>
            <a:r>
              <a:rPr b="0" lang="en-US" sz="12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lang="en-US" sz="12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     </a:t>
            </a:r>
            <a:r>
              <a:rPr b="0" lang="en-US" sz="12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[10, 30, 50]     uno de cada dos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datos[::-</a:t>
            </a:r>
            <a:r>
              <a:rPr b="0" lang="en-US" sz="12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lang="en-US" sz="12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    </a:t>
            </a:r>
            <a:r>
              <a:rPr b="0" lang="en-US" sz="12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[60, 50, ...]    invertida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Uso real: separar entrenamiento y test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corte = </a:t>
            </a:r>
            <a:r>
              <a:rPr b="0" lang="en-US" sz="12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0" lang="en-US" sz="12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lang="en-US" sz="12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b="0" lang="en-US" sz="12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(datos) * </a:t>
            </a:r>
            <a:r>
              <a:rPr b="0" lang="en-US" sz="12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0.8</a:t>
            </a:r>
            <a:r>
              <a:rPr b="0" lang="en-US" sz="12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entrenamiento, prueba = datos[:corte], datos[corte:]</a:t>
            </a:r>
            <a:endParaRPr b="0" sz="12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567000" y="4750200"/>
            <a:ext cx="11053440" cy="656640"/>
          </a:xfrm>
          <a:prstGeom prst="roundRect">
            <a:avLst>
              <a:gd fmla="val 8333" name="adj"/>
            </a:avLst>
          </a:prstGeom>
          <a:solidFill>
            <a:srgbClr val="EDF3F3"/>
          </a:solidFill>
          <a:ln cap="flat" cmpd="sng" w="12700">
            <a:solidFill>
              <a:srgbClr val="ED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768240" y="4750200"/>
            <a:ext cx="10641960" cy="656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Clave: </a:t>
            </a:r>
            <a:r>
              <a:rPr b="0" lang="en-US" sz="14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el slicing devuelve una lista nueva; también funciona sobre cadenas y tuplas. datos[:] es la forma corta de copiar una lista.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"/>
          <p:cNvSpPr/>
          <p:nvPr/>
        </p:nvSpPr>
        <p:spPr>
          <a:xfrm>
            <a:off x="567000" y="384120"/>
            <a:ext cx="11053440" cy="27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 u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LISTAS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567000" y="658440"/>
            <a:ext cx="11053440" cy="63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none" strike="noStrike">
                <a:solidFill>
                  <a:srgbClr val="17262E"/>
                </a:solidFill>
                <a:latin typeface="Cambria"/>
                <a:ea typeface="Cambria"/>
                <a:cs typeface="Cambria"/>
                <a:sym typeface="Cambria"/>
              </a:rPr>
              <a:t>Métodos útiles</a:t>
            </a:r>
            <a:endParaRPr b="0" sz="3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567000" y="1417320"/>
            <a:ext cx="11053440" cy="3407040"/>
          </a:xfrm>
          <a:prstGeom prst="roundRect">
            <a:avLst>
              <a:gd fmla="val 2146" name="adj"/>
            </a:avLst>
          </a:prstGeom>
          <a:solidFill>
            <a:srgbClr val="10202B"/>
          </a:solidFill>
          <a:ln cap="flat" cmpd="sng" w="12700">
            <a:solidFill>
              <a:srgbClr val="102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768240" y="1591200"/>
            <a:ext cx="94320" cy="94320"/>
          </a:xfrm>
          <a:prstGeom prst="ellipse">
            <a:avLst/>
          </a:prstGeom>
          <a:solidFill>
            <a:srgbClr val="E4B363"/>
          </a:solidFill>
          <a:ln cap="flat" cmpd="sng" w="12700">
            <a:solidFill>
              <a:srgbClr val="E4B3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969120" y="1591200"/>
            <a:ext cx="94320" cy="94320"/>
          </a:xfrm>
          <a:prstGeom prst="ellipse">
            <a:avLst/>
          </a:prstGeom>
          <a:solidFill>
            <a:srgbClr val="17BEBB"/>
          </a:solidFill>
          <a:ln cap="flat" cmpd="sng" w="12700">
            <a:solidFill>
              <a:srgbClr val="17BE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1170360" y="1591200"/>
            <a:ext cx="94320" cy="94320"/>
          </a:xfrm>
          <a:prstGeom prst="ellipse">
            <a:avLst/>
          </a:prstGeom>
          <a:solidFill>
            <a:srgbClr val="3E5563"/>
          </a:solidFill>
          <a:ln cap="flat" cmpd="sng" w="12700">
            <a:solidFill>
              <a:srgbClr val="3E5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1435680" y="1517760"/>
            <a:ext cx="995616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E8390"/>
                </a:solidFill>
                <a:latin typeface="Courier New"/>
                <a:ea typeface="Courier New"/>
                <a:cs typeface="Courier New"/>
                <a:sym typeface="Courier New"/>
              </a:rPr>
              <a:t>metodos_lista.py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749880" y="1828800"/>
            <a:ext cx="10733400" cy="2904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xs = [</a:t>
            </a:r>
            <a:r>
              <a:rPr b="0" lang="en-US" sz="12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2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2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xs.</a:t>
            </a:r>
            <a:r>
              <a:rPr b="0" lang="en-US" sz="120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append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lang="en-US" sz="12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       </a:t>
            </a:r>
            <a:r>
              <a:rPr b="0" lang="en-US" sz="120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[3, 1, 2, 4]      añade al final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xs.extend([</a:t>
            </a:r>
            <a:r>
              <a:rPr b="0" lang="en-US" sz="12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2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])   </a:t>
            </a:r>
            <a:r>
              <a:rPr b="0" lang="en-US" sz="120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[3, 1, 2, 4, 5, 6] concatena otra lista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xs.insert(</a:t>
            </a:r>
            <a:r>
              <a:rPr b="0" lang="en-US" sz="12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2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    </a:t>
            </a:r>
            <a:r>
              <a:rPr b="0" lang="en-US" sz="120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inserta en la posición indicada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xs.remove(</a:t>
            </a:r>
            <a:r>
              <a:rPr b="0" lang="en-US" sz="12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       </a:t>
            </a:r>
            <a:r>
              <a:rPr b="0" lang="en-US" sz="120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borra la PRIMERA aparición del valor 3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xs.pop()            </a:t>
            </a:r>
            <a:r>
              <a:rPr b="0" lang="en-US" sz="120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saca y devuelve el último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xs.index(</a:t>
            </a:r>
            <a:r>
              <a:rPr b="0" lang="en-US" sz="12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        </a:t>
            </a:r>
            <a:r>
              <a:rPr b="0" lang="en-US" sz="120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posición del valor 2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xs.count(</a:t>
            </a:r>
            <a:r>
              <a:rPr b="0" lang="en-US" sz="12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        </a:t>
            </a:r>
            <a:r>
              <a:rPr b="0" lang="en-US" sz="120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cuántas veces aparece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xs.sort()                       </a:t>
            </a:r>
            <a:r>
              <a:rPr b="0" lang="en-US" sz="120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ordena EN EL SITIO, devuelve None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ordenada = </a:t>
            </a:r>
            <a:r>
              <a:rPr b="0" lang="en-US" sz="120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sorted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(xs, reverse=</a:t>
            </a:r>
            <a:r>
              <a:rPr b="0" lang="en-US" sz="12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  </a:t>
            </a:r>
            <a:r>
              <a:rPr b="0" lang="en-US" sz="120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devuelve una lista nueva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xs.sort(key=</a:t>
            </a:r>
            <a:r>
              <a:rPr b="0" lang="en-US" sz="120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   </a:t>
            </a:r>
            <a:r>
              <a:rPr b="0" lang="en-US" sz="120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ordenar por criterio: longitud, campo, etc.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567000" y="5054760"/>
            <a:ext cx="11053440" cy="656640"/>
          </a:xfrm>
          <a:prstGeom prst="roundRect">
            <a:avLst>
              <a:gd fmla="val 8333" name="adj"/>
            </a:avLst>
          </a:prstGeom>
          <a:solidFill>
            <a:srgbClr val="EDF3F3"/>
          </a:solidFill>
          <a:ln cap="flat" cmpd="sng" w="12700">
            <a:solidFill>
              <a:srgbClr val="ED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768240" y="5054760"/>
            <a:ext cx="10641960" cy="656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Error frecuente: </a:t>
            </a:r>
            <a:r>
              <a:rPr b="0" lang="en-US" sz="14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xs = xs.sort() deja xs valiendo None. sort() modifica; sorted() devuelve. Esa distinción recorre toda la biblioteca estándar.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"/>
          <p:cNvSpPr/>
          <p:nvPr/>
        </p:nvSpPr>
        <p:spPr>
          <a:xfrm>
            <a:off x="567000" y="384120"/>
            <a:ext cx="11053440" cy="27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 u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MUTABILIDAD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567000" y="658440"/>
            <a:ext cx="11053440" cy="63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none" strike="noStrike">
                <a:solidFill>
                  <a:srgbClr val="17262E"/>
                </a:solidFill>
                <a:latin typeface="Cambria"/>
                <a:ea typeface="Cambria"/>
                <a:cs typeface="Cambria"/>
                <a:sym typeface="Cambria"/>
              </a:rPr>
              <a:t>Copiar una lista no es asignarla</a:t>
            </a:r>
            <a:endParaRPr b="0" sz="3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585360" y="1417320"/>
            <a:ext cx="5342760" cy="29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5A6B75"/>
                </a:solidFill>
                <a:latin typeface="Calibri"/>
                <a:ea typeface="Calibri"/>
                <a:cs typeface="Calibri"/>
                <a:sym typeface="Calibri"/>
              </a:rPr>
              <a:t>Alias: la misma lista con dos nombres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567000" y="1783080"/>
            <a:ext cx="5342760" cy="2705040"/>
          </a:xfrm>
          <a:prstGeom prst="roundRect">
            <a:avLst>
              <a:gd fmla="val 2702" name="adj"/>
            </a:avLst>
          </a:prstGeom>
          <a:solidFill>
            <a:srgbClr val="10202B"/>
          </a:solidFill>
          <a:ln cap="flat" cmpd="sng" w="12700">
            <a:solidFill>
              <a:srgbClr val="102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768240" y="1956960"/>
            <a:ext cx="94320" cy="94320"/>
          </a:xfrm>
          <a:prstGeom prst="ellipse">
            <a:avLst/>
          </a:prstGeom>
          <a:solidFill>
            <a:srgbClr val="E4B363"/>
          </a:solidFill>
          <a:ln cap="flat" cmpd="sng" w="12700">
            <a:solidFill>
              <a:srgbClr val="E4B3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969120" y="1956960"/>
            <a:ext cx="94320" cy="94320"/>
          </a:xfrm>
          <a:prstGeom prst="ellipse">
            <a:avLst/>
          </a:prstGeom>
          <a:solidFill>
            <a:srgbClr val="17BEBB"/>
          </a:solidFill>
          <a:ln cap="flat" cmpd="sng" w="12700">
            <a:solidFill>
              <a:srgbClr val="17BE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1170360" y="1956960"/>
            <a:ext cx="94320" cy="94320"/>
          </a:xfrm>
          <a:prstGeom prst="ellipse">
            <a:avLst/>
          </a:prstGeom>
          <a:solidFill>
            <a:srgbClr val="3E5563"/>
          </a:solidFill>
          <a:ln cap="flat" cmpd="sng" w="12700">
            <a:solidFill>
              <a:srgbClr val="3E5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1435680" y="1883520"/>
            <a:ext cx="424548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E8390"/>
                </a:solidFill>
                <a:latin typeface="Courier New"/>
                <a:ea typeface="Courier New"/>
                <a:cs typeface="Courier New"/>
                <a:sym typeface="Courier New"/>
              </a:rPr>
              <a:t>alias.py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749880" y="2194560"/>
            <a:ext cx="5022720" cy="220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a = [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b = a           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NO copia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b.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append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(a)        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[1, 2, 3, 4]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(a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is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b)   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True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Efecto colateral silencioso: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limpiar(datos):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datos.clear()  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modifica el original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6295680" y="1417320"/>
            <a:ext cx="5342760" cy="29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Copia real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6277320" y="1783080"/>
            <a:ext cx="5342760" cy="2705040"/>
          </a:xfrm>
          <a:prstGeom prst="roundRect">
            <a:avLst>
              <a:gd fmla="val 2702" name="adj"/>
            </a:avLst>
          </a:prstGeom>
          <a:solidFill>
            <a:srgbClr val="10202B"/>
          </a:solidFill>
          <a:ln cap="flat" cmpd="sng" w="12700">
            <a:solidFill>
              <a:srgbClr val="102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6478560" y="1956960"/>
            <a:ext cx="94320" cy="94320"/>
          </a:xfrm>
          <a:prstGeom prst="ellipse">
            <a:avLst/>
          </a:prstGeom>
          <a:solidFill>
            <a:srgbClr val="E4B363"/>
          </a:solidFill>
          <a:ln cap="flat" cmpd="sng" w="12700">
            <a:solidFill>
              <a:srgbClr val="E4B3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6679800" y="1956960"/>
            <a:ext cx="94320" cy="94320"/>
          </a:xfrm>
          <a:prstGeom prst="ellipse">
            <a:avLst/>
          </a:prstGeom>
          <a:solidFill>
            <a:srgbClr val="17BEBB"/>
          </a:solidFill>
          <a:ln cap="flat" cmpd="sng" w="12700">
            <a:solidFill>
              <a:srgbClr val="17BE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6881040" y="1956960"/>
            <a:ext cx="94320" cy="94320"/>
          </a:xfrm>
          <a:prstGeom prst="ellipse">
            <a:avLst/>
          </a:prstGeom>
          <a:solidFill>
            <a:srgbClr val="3E5563"/>
          </a:solidFill>
          <a:ln cap="flat" cmpd="sng" w="12700">
            <a:solidFill>
              <a:srgbClr val="3E5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7146000" y="1883520"/>
            <a:ext cx="424548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E8390"/>
                </a:solidFill>
                <a:latin typeface="Courier New"/>
                <a:ea typeface="Courier New"/>
                <a:cs typeface="Courier New"/>
                <a:sym typeface="Courier New"/>
              </a:rPr>
              <a:t>copia.py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6460200" y="2194560"/>
            <a:ext cx="5022720" cy="220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a = [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b = a.copy()    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o list(a) o a[:]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b.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append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(a)        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[1, 2, 3]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(a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is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b)   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False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Listas anidadas: copia profunda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copy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deepcopy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c = deepcopy(matriz)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567000" y="5715000"/>
            <a:ext cx="11053440" cy="656640"/>
          </a:xfrm>
          <a:prstGeom prst="roundRect">
            <a:avLst>
              <a:gd fmla="val 8333" name="adj"/>
            </a:avLst>
          </a:prstGeom>
          <a:solidFill>
            <a:srgbClr val="EDF3F3"/>
          </a:solidFill>
          <a:ln cap="flat" cmpd="sng" w="12700">
            <a:solidFill>
              <a:srgbClr val="ED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768240" y="5715000"/>
            <a:ext cx="10641960" cy="656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Idea clave: </a:t>
            </a:r>
            <a:r>
              <a:rPr b="0" lang="en-US" sz="14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los objetos mutables se pasan a las funciones por referencia. Si una función no debe modificar su entrada, copia dentro o devuelve una estructura nueva.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"/>
          <p:cNvSpPr/>
          <p:nvPr/>
        </p:nvSpPr>
        <p:spPr>
          <a:xfrm>
            <a:off x="567000" y="384120"/>
            <a:ext cx="11053440" cy="27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 u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TUPLAS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567000" y="658440"/>
            <a:ext cx="11053440" cy="63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none" strike="noStrike">
                <a:solidFill>
                  <a:srgbClr val="17262E"/>
                </a:solidFill>
                <a:latin typeface="Cambria"/>
                <a:ea typeface="Cambria"/>
                <a:cs typeface="Cambria"/>
                <a:sym typeface="Cambria"/>
              </a:rPr>
              <a:t>Tuplas y desempaquetado</a:t>
            </a:r>
            <a:endParaRPr b="0" sz="3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567000" y="1444680"/>
            <a:ext cx="5027400" cy="72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 u="none" strike="noStrike">
                <a:solidFill>
                  <a:srgbClr val="5A6B75"/>
                </a:solidFill>
                <a:latin typeface="Calibri"/>
                <a:ea typeface="Calibri"/>
                <a:cs typeface="Calibri"/>
                <a:sym typeface="Calibri"/>
              </a:rPr>
              <a:t>Inmutables: sirven como registro fijo y como clave de diccionario.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8"/>
          <p:cNvSpPr/>
          <p:nvPr/>
        </p:nvSpPr>
        <p:spPr>
          <a:xfrm>
            <a:off x="567000" y="2221920"/>
            <a:ext cx="5027400" cy="397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3080" lvl="0" marL="34308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262E"/>
              </a:buClr>
              <a:buSzPts val="1500"/>
              <a:buFont typeface="Noto Sans Symbols"/>
              <a:buChar char="●"/>
            </a:pPr>
            <a:r>
              <a:rPr b="0" lang="en-US" sz="15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Misma indexación y slicing que las listas.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15000"/>
              </a:lnSpc>
              <a:spcBef>
                <a:spcPts val="901"/>
              </a:spcBef>
              <a:spcAft>
                <a:spcPts val="0"/>
              </a:spcAft>
              <a:buClr>
                <a:srgbClr val="17262E"/>
              </a:buClr>
              <a:buSzPts val="1500"/>
              <a:buFont typeface="Noto Sans Symbols"/>
              <a:buChar char="●"/>
            </a:pPr>
            <a:r>
              <a:rPr b="0" lang="en-US" sz="15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El desempaquetado evita índices ilegibles.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15000"/>
              </a:lnSpc>
              <a:spcBef>
                <a:spcPts val="901"/>
              </a:spcBef>
              <a:spcAft>
                <a:spcPts val="0"/>
              </a:spcAft>
              <a:buClr>
                <a:srgbClr val="17262E"/>
              </a:buClr>
              <a:buSzPts val="1500"/>
              <a:buFont typeface="Noto Sans Symbols"/>
              <a:buChar char="●"/>
            </a:pPr>
            <a:r>
              <a:rPr b="0" lang="en-US" sz="15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Una función devuelve varios valores con una tupla.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15000"/>
              </a:lnSpc>
              <a:spcBef>
                <a:spcPts val="901"/>
              </a:spcBef>
              <a:spcAft>
                <a:spcPts val="0"/>
              </a:spcAft>
              <a:buClr>
                <a:srgbClr val="17262E"/>
              </a:buClr>
              <a:buSzPts val="1500"/>
              <a:buFont typeface="Noto Sans Symbols"/>
              <a:buChar char="●"/>
            </a:pPr>
            <a:r>
              <a:rPr b="0" lang="en-US" sz="15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Al ser inmutables pueden usarse como clave de un dict.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5943600" y="1444680"/>
            <a:ext cx="5667480" cy="3094200"/>
          </a:xfrm>
          <a:prstGeom prst="roundRect">
            <a:avLst>
              <a:gd fmla="val 2363" name="adj"/>
            </a:avLst>
          </a:prstGeom>
          <a:solidFill>
            <a:srgbClr val="10202B"/>
          </a:solidFill>
          <a:ln cap="flat" cmpd="sng" w="12700">
            <a:solidFill>
              <a:srgbClr val="102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6144840" y="1618560"/>
            <a:ext cx="94320" cy="94320"/>
          </a:xfrm>
          <a:prstGeom prst="ellipse">
            <a:avLst/>
          </a:prstGeom>
          <a:solidFill>
            <a:srgbClr val="E4B363"/>
          </a:solidFill>
          <a:ln cap="flat" cmpd="sng" w="12700">
            <a:solidFill>
              <a:srgbClr val="E4B3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6346080" y="1618560"/>
            <a:ext cx="94320" cy="94320"/>
          </a:xfrm>
          <a:prstGeom prst="ellipse">
            <a:avLst/>
          </a:prstGeom>
          <a:solidFill>
            <a:srgbClr val="17BEBB"/>
          </a:solidFill>
          <a:ln cap="flat" cmpd="sng" w="12700">
            <a:solidFill>
              <a:srgbClr val="17BE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6546960" y="1618560"/>
            <a:ext cx="94320" cy="94320"/>
          </a:xfrm>
          <a:prstGeom prst="ellipse">
            <a:avLst/>
          </a:prstGeom>
          <a:solidFill>
            <a:srgbClr val="3E5563"/>
          </a:solidFill>
          <a:ln cap="flat" cmpd="sng" w="12700">
            <a:solidFill>
              <a:srgbClr val="3E5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6812280" y="1545480"/>
            <a:ext cx="45702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E8390"/>
                </a:solidFill>
                <a:latin typeface="Courier New"/>
                <a:ea typeface="Courier New"/>
                <a:cs typeface="Courier New"/>
                <a:sym typeface="Courier New"/>
              </a:rPr>
              <a:t>tuplas.py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6126480" y="1856160"/>
            <a:ext cx="5347440" cy="2591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punto = (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3.5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7.2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x, y = punto           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desempaquetado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a, b =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a, b = b, a            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intercambio sin temporal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primero, *resto = [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primero=1, resto=[2, 3, 4]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minmax(xs):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min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(xs), 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max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(xs)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bajo, alto = minmax([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"/>
          <p:cNvSpPr/>
          <p:nvPr/>
        </p:nvSpPr>
        <p:spPr>
          <a:xfrm>
            <a:off x="567000" y="384120"/>
            <a:ext cx="11053440" cy="27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 u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DICCIONARIOS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9"/>
          <p:cNvSpPr/>
          <p:nvPr/>
        </p:nvSpPr>
        <p:spPr>
          <a:xfrm>
            <a:off x="567000" y="658440"/>
            <a:ext cx="11053440" cy="63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none" strike="noStrike">
                <a:solidFill>
                  <a:srgbClr val="17262E"/>
                </a:solidFill>
                <a:latin typeface="Cambria"/>
                <a:ea typeface="Cambria"/>
                <a:cs typeface="Cambria"/>
                <a:sym typeface="Cambria"/>
              </a:rPr>
              <a:t>Diccionarios: pares clave → valor</a:t>
            </a:r>
            <a:endParaRPr b="0" sz="3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9"/>
          <p:cNvSpPr/>
          <p:nvPr/>
        </p:nvSpPr>
        <p:spPr>
          <a:xfrm>
            <a:off x="567000" y="1444680"/>
            <a:ext cx="5027400" cy="72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 u="none" strike="noStrike">
                <a:solidFill>
                  <a:srgbClr val="5A6B75"/>
                </a:solidFill>
                <a:latin typeface="Calibri"/>
                <a:ea typeface="Calibri"/>
                <a:cs typeface="Calibri"/>
                <a:sym typeface="Calibri"/>
              </a:rPr>
              <a:t>La estructura más usada de Python: una fila de datos con nombres.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9"/>
          <p:cNvSpPr/>
          <p:nvPr/>
        </p:nvSpPr>
        <p:spPr>
          <a:xfrm>
            <a:off x="567000" y="2221920"/>
            <a:ext cx="5027400" cy="397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3080" lvl="0" marL="34308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262E"/>
              </a:buClr>
              <a:buSzPts val="1500"/>
              <a:buFont typeface="Noto Sans Symbols"/>
              <a:buChar char="●"/>
            </a:pPr>
            <a:r>
              <a:rPr b="0" lang="en-US" sz="15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Acceso en tiempo constante por clave.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15000"/>
              </a:lnSpc>
              <a:spcBef>
                <a:spcPts val="901"/>
              </a:spcBef>
              <a:spcAft>
                <a:spcPts val="0"/>
              </a:spcAft>
              <a:buClr>
                <a:srgbClr val="17262E"/>
              </a:buClr>
              <a:buSzPts val="1500"/>
              <a:buFont typeface="Noto Sans Symbols"/>
              <a:buChar char="●"/>
            </a:pPr>
            <a:r>
              <a:rPr b="0" lang="en-US" sz="15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d[clave] lanza KeyError; d.get(clave, defecto) no.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15000"/>
              </a:lnSpc>
              <a:spcBef>
                <a:spcPts val="901"/>
              </a:spcBef>
              <a:spcAft>
                <a:spcPts val="0"/>
              </a:spcAft>
              <a:buClr>
                <a:srgbClr val="17262E"/>
              </a:buClr>
              <a:buSzPts val="1500"/>
              <a:buFont typeface="Noto Sans Symbols"/>
              <a:buChar char="●"/>
            </a:pPr>
            <a:r>
              <a:rPr b="0" lang="en-US" sz="15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Claves inmutables: str, int, tupla. Valores, cualquier cosa.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15000"/>
              </a:lnSpc>
              <a:spcBef>
                <a:spcPts val="901"/>
              </a:spcBef>
              <a:spcAft>
                <a:spcPts val="0"/>
              </a:spcAft>
              <a:buClr>
                <a:srgbClr val="17262E"/>
              </a:buClr>
              <a:buSzPts val="1500"/>
              <a:buFont typeface="Noto Sans Symbols"/>
              <a:buChar char="●"/>
            </a:pPr>
            <a:r>
              <a:rPr b="0" lang="en-US" sz="15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Desde 3.7 conservan el orden de inserción.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9"/>
          <p:cNvSpPr/>
          <p:nvPr/>
        </p:nvSpPr>
        <p:spPr>
          <a:xfrm>
            <a:off x="5943600" y="1444680"/>
            <a:ext cx="5667480" cy="2899440"/>
          </a:xfrm>
          <a:prstGeom prst="roundRect">
            <a:avLst>
              <a:gd fmla="val 2521" name="adj"/>
            </a:avLst>
          </a:prstGeom>
          <a:solidFill>
            <a:srgbClr val="10202B"/>
          </a:solidFill>
          <a:ln cap="flat" cmpd="sng" w="12700">
            <a:solidFill>
              <a:srgbClr val="102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9"/>
          <p:cNvSpPr/>
          <p:nvPr/>
        </p:nvSpPr>
        <p:spPr>
          <a:xfrm>
            <a:off x="6144840" y="1618560"/>
            <a:ext cx="94320" cy="94320"/>
          </a:xfrm>
          <a:prstGeom prst="ellipse">
            <a:avLst/>
          </a:prstGeom>
          <a:solidFill>
            <a:srgbClr val="E4B363"/>
          </a:solidFill>
          <a:ln cap="flat" cmpd="sng" w="12700">
            <a:solidFill>
              <a:srgbClr val="E4B3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9"/>
          <p:cNvSpPr/>
          <p:nvPr/>
        </p:nvSpPr>
        <p:spPr>
          <a:xfrm>
            <a:off x="6346080" y="1618560"/>
            <a:ext cx="94320" cy="94320"/>
          </a:xfrm>
          <a:prstGeom prst="ellipse">
            <a:avLst/>
          </a:prstGeom>
          <a:solidFill>
            <a:srgbClr val="17BEBB"/>
          </a:solidFill>
          <a:ln cap="flat" cmpd="sng" w="12700">
            <a:solidFill>
              <a:srgbClr val="17BE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6546960" y="1618560"/>
            <a:ext cx="94320" cy="94320"/>
          </a:xfrm>
          <a:prstGeom prst="ellipse">
            <a:avLst/>
          </a:prstGeom>
          <a:solidFill>
            <a:srgbClr val="3E5563"/>
          </a:solidFill>
          <a:ln cap="flat" cmpd="sng" w="12700">
            <a:solidFill>
              <a:srgbClr val="3E5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6812280" y="1545480"/>
            <a:ext cx="45702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E8390"/>
                </a:solidFill>
                <a:latin typeface="Courier New"/>
                <a:ea typeface="Courier New"/>
                <a:cs typeface="Courier New"/>
                <a:sym typeface="Courier New"/>
              </a:rPr>
              <a:t>diccionarios.py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6126480" y="1856160"/>
            <a:ext cx="5347440" cy="239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flor = {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"largo"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5.1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"clase"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"setosa"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flor[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"largo"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           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5.1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flor[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"ancho"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 =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3.5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añade clave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flor.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"color"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      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None, sin error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flor.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"color"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"n/d"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"n/d"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"clase"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flor         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True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del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flor[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"ancho"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flor.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keys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(); flor.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values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(); flor.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items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/>
          <p:nvPr/>
        </p:nvSpPr>
        <p:spPr>
          <a:xfrm>
            <a:off x="567000" y="384120"/>
            <a:ext cx="11053440" cy="27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 u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DICCIONARIOS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0"/>
          <p:cNvSpPr/>
          <p:nvPr/>
        </p:nvSpPr>
        <p:spPr>
          <a:xfrm>
            <a:off x="567000" y="658440"/>
            <a:ext cx="11053440" cy="63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none" strike="noStrike">
                <a:solidFill>
                  <a:srgbClr val="17262E"/>
                </a:solidFill>
                <a:latin typeface="Cambria"/>
                <a:ea typeface="Cambria"/>
                <a:cs typeface="Cambria"/>
                <a:sym typeface="Cambria"/>
              </a:rPr>
              <a:t>Recorrer y acumular: el patrón de conteo</a:t>
            </a:r>
            <a:endParaRPr b="0" sz="3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0"/>
          <p:cNvSpPr/>
          <p:nvPr/>
        </p:nvSpPr>
        <p:spPr>
          <a:xfrm>
            <a:off x="567000" y="1417320"/>
            <a:ext cx="11053440" cy="4066920"/>
          </a:xfrm>
          <a:prstGeom prst="roundRect">
            <a:avLst>
              <a:gd fmla="val 1798" name="adj"/>
            </a:avLst>
          </a:prstGeom>
          <a:solidFill>
            <a:srgbClr val="10202B"/>
          </a:solidFill>
          <a:ln cap="flat" cmpd="sng" w="12700">
            <a:solidFill>
              <a:srgbClr val="102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0"/>
          <p:cNvSpPr/>
          <p:nvPr/>
        </p:nvSpPr>
        <p:spPr>
          <a:xfrm>
            <a:off x="768240" y="1591200"/>
            <a:ext cx="94320" cy="94320"/>
          </a:xfrm>
          <a:prstGeom prst="ellipse">
            <a:avLst/>
          </a:prstGeom>
          <a:solidFill>
            <a:srgbClr val="E4B363"/>
          </a:solidFill>
          <a:ln cap="flat" cmpd="sng" w="12700">
            <a:solidFill>
              <a:srgbClr val="E4B3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0"/>
          <p:cNvSpPr/>
          <p:nvPr/>
        </p:nvSpPr>
        <p:spPr>
          <a:xfrm>
            <a:off x="969120" y="1591200"/>
            <a:ext cx="94320" cy="94320"/>
          </a:xfrm>
          <a:prstGeom prst="ellipse">
            <a:avLst/>
          </a:prstGeom>
          <a:solidFill>
            <a:srgbClr val="17BEBB"/>
          </a:solidFill>
          <a:ln cap="flat" cmpd="sng" w="12700">
            <a:solidFill>
              <a:srgbClr val="17BE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0"/>
          <p:cNvSpPr/>
          <p:nvPr/>
        </p:nvSpPr>
        <p:spPr>
          <a:xfrm>
            <a:off x="1170360" y="1591200"/>
            <a:ext cx="94320" cy="94320"/>
          </a:xfrm>
          <a:prstGeom prst="ellipse">
            <a:avLst/>
          </a:prstGeom>
          <a:solidFill>
            <a:srgbClr val="3E5563"/>
          </a:solidFill>
          <a:ln cap="flat" cmpd="sng" w="12700">
            <a:solidFill>
              <a:srgbClr val="3E5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0"/>
          <p:cNvSpPr/>
          <p:nvPr/>
        </p:nvSpPr>
        <p:spPr>
          <a:xfrm>
            <a:off x="1435680" y="1517760"/>
            <a:ext cx="995616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E8390"/>
                </a:solidFill>
                <a:latin typeface="Courier New"/>
                <a:ea typeface="Courier New"/>
                <a:cs typeface="Courier New"/>
                <a:sym typeface="Courier New"/>
              </a:rPr>
              <a:t>conteo.py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0"/>
          <p:cNvSpPr/>
          <p:nvPr/>
        </p:nvSpPr>
        <p:spPr>
          <a:xfrm>
            <a:off x="749880" y="1828800"/>
            <a:ext cx="10733400" cy="35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registros = [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{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"clase"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"setosa"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"largo"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5.1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},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{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"clase"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"virginica"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"largo"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6.3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},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{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"clase"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"setosa"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"largo"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4.9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},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conteo = {}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r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registros: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clave = r[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"clase"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conteo[clave] = conteo.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(clave,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+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patrón de conteo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(conteo)           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{'setosa': 2, 'virginica': 1}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clase, n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conteo.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items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():                 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recorrer pares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(f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"{clase:&gt;12}: {n}"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collections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Counter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atajo de la biblioteca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Counter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(r[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"clase"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r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registros))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0"/>
          <p:cNvSpPr/>
          <p:nvPr/>
        </p:nvSpPr>
        <p:spPr>
          <a:xfrm>
            <a:off x="567000" y="5714640"/>
            <a:ext cx="11053440" cy="656640"/>
          </a:xfrm>
          <a:prstGeom prst="roundRect">
            <a:avLst>
              <a:gd fmla="val 8333" name="adj"/>
            </a:avLst>
          </a:prstGeom>
          <a:solidFill>
            <a:srgbClr val="EDF3F3"/>
          </a:solidFill>
          <a:ln cap="flat" cmpd="sng" w="12700">
            <a:solidFill>
              <a:srgbClr val="ED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0"/>
          <p:cNvSpPr/>
          <p:nvPr/>
        </p:nvSpPr>
        <p:spPr>
          <a:xfrm>
            <a:off x="768240" y="5714640"/>
            <a:ext cx="10641960" cy="656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Por qué importa: </a:t>
            </a:r>
            <a:r>
              <a:rPr b="0" lang="en-US" sz="14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este patrón (lista de diccionarios + conteo por clave) es literalmente lo que hace un preprocesado de datos antes de entrenar un modelo.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"/>
          <p:cNvSpPr/>
          <p:nvPr/>
        </p:nvSpPr>
        <p:spPr>
          <a:xfrm>
            <a:off x="567000" y="384120"/>
            <a:ext cx="11053440" cy="27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 u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CONJUNTOS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1"/>
          <p:cNvSpPr/>
          <p:nvPr/>
        </p:nvSpPr>
        <p:spPr>
          <a:xfrm>
            <a:off x="567000" y="658440"/>
            <a:ext cx="11053440" cy="63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none" strike="noStrike">
                <a:solidFill>
                  <a:srgbClr val="17262E"/>
                </a:solidFill>
                <a:latin typeface="Cambria"/>
                <a:ea typeface="Cambria"/>
                <a:cs typeface="Cambria"/>
                <a:sym typeface="Cambria"/>
              </a:rPr>
              <a:t>Conjuntos: sin duplicados y con álgebra</a:t>
            </a:r>
            <a:endParaRPr b="0" sz="3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1"/>
          <p:cNvSpPr/>
          <p:nvPr/>
        </p:nvSpPr>
        <p:spPr>
          <a:xfrm>
            <a:off x="567000" y="1444680"/>
            <a:ext cx="5027400" cy="72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 u="none" strike="noStrike">
                <a:solidFill>
                  <a:srgbClr val="5A6B75"/>
                </a:solidFill>
                <a:latin typeface="Calibri"/>
                <a:ea typeface="Calibri"/>
                <a:cs typeface="Calibri"/>
                <a:sym typeface="Calibri"/>
              </a:rPr>
              <a:t>Pertenencia rápida y operaciones de teoría de conjuntos.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1"/>
          <p:cNvSpPr/>
          <p:nvPr/>
        </p:nvSpPr>
        <p:spPr>
          <a:xfrm>
            <a:off x="567000" y="2221920"/>
            <a:ext cx="5027400" cy="397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3080" lvl="0" marL="34308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262E"/>
              </a:buClr>
              <a:buSzPts val="1500"/>
              <a:buFont typeface="Noto Sans Symbols"/>
              <a:buChar char="●"/>
            </a:pPr>
            <a:r>
              <a:rPr b="0" lang="en-US" sz="15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set(lista) elimina duplicados en una línea.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15000"/>
              </a:lnSpc>
              <a:spcBef>
                <a:spcPts val="901"/>
              </a:spcBef>
              <a:spcAft>
                <a:spcPts val="0"/>
              </a:spcAft>
              <a:buClr>
                <a:srgbClr val="17262E"/>
              </a:buClr>
              <a:buSzPts val="1500"/>
              <a:buFont typeface="Noto Sans Symbols"/>
              <a:buChar char="●"/>
            </a:pPr>
            <a:r>
              <a:rPr b="0" lang="en-US" sz="15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No mantienen orden ni admiten indexación.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15000"/>
              </a:lnSpc>
              <a:spcBef>
                <a:spcPts val="901"/>
              </a:spcBef>
              <a:spcAft>
                <a:spcPts val="0"/>
              </a:spcAft>
              <a:buClr>
                <a:srgbClr val="17262E"/>
              </a:buClr>
              <a:buSzPts val="1500"/>
              <a:buFont typeface="Noto Sans Symbols"/>
              <a:buChar char="●"/>
            </a:pPr>
            <a:r>
              <a:rPr b="0" lang="en-US" sz="15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Unión |, intersección &amp;, diferencia -.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15000"/>
              </a:lnSpc>
              <a:spcBef>
                <a:spcPts val="901"/>
              </a:spcBef>
              <a:spcAft>
                <a:spcPts val="0"/>
              </a:spcAft>
              <a:buClr>
                <a:srgbClr val="17262E"/>
              </a:buClr>
              <a:buSzPts val="1500"/>
              <a:buFont typeface="Noto Sans Symbols"/>
              <a:buChar char="●"/>
            </a:pPr>
            <a:r>
              <a:rPr b="0" lang="en-US" sz="15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Comprobar pertenencia es mucho más rápido que en una lista.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1"/>
          <p:cNvSpPr/>
          <p:nvPr/>
        </p:nvSpPr>
        <p:spPr>
          <a:xfrm>
            <a:off x="5943600" y="1444680"/>
            <a:ext cx="5667480" cy="3094200"/>
          </a:xfrm>
          <a:prstGeom prst="roundRect">
            <a:avLst>
              <a:gd fmla="val 2363" name="adj"/>
            </a:avLst>
          </a:prstGeom>
          <a:solidFill>
            <a:srgbClr val="10202B"/>
          </a:solidFill>
          <a:ln cap="flat" cmpd="sng" w="12700">
            <a:solidFill>
              <a:srgbClr val="102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1"/>
          <p:cNvSpPr/>
          <p:nvPr/>
        </p:nvSpPr>
        <p:spPr>
          <a:xfrm>
            <a:off x="6144840" y="1618560"/>
            <a:ext cx="94320" cy="94320"/>
          </a:xfrm>
          <a:prstGeom prst="ellipse">
            <a:avLst/>
          </a:prstGeom>
          <a:solidFill>
            <a:srgbClr val="E4B363"/>
          </a:solidFill>
          <a:ln cap="flat" cmpd="sng" w="12700">
            <a:solidFill>
              <a:srgbClr val="E4B3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1"/>
          <p:cNvSpPr/>
          <p:nvPr/>
        </p:nvSpPr>
        <p:spPr>
          <a:xfrm>
            <a:off x="6346080" y="1618560"/>
            <a:ext cx="94320" cy="94320"/>
          </a:xfrm>
          <a:prstGeom prst="ellipse">
            <a:avLst/>
          </a:prstGeom>
          <a:solidFill>
            <a:srgbClr val="17BEBB"/>
          </a:solidFill>
          <a:ln cap="flat" cmpd="sng" w="12700">
            <a:solidFill>
              <a:srgbClr val="17BE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6546960" y="1618560"/>
            <a:ext cx="94320" cy="94320"/>
          </a:xfrm>
          <a:prstGeom prst="ellipse">
            <a:avLst/>
          </a:prstGeom>
          <a:solidFill>
            <a:srgbClr val="3E5563"/>
          </a:solidFill>
          <a:ln cap="flat" cmpd="sng" w="12700">
            <a:solidFill>
              <a:srgbClr val="3E5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1"/>
          <p:cNvSpPr/>
          <p:nvPr/>
        </p:nvSpPr>
        <p:spPr>
          <a:xfrm>
            <a:off x="6812280" y="1545480"/>
            <a:ext cx="45702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E8390"/>
                </a:solidFill>
                <a:latin typeface="Courier New"/>
                <a:ea typeface="Courier New"/>
                <a:cs typeface="Courier New"/>
                <a:sym typeface="Courier New"/>
              </a:rPr>
              <a:t>conjuntos.py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1"/>
          <p:cNvSpPr/>
          <p:nvPr/>
        </p:nvSpPr>
        <p:spPr>
          <a:xfrm>
            <a:off x="6126480" y="1856160"/>
            <a:ext cx="5347440" cy="2591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etiquetas = [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"a"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"b"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"a"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"c"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unicas = 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(etiquetas)     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{'a', 'b', 'c'}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vacio = 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()               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¡no {} : eso es un dict!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real = {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"a"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"b"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"c"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pred = {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"a"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"c"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"d"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real &amp; pred                 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{'a', 'c'} aciertos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real - pred                 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{'b'}      no detectadas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real | pred                 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todas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(real &amp; pred) / 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(real)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cobertura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202B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2"/>
          <p:cNvSpPr/>
          <p:nvPr/>
        </p:nvSpPr>
        <p:spPr>
          <a:xfrm>
            <a:off x="567000" y="457200"/>
            <a:ext cx="11053440" cy="27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 u="none" strike="noStrike">
                <a:solidFill>
                  <a:srgbClr val="17BEBB"/>
                </a:solidFill>
                <a:latin typeface="Calibri"/>
                <a:ea typeface="Calibri"/>
                <a:cs typeface="Calibri"/>
                <a:sym typeface="Calibri"/>
              </a:rPr>
              <a:t>PRÁCTICA 2.1 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2"/>
          <p:cNvSpPr/>
          <p:nvPr/>
        </p:nvSpPr>
        <p:spPr>
          <a:xfrm>
            <a:off x="567000" y="749880"/>
            <a:ext cx="11053440" cy="63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Ejercicios de colecciones</a:t>
            </a:r>
            <a:endParaRPr b="0" sz="30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2"/>
          <p:cNvSpPr/>
          <p:nvPr/>
        </p:nvSpPr>
        <p:spPr>
          <a:xfrm>
            <a:off x="567000" y="1600200"/>
            <a:ext cx="5393160" cy="420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3080" lvl="0" marL="34308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E2E8"/>
              </a:buClr>
              <a:buSzPts val="1500"/>
              <a:buFont typeface="Noto Sans Symbols"/>
              <a:buChar char="🞂"/>
            </a:pPr>
            <a:r>
              <a:rPr b="0" lang="en-US" sz="1500" u="none" strike="noStrike">
                <a:solidFill>
                  <a:srgbClr val="D6E2E8"/>
                </a:solidFill>
                <a:latin typeface="Calibri"/>
                <a:ea typeface="Calibri"/>
                <a:cs typeface="Calibri"/>
                <a:sym typeface="Calibri"/>
              </a:rPr>
              <a:t>E2.1 · Estadísticas de una lista de notas: media, máximo, mínimo y cuántas aprobadas, sin usar statistics.</a:t>
            </a:r>
            <a:endParaRPr b="0" sz="1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D6E2E8"/>
              </a:buClr>
              <a:buSzPts val="1500"/>
              <a:buFont typeface="Noto Sans Symbols"/>
              <a:buChar char="🞂"/>
            </a:pPr>
            <a:r>
              <a:rPr b="0" lang="en-US" sz="1500" u="none" strike="noStrike">
                <a:solidFill>
                  <a:srgbClr val="D6E2E8"/>
                </a:solidFill>
                <a:latin typeface="Calibri"/>
                <a:ea typeface="Calibri"/>
                <a:cs typeface="Calibri"/>
                <a:sym typeface="Calibri"/>
              </a:rPr>
              <a:t>E2.2 · Deduplicar conservando el orden de aparición original. Es decir, elimina las copias repetidas de una lista.</a:t>
            </a:r>
            <a:endParaRPr b="0" sz="1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D6E2E8"/>
              </a:buClr>
              <a:buSzPts val="1500"/>
              <a:buFont typeface="Noto Sans Symbols"/>
              <a:buChar char="🞂"/>
            </a:pPr>
            <a:r>
              <a:rPr b="0" lang="en-US" sz="1500" u="none" strike="noStrike">
                <a:solidFill>
                  <a:srgbClr val="D6E2E8"/>
                </a:solidFill>
                <a:latin typeface="Calibri"/>
                <a:ea typeface="Calibri"/>
                <a:cs typeface="Calibri"/>
                <a:sym typeface="Calibri"/>
              </a:rPr>
              <a:t>E2.3 · Agenda: diccionario de contactos con alta, baja, búsqueda y listado ordenado, en un bucle de menú.</a:t>
            </a:r>
            <a:endParaRPr b="0" sz="1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D6E2E8"/>
              </a:buClr>
              <a:buSzPts val="1500"/>
              <a:buFont typeface="Noto Sans Symbols"/>
              <a:buChar char="🞂"/>
            </a:pPr>
            <a:r>
              <a:rPr b="0" lang="en-US" sz="1500" u="none" strike="noStrike">
                <a:solidFill>
                  <a:srgbClr val="D6E2E8"/>
                </a:solidFill>
                <a:latin typeface="Calibri"/>
                <a:ea typeface="Calibri"/>
                <a:cs typeface="Calibri"/>
                <a:sym typeface="Calibri"/>
              </a:rPr>
              <a:t>E2.4 · Frecuencia de palabras de un texto: normaliza, separa y cuenta; muestra el top 5.</a:t>
            </a:r>
            <a:endParaRPr b="0" sz="1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2"/>
          <p:cNvSpPr/>
          <p:nvPr/>
        </p:nvSpPr>
        <p:spPr>
          <a:xfrm>
            <a:off x="567000" y="6035040"/>
            <a:ext cx="5484600" cy="31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2"/>
          <p:cNvSpPr/>
          <p:nvPr/>
        </p:nvSpPr>
        <p:spPr>
          <a:xfrm>
            <a:off x="6300000" y="4178520"/>
            <a:ext cx="5301720" cy="2121480"/>
          </a:xfrm>
          <a:prstGeom prst="roundRect">
            <a:avLst>
              <a:gd fmla="val 3445" name="adj"/>
            </a:avLst>
          </a:prstGeom>
          <a:solidFill>
            <a:srgbClr val="1A2F3D"/>
          </a:solidFill>
          <a:ln cap="flat" cmpd="sng" w="12700">
            <a:solidFill>
              <a:srgbClr val="2B42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1191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SIGNOS = </a:t>
            </a:r>
            <a:r>
              <a:rPr b="0" lang="en-US" sz="1150" u="none" strike="noStrike">
                <a:solidFill>
                  <a:srgbClr val="FFBF00"/>
                </a:solidFill>
                <a:latin typeface="Courier New"/>
                <a:ea typeface="Courier New"/>
                <a:cs typeface="Courier New"/>
                <a:sym typeface="Courier New"/>
              </a:rPr>
              <a:t>".,:;!?¡¿()\"'"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992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729FCF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lang="en-US" sz="1100" u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contar_palabras(texto: str) -&gt; dict[str, int]:    		        </a:t>
            </a:r>
            <a:endParaRPr b="0" sz="1100" u="none" strike="noStrike">
              <a:solidFill>
                <a:srgbClr val="FFFF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992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lang="en-US" sz="1100" u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limpio = texto.</a:t>
            </a:r>
            <a:r>
              <a:rPr b="0" lang="en-US" sz="1100" u="none" strike="noStrike">
                <a:solidFill>
                  <a:srgbClr val="729FCF"/>
                </a:solidFill>
                <a:latin typeface="Courier New"/>
                <a:ea typeface="Courier New"/>
                <a:cs typeface="Courier New"/>
                <a:sym typeface="Courier New"/>
              </a:rPr>
              <a:t>lower</a:t>
            </a:r>
            <a:r>
              <a:rPr b="0" lang="en-US" sz="1100" u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()    </a:t>
            </a:r>
            <a:endParaRPr b="0" sz="11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lang="en-US" sz="1100" u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s 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lang="en-US" sz="1100" u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SIGNOS:        </a:t>
            </a:r>
            <a:endParaRPr b="0" sz="11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limpio = limpio.</a:t>
            </a:r>
            <a:r>
              <a:rPr b="0" lang="en-US" sz="1100" u="none" strike="noStrike">
                <a:solidFill>
                  <a:srgbClr val="729FCF"/>
                </a:solidFill>
                <a:latin typeface="Courier New"/>
                <a:ea typeface="Courier New"/>
                <a:cs typeface="Courier New"/>
                <a:sym typeface="Courier New"/>
              </a:rPr>
              <a:t>replace</a:t>
            </a:r>
            <a:r>
              <a:rPr b="0" lang="en-US" sz="1100" u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(s, 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" "</a:t>
            </a:r>
            <a:r>
              <a:rPr b="0" lang="en-US" sz="1100" u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lang="en-US" sz="1100" u="none" strike="noStrike">
                <a:solidFill>
                  <a:srgbClr val="FFBF00"/>
                </a:solidFill>
                <a:latin typeface="Courier New"/>
                <a:ea typeface="Courier New"/>
                <a:cs typeface="Courier New"/>
                <a:sym typeface="Courier New"/>
              </a:rPr>
              <a:t># quitar puntuación                                          # antes de separar</a:t>
            </a:r>
            <a:endParaRPr b="0" sz="11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conteo: dict[str, int]={}</a:t>
            </a:r>
            <a:endParaRPr b="0" sz="11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... </a:t>
            </a:r>
            <a:endParaRPr b="0" sz="11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2"/>
          <p:cNvSpPr txBox="1"/>
          <p:nvPr/>
        </p:nvSpPr>
        <p:spPr>
          <a:xfrm>
            <a:off x="6480000" y="4320000"/>
            <a:ext cx="71208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E8390"/>
                </a:solidFill>
                <a:latin typeface="Courier New"/>
                <a:ea typeface="Courier New"/>
                <a:cs typeface="Courier New"/>
                <a:sym typeface="Courier New"/>
              </a:rPr>
              <a:t>e2_4.py</a:t>
            </a:r>
            <a:endParaRPr b="0" sz="10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202B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3"/>
          <p:cNvSpPr/>
          <p:nvPr/>
        </p:nvSpPr>
        <p:spPr>
          <a:xfrm>
            <a:off x="567000" y="1920240"/>
            <a:ext cx="173556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400" u="none" strike="noStrike">
                <a:solidFill>
                  <a:srgbClr val="0E7C7B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sz="8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3"/>
          <p:cNvSpPr/>
          <p:nvPr/>
        </p:nvSpPr>
        <p:spPr>
          <a:xfrm>
            <a:off x="2286000" y="2148840"/>
            <a:ext cx="8959320" cy="821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 u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Iteración pythónica</a:t>
            </a:r>
            <a:endParaRPr b="0" sz="3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3"/>
          <p:cNvSpPr/>
          <p:nvPr/>
        </p:nvSpPr>
        <p:spPr>
          <a:xfrm>
            <a:off x="2331720" y="3017520"/>
            <a:ext cx="8776440" cy="821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50" u="none" strike="noStrike">
                <a:solidFill>
                  <a:srgbClr val="A9BAC4"/>
                </a:solidFill>
                <a:latin typeface="Calibri"/>
                <a:ea typeface="Calibri"/>
                <a:cs typeface="Calibri"/>
                <a:sym typeface="Calibri"/>
              </a:rPr>
              <a:t>Mismo resultado, la mitad de líneas y menos sitios donde equivocarse.</a:t>
            </a:r>
            <a:endParaRPr b="0" sz="15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3"/>
          <p:cNvSpPr/>
          <p:nvPr/>
        </p:nvSpPr>
        <p:spPr>
          <a:xfrm>
            <a:off x="2331720" y="3886200"/>
            <a:ext cx="5484600" cy="36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4"/>
          <p:cNvSpPr/>
          <p:nvPr/>
        </p:nvSpPr>
        <p:spPr>
          <a:xfrm>
            <a:off x="567000" y="384120"/>
            <a:ext cx="11053440" cy="27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 u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COMPRENSIONES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4"/>
          <p:cNvSpPr/>
          <p:nvPr/>
        </p:nvSpPr>
        <p:spPr>
          <a:xfrm>
            <a:off x="567000" y="658440"/>
            <a:ext cx="11053440" cy="63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none" strike="noStrike">
                <a:solidFill>
                  <a:srgbClr val="17262E"/>
                </a:solidFill>
                <a:latin typeface="Cambria"/>
                <a:ea typeface="Cambria"/>
                <a:cs typeface="Cambria"/>
                <a:sym typeface="Cambria"/>
              </a:rPr>
              <a:t>Comprensión de listas: el idioma de Python</a:t>
            </a:r>
            <a:endParaRPr b="0" sz="3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4"/>
          <p:cNvSpPr/>
          <p:nvPr/>
        </p:nvSpPr>
        <p:spPr>
          <a:xfrm>
            <a:off x="585360" y="1417320"/>
            <a:ext cx="5342760" cy="29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5A6B75"/>
                </a:solidFill>
                <a:latin typeface="Calibri"/>
                <a:ea typeface="Calibri"/>
                <a:cs typeface="Calibri"/>
                <a:sym typeface="Calibri"/>
              </a:rPr>
              <a:t>Como en cualquier lenguaje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4"/>
          <p:cNvSpPr/>
          <p:nvPr/>
        </p:nvSpPr>
        <p:spPr>
          <a:xfrm>
            <a:off x="567000" y="1783080"/>
            <a:ext cx="5342760" cy="2899440"/>
          </a:xfrm>
          <a:prstGeom prst="roundRect">
            <a:avLst>
              <a:gd fmla="val 2521" name="adj"/>
            </a:avLst>
          </a:prstGeom>
          <a:solidFill>
            <a:srgbClr val="10202B"/>
          </a:solidFill>
          <a:ln cap="flat" cmpd="sng" w="12700">
            <a:solidFill>
              <a:srgbClr val="102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4"/>
          <p:cNvSpPr/>
          <p:nvPr/>
        </p:nvSpPr>
        <p:spPr>
          <a:xfrm>
            <a:off x="768240" y="1956960"/>
            <a:ext cx="94320" cy="94320"/>
          </a:xfrm>
          <a:prstGeom prst="ellipse">
            <a:avLst/>
          </a:prstGeom>
          <a:solidFill>
            <a:srgbClr val="E4B363"/>
          </a:solidFill>
          <a:ln cap="flat" cmpd="sng" w="12700">
            <a:solidFill>
              <a:srgbClr val="E4B3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4"/>
          <p:cNvSpPr/>
          <p:nvPr/>
        </p:nvSpPr>
        <p:spPr>
          <a:xfrm>
            <a:off x="969120" y="1956960"/>
            <a:ext cx="94320" cy="94320"/>
          </a:xfrm>
          <a:prstGeom prst="ellipse">
            <a:avLst/>
          </a:prstGeom>
          <a:solidFill>
            <a:srgbClr val="17BEBB"/>
          </a:solidFill>
          <a:ln cap="flat" cmpd="sng" w="12700">
            <a:solidFill>
              <a:srgbClr val="17BE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4"/>
          <p:cNvSpPr/>
          <p:nvPr/>
        </p:nvSpPr>
        <p:spPr>
          <a:xfrm>
            <a:off x="1170360" y="1956960"/>
            <a:ext cx="94320" cy="94320"/>
          </a:xfrm>
          <a:prstGeom prst="ellipse">
            <a:avLst/>
          </a:prstGeom>
          <a:solidFill>
            <a:srgbClr val="3E5563"/>
          </a:solidFill>
          <a:ln cap="flat" cmpd="sng" w="12700">
            <a:solidFill>
              <a:srgbClr val="3E5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4"/>
          <p:cNvSpPr/>
          <p:nvPr/>
        </p:nvSpPr>
        <p:spPr>
          <a:xfrm>
            <a:off x="1435680" y="1883520"/>
            <a:ext cx="424548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E8390"/>
                </a:solidFill>
                <a:latin typeface="Courier New"/>
                <a:ea typeface="Courier New"/>
                <a:cs typeface="Courier New"/>
                <a:sym typeface="Courier New"/>
              </a:rPr>
              <a:t>bucle.py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4"/>
          <p:cNvSpPr/>
          <p:nvPr/>
        </p:nvSpPr>
        <p:spPr>
          <a:xfrm>
            <a:off x="749880" y="2194560"/>
            <a:ext cx="5022720" cy="239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cuadrados = []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n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range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cuadrados.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append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(n **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pares = []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n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numeros: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n %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==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pares.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append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(n)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nombres = []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r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registros: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nombres.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append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(r[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"clase"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4"/>
          <p:cNvSpPr/>
          <p:nvPr/>
        </p:nvSpPr>
        <p:spPr>
          <a:xfrm>
            <a:off x="6295680" y="1417320"/>
            <a:ext cx="5342760" cy="29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Como en Python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4"/>
          <p:cNvSpPr/>
          <p:nvPr/>
        </p:nvSpPr>
        <p:spPr>
          <a:xfrm>
            <a:off x="6277320" y="1783080"/>
            <a:ext cx="5342760" cy="2899440"/>
          </a:xfrm>
          <a:prstGeom prst="roundRect">
            <a:avLst>
              <a:gd fmla="val 2521" name="adj"/>
            </a:avLst>
          </a:prstGeom>
          <a:solidFill>
            <a:srgbClr val="10202B"/>
          </a:solidFill>
          <a:ln cap="flat" cmpd="sng" w="12700">
            <a:solidFill>
              <a:srgbClr val="102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4"/>
          <p:cNvSpPr/>
          <p:nvPr/>
        </p:nvSpPr>
        <p:spPr>
          <a:xfrm>
            <a:off x="6478560" y="1956960"/>
            <a:ext cx="94320" cy="94320"/>
          </a:xfrm>
          <a:prstGeom prst="ellipse">
            <a:avLst/>
          </a:prstGeom>
          <a:solidFill>
            <a:srgbClr val="E4B363"/>
          </a:solidFill>
          <a:ln cap="flat" cmpd="sng" w="12700">
            <a:solidFill>
              <a:srgbClr val="E4B3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4"/>
          <p:cNvSpPr/>
          <p:nvPr/>
        </p:nvSpPr>
        <p:spPr>
          <a:xfrm>
            <a:off x="6679800" y="1956960"/>
            <a:ext cx="94320" cy="94320"/>
          </a:xfrm>
          <a:prstGeom prst="ellipse">
            <a:avLst/>
          </a:prstGeom>
          <a:solidFill>
            <a:srgbClr val="17BEBB"/>
          </a:solidFill>
          <a:ln cap="flat" cmpd="sng" w="12700">
            <a:solidFill>
              <a:srgbClr val="17BE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4"/>
          <p:cNvSpPr/>
          <p:nvPr/>
        </p:nvSpPr>
        <p:spPr>
          <a:xfrm>
            <a:off x="6881040" y="1956960"/>
            <a:ext cx="94320" cy="94320"/>
          </a:xfrm>
          <a:prstGeom prst="ellipse">
            <a:avLst/>
          </a:prstGeom>
          <a:solidFill>
            <a:srgbClr val="3E5563"/>
          </a:solidFill>
          <a:ln cap="flat" cmpd="sng" w="12700">
            <a:solidFill>
              <a:srgbClr val="3E5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4"/>
          <p:cNvSpPr/>
          <p:nvPr/>
        </p:nvSpPr>
        <p:spPr>
          <a:xfrm>
            <a:off x="7146000" y="1883520"/>
            <a:ext cx="424548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E8390"/>
                </a:solidFill>
                <a:latin typeface="Courier New"/>
                <a:ea typeface="Courier New"/>
                <a:cs typeface="Courier New"/>
                <a:sym typeface="Courier New"/>
              </a:rPr>
              <a:t>comprension.py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4"/>
          <p:cNvSpPr/>
          <p:nvPr/>
        </p:nvSpPr>
        <p:spPr>
          <a:xfrm>
            <a:off x="6460200" y="2194560"/>
            <a:ext cx="5022720" cy="239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cuadrados = [n **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n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range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)]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pares = [n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n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numeros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n %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==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nombres = [r[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"clase"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r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registros]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con transformación y filtro a la vez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escaladas = [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x / maximo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x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medidas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x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is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not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4"/>
          <p:cNvSpPr/>
          <p:nvPr/>
        </p:nvSpPr>
        <p:spPr>
          <a:xfrm>
            <a:off x="567000" y="5715000"/>
            <a:ext cx="11053440" cy="656640"/>
          </a:xfrm>
          <a:prstGeom prst="roundRect">
            <a:avLst>
              <a:gd fmla="val 8333" name="adj"/>
            </a:avLst>
          </a:prstGeom>
          <a:solidFill>
            <a:srgbClr val="EDF3F3"/>
          </a:solidFill>
          <a:ln cap="flat" cmpd="sng" w="12700">
            <a:solidFill>
              <a:srgbClr val="ED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4"/>
          <p:cNvSpPr/>
          <p:nvPr/>
        </p:nvSpPr>
        <p:spPr>
          <a:xfrm>
            <a:off x="768240" y="5715000"/>
            <a:ext cx="10641960" cy="656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Idea clave: </a:t>
            </a:r>
            <a:r>
              <a:rPr b="0" lang="en-US" sz="14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[expresión for elemento in iterable if condición]. Si no cabe en dos líneas legibles, usa un bucle normal: la legibilidad manda sobre la brevedad.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5"/>
          <p:cNvSpPr/>
          <p:nvPr/>
        </p:nvSpPr>
        <p:spPr>
          <a:xfrm>
            <a:off x="567000" y="384120"/>
            <a:ext cx="11053440" cy="27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 u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COMPRENSIONES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5"/>
          <p:cNvSpPr/>
          <p:nvPr/>
        </p:nvSpPr>
        <p:spPr>
          <a:xfrm>
            <a:off x="567000" y="658440"/>
            <a:ext cx="11053440" cy="63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none" strike="noStrike">
                <a:solidFill>
                  <a:srgbClr val="17262E"/>
                </a:solidFill>
                <a:latin typeface="Cambria"/>
                <a:ea typeface="Cambria"/>
                <a:cs typeface="Cambria"/>
                <a:sym typeface="Cambria"/>
              </a:rPr>
              <a:t>También de diccionario, de conjunto y anidadas</a:t>
            </a:r>
            <a:endParaRPr b="0" sz="3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5"/>
          <p:cNvSpPr/>
          <p:nvPr/>
        </p:nvSpPr>
        <p:spPr>
          <a:xfrm>
            <a:off x="567000" y="1417320"/>
            <a:ext cx="11053440" cy="3610080"/>
          </a:xfrm>
          <a:prstGeom prst="roundRect">
            <a:avLst>
              <a:gd fmla="val 2025" name="adj"/>
            </a:avLst>
          </a:prstGeom>
          <a:solidFill>
            <a:srgbClr val="10202B"/>
          </a:solidFill>
          <a:ln cap="flat" cmpd="sng" w="12700">
            <a:solidFill>
              <a:srgbClr val="102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5"/>
          <p:cNvSpPr/>
          <p:nvPr/>
        </p:nvSpPr>
        <p:spPr>
          <a:xfrm>
            <a:off x="768240" y="1591200"/>
            <a:ext cx="94320" cy="94320"/>
          </a:xfrm>
          <a:prstGeom prst="ellipse">
            <a:avLst/>
          </a:prstGeom>
          <a:solidFill>
            <a:srgbClr val="E4B363"/>
          </a:solidFill>
          <a:ln cap="flat" cmpd="sng" w="12700">
            <a:solidFill>
              <a:srgbClr val="E4B3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5"/>
          <p:cNvSpPr/>
          <p:nvPr/>
        </p:nvSpPr>
        <p:spPr>
          <a:xfrm>
            <a:off x="969120" y="1591200"/>
            <a:ext cx="94320" cy="94320"/>
          </a:xfrm>
          <a:prstGeom prst="ellipse">
            <a:avLst/>
          </a:prstGeom>
          <a:solidFill>
            <a:srgbClr val="17BEBB"/>
          </a:solidFill>
          <a:ln cap="flat" cmpd="sng" w="12700">
            <a:solidFill>
              <a:srgbClr val="17BE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5"/>
          <p:cNvSpPr/>
          <p:nvPr/>
        </p:nvSpPr>
        <p:spPr>
          <a:xfrm>
            <a:off x="1170360" y="1591200"/>
            <a:ext cx="94320" cy="94320"/>
          </a:xfrm>
          <a:prstGeom prst="ellipse">
            <a:avLst/>
          </a:prstGeom>
          <a:solidFill>
            <a:srgbClr val="3E5563"/>
          </a:solidFill>
          <a:ln cap="flat" cmpd="sng" w="12700">
            <a:solidFill>
              <a:srgbClr val="3E5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5"/>
          <p:cNvSpPr/>
          <p:nvPr/>
        </p:nvSpPr>
        <p:spPr>
          <a:xfrm>
            <a:off x="1435680" y="1517760"/>
            <a:ext cx="995616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E8390"/>
                </a:solidFill>
                <a:latin typeface="Courier New"/>
                <a:ea typeface="Courier New"/>
                <a:cs typeface="Courier New"/>
                <a:sym typeface="Courier New"/>
              </a:rPr>
              <a:t>comprensiones.py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5"/>
          <p:cNvSpPr/>
          <p:nvPr/>
        </p:nvSpPr>
        <p:spPr>
          <a:xfrm>
            <a:off x="749880" y="1828800"/>
            <a:ext cx="10733400" cy="310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Diccionario: nombre -&gt; longitud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longitudes = {nombre: </a:t>
            </a:r>
            <a:r>
              <a:rPr b="0" lang="en-US" sz="120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(nombre) </a:t>
            </a:r>
            <a:r>
              <a:rPr b="0" lang="en-US" sz="12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nombre </a:t>
            </a:r>
            <a:r>
              <a:rPr b="0" lang="en-US" sz="12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nombres}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Conjunto: clases distintas presentes en el dataset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clases = {r[</a:t>
            </a:r>
            <a:r>
              <a:rPr b="0" lang="en-US" sz="120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"clase"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b="0" lang="en-US" sz="12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r </a:t>
            </a:r>
            <a:r>
              <a:rPr b="0" lang="en-US" sz="12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registros}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Filtrar un diccionario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aprobados = {a: n </a:t>
            </a:r>
            <a:r>
              <a:rPr b="0" lang="en-US" sz="12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a, n </a:t>
            </a:r>
            <a:r>
              <a:rPr b="0" lang="en-US" sz="12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notas.</a:t>
            </a:r>
            <a:r>
              <a:rPr b="0" lang="en-US" sz="120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items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b="0" lang="en-US" sz="12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n &gt;= </a:t>
            </a:r>
            <a:r>
              <a:rPr b="0" lang="en-US" sz="12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Anidada: aplanar una matriz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matriz = [[</a:t>
            </a:r>
            <a:r>
              <a:rPr b="0" lang="en-US" sz="12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2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], [</a:t>
            </a:r>
            <a:r>
              <a:rPr b="0" lang="en-US" sz="12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2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], [</a:t>
            </a:r>
            <a:r>
              <a:rPr b="0" lang="en-US" sz="12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2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]]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plano = [x </a:t>
            </a:r>
            <a:r>
              <a:rPr b="0" lang="en-US" sz="12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fila </a:t>
            </a:r>
            <a:r>
              <a:rPr b="0" lang="en-US" sz="12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matriz </a:t>
            </a:r>
            <a:r>
              <a:rPr b="0" lang="en-US" sz="12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x </a:t>
            </a:r>
            <a:r>
              <a:rPr b="0" lang="en-US" sz="12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fila]      </a:t>
            </a:r>
            <a:r>
              <a:rPr b="0" lang="en-US" sz="120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[1, 2, 3, 4, 5, 6]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Expresión generadora: no construye la lista, ahorra memoria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total = </a:t>
            </a:r>
            <a:r>
              <a:rPr b="0" lang="en-US" sz="120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(x ** </a:t>
            </a:r>
            <a:r>
              <a:rPr b="0" lang="en-US" sz="12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lang="en-US" sz="12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x </a:t>
            </a:r>
            <a:r>
              <a:rPr b="0" lang="en-US" sz="12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lang="en-US" sz="120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range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lang="en-US" sz="12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1_000_000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5"/>
          <p:cNvSpPr/>
          <p:nvPr/>
        </p:nvSpPr>
        <p:spPr>
          <a:xfrm>
            <a:off x="567000" y="5257800"/>
            <a:ext cx="11053440" cy="656640"/>
          </a:xfrm>
          <a:prstGeom prst="roundRect">
            <a:avLst>
              <a:gd fmla="val 8333" name="adj"/>
            </a:avLst>
          </a:prstGeom>
          <a:solidFill>
            <a:srgbClr val="EDF3F3"/>
          </a:solidFill>
          <a:ln cap="flat" cmpd="sng" w="12700">
            <a:solidFill>
              <a:srgbClr val="ED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5"/>
          <p:cNvSpPr/>
          <p:nvPr/>
        </p:nvSpPr>
        <p:spPr>
          <a:xfrm>
            <a:off x="768240" y="5257800"/>
            <a:ext cx="10641960" cy="656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Generadores: </a:t>
            </a:r>
            <a:r>
              <a:rPr b="0" lang="en-US" sz="14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los paréntesis en vez de corchetes crean un generador: produce los valores de uno en uno. Imprescindible con ficheros o datasets grandes.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6"/>
          <p:cNvSpPr/>
          <p:nvPr/>
        </p:nvSpPr>
        <p:spPr>
          <a:xfrm>
            <a:off x="567000" y="384120"/>
            <a:ext cx="11053440" cy="27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 u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ZIP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6"/>
          <p:cNvSpPr/>
          <p:nvPr/>
        </p:nvSpPr>
        <p:spPr>
          <a:xfrm>
            <a:off x="567000" y="658440"/>
            <a:ext cx="11053440" cy="63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none" strike="noStrike">
                <a:solidFill>
                  <a:srgbClr val="17262E"/>
                </a:solidFill>
                <a:latin typeface="Cambria"/>
                <a:ea typeface="Cambria"/>
                <a:cs typeface="Cambria"/>
                <a:sym typeface="Cambria"/>
              </a:rPr>
              <a:t>zip: recorrer varias listas a la vez</a:t>
            </a:r>
            <a:endParaRPr b="0" sz="3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6"/>
          <p:cNvSpPr/>
          <p:nvPr/>
        </p:nvSpPr>
        <p:spPr>
          <a:xfrm>
            <a:off x="567000" y="1444680"/>
            <a:ext cx="5027400" cy="72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 u="none" strike="noStrike">
                <a:solidFill>
                  <a:srgbClr val="5A6B75"/>
                </a:solidFill>
                <a:latin typeface="Calibri"/>
                <a:ea typeface="Calibri"/>
                <a:cs typeface="Calibri"/>
                <a:sym typeface="Calibri"/>
              </a:rPr>
              <a:t>Empareja los elementos por posición y devuelve tuplas.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6"/>
          <p:cNvSpPr/>
          <p:nvPr/>
        </p:nvSpPr>
        <p:spPr>
          <a:xfrm>
            <a:off x="567000" y="2221920"/>
            <a:ext cx="5027400" cy="397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3080" lvl="0" marL="34308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262E"/>
              </a:buClr>
              <a:buSzPts val="1500"/>
              <a:buFont typeface="Noto Sans Symbols"/>
              <a:buChar char="●"/>
            </a:pPr>
            <a:r>
              <a:rPr b="0" lang="en-US" sz="15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Sustituye al for i in range(len(a)) con a[i] y b[i].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15000"/>
              </a:lnSpc>
              <a:spcBef>
                <a:spcPts val="901"/>
              </a:spcBef>
              <a:spcAft>
                <a:spcPts val="0"/>
              </a:spcAft>
              <a:buClr>
                <a:srgbClr val="17262E"/>
              </a:buClr>
              <a:buSzPts val="1500"/>
              <a:buFont typeface="Noto Sans Symbols"/>
              <a:buChar char="●"/>
            </a:pPr>
            <a:r>
              <a:rPr b="0" lang="en-US" sz="15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Se detiene en la secuencia más corta, sin avisar.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15000"/>
              </a:lnSpc>
              <a:spcBef>
                <a:spcPts val="901"/>
              </a:spcBef>
              <a:spcAft>
                <a:spcPts val="0"/>
              </a:spcAft>
              <a:buClr>
                <a:srgbClr val="17262E"/>
              </a:buClr>
              <a:buSzPts val="1500"/>
              <a:buFont typeface="Noto Sans Symbols"/>
              <a:buChar char="●"/>
            </a:pPr>
            <a:r>
              <a:rPr b="0" lang="en-US" sz="15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strict=True (3.10+) lanza error si las longitudes difieren.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15000"/>
              </a:lnSpc>
              <a:spcBef>
                <a:spcPts val="901"/>
              </a:spcBef>
              <a:spcAft>
                <a:spcPts val="0"/>
              </a:spcAft>
              <a:buClr>
                <a:srgbClr val="17262E"/>
              </a:buClr>
              <a:buSzPts val="1500"/>
              <a:buFont typeface="Noto Sans Symbols"/>
              <a:buChar char="●"/>
            </a:pPr>
            <a:r>
              <a:rPr b="0" lang="en-US" sz="15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Admite tres o más secuencias a la vez.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6"/>
          <p:cNvSpPr/>
          <p:nvPr/>
        </p:nvSpPr>
        <p:spPr>
          <a:xfrm>
            <a:off x="5943600" y="1444680"/>
            <a:ext cx="5667480" cy="3170160"/>
          </a:xfrm>
          <a:prstGeom prst="roundRect">
            <a:avLst>
              <a:gd fmla="val 2306" name="adj"/>
            </a:avLst>
          </a:prstGeom>
          <a:solidFill>
            <a:srgbClr val="10202B"/>
          </a:solidFill>
          <a:ln cap="flat" cmpd="sng" w="12700">
            <a:solidFill>
              <a:srgbClr val="102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6"/>
          <p:cNvSpPr/>
          <p:nvPr/>
        </p:nvSpPr>
        <p:spPr>
          <a:xfrm>
            <a:off x="6144840" y="1618560"/>
            <a:ext cx="94320" cy="94320"/>
          </a:xfrm>
          <a:prstGeom prst="ellipse">
            <a:avLst/>
          </a:prstGeom>
          <a:solidFill>
            <a:srgbClr val="E4B363"/>
          </a:solidFill>
          <a:ln cap="flat" cmpd="sng" w="12700">
            <a:solidFill>
              <a:srgbClr val="E4B3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6"/>
          <p:cNvSpPr/>
          <p:nvPr/>
        </p:nvSpPr>
        <p:spPr>
          <a:xfrm>
            <a:off x="6346080" y="1618560"/>
            <a:ext cx="94320" cy="94320"/>
          </a:xfrm>
          <a:prstGeom prst="ellipse">
            <a:avLst/>
          </a:prstGeom>
          <a:solidFill>
            <a:srgbClr val="17BEBB"/>
          </a:solidFill>
          <a:ln cap="flat" cmpd="sng" w="12700">
            <a:solidFill>
              <a:srgbClr val="17BE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6"/>
          <p:cNvSpPr/>
          <p:nvPr/>
        </p:nvSpPr>
        <p:spPr>
          <a:xfrm>
            <a:off x="6546960" y="1618560"/>
            <a:ext cx="94320" cy="94320"/>
          </a:xfrm>
          <a:prstGeom prst="ellipse">
            <a:avLst/>
          </a:prstGeom>
          <a:solidFill>
            <a:srgbClr val="3E5563"/>
          </a:solidFill>
          <a:ln cap="flat" cmpd="sng" w="12700">
            <a:solidFill>
              <a:srgbClr val="3E5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6"/>
          <p:cNvSpPr/>
          <p:nvPr/>
        </p:nvSpPr>
        <p:spPr>
          <a:xfrm>
            <a:off x="6812280" y="1545480"/>
            <a:ext cx="45702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E8390"/>
                </a:solidFill>
                <a:latin typeface="Courier New"/>
                <a:ea typeface="Courier New"/>
                <a:cs typeface="Courier New"/>
                <a:sym typeface="Courier New"/>
              </a:rPr>
              <a:t>zip.py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6"/>
          <p:cNvSpPr/>
          <p:nvPr/>
        </p:nvSpPr>
        <p:spPr>
          <a:xfrm>
            <a:off x="6126480" y="1856160"/>
            <a:ext cx="5347440" cy="266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nombres = [</a:t>
            </a:r>
            <a:r>
              <a:rPr b="0" lang="en-US" sz="110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"ana"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0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"leo"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0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"eva"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notas   = [</a:t>
            </a:r>
            <a:r>
              <a:rPr b="0" lang="en-US" sz="11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7.5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9.0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6.2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nombre, nota 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lang="en-US" sz="110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zip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(nombres, notas):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lang="en-US" sz="110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(f</a:t>
            </a:r>
            <a:r>
              <a:rPr b="0" lang="en-US" sz="110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"{nombre}: {nota}"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Lo que evita: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i 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lang="en-US" sz="110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range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lang="en-US" sz="110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(nombres)):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lang="en-US" sz="110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(nombres[i], notas[i])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lang="en-US" sz="110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zip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([</a:t>
            </a:r>
            <a:r>
              <a:rPr b="0" lang="en-US" sz="11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], </a:t>
            </a:r>
            <a:r>
              <a:rPr b="0" lang="en-US" sz="110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"ab"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[(1, 'a'), (2, 'b')]   ¡el 3 se pierde!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zip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(nombres, notas, strict=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7"/>
          <p:cNvSpPr/>
          <p:nvPr/>
        </p:nvSpPr>
        <p:spPr>
          <a:xfrm>
            <a:off x="567000" y="384120"/>
            <a:ext cx="11053440" cy="27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 u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ZIP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7"/>
          <p:cNvSpPr/>
          <p:nvPr/>
        </p:nvSpPr>
        <p:spPr>
          <a:xfrm>
            <a:off x="567000" y="658440"/>
            <a:ext cx="11053440" cy="63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none" strike="noStrike">
                <a:solidFill>
                  <a:srgbClr val="17262E"/>
                </a:solidFill>
                <a:latin typeface="Cambria"/>
                <a:ea typeface="Cambria"/>
                <a:cs typeface="Cambria"/>
                <a:sym typeface="Cambria"/>
              </a:rPr>
              <a:t>zip en la práctica</a:t>
            </a:r>
            <a:endParaRPr b="0" sz="3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7"/>
          <p:cNvSpPr/>
          <p:nvPr/>
        </p:nvSpPr>
        <p:spPr>
          <a:xfrm>
            <a:off x="567000" y="1417320"/>
            <a:ext cx="11053440" cy="4066920"/>
          </a:xfrm>
          <a:prstGeom prst="roundRect">
            <a:avLst>
              <a:gd fmla="val 1798" name="adj"/>
            </a:avLst>
          </a:prstGeom>
          <a:solidFill>
            <a:srgbClr val="10202B"/>
          </a:solidFill>
          <a:ln cap="flat" cmpd="sng" w="12700">
            <a:solidFill>
              <a:srgbClr val="102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7"/>
          <p:cNvSpPr/>
          <p:nvPr/>
        </p:nvSpPr>
        <p:spPr>
          <a:xfrm>
            <a:off x="768240" y="1591200"/>
            <a:ext cx="94320" cy="94320"/>
          </a:xfrm>
          <a:prstGeom prst="ellipse">
            <a:avLst/>
          </a:prstGeom>
          <a:solidFill>
            <a:srgbClr val="E4B363"/>
          </a:solidFill>
          <a:ln cap="flat" cmpd="sng" w="12700">
            <a:solidFill>
              <a:srgbClr val="E4B3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7"/>
          <p:cNvSpPr/>
          <p:nvPr/>
        </p:nvSpPr>
        <p:spPr>
          <a:xfrm>
            <a:off x="969120" y="1591200"/>
            <a:ext cx="94320" cy="94320"/>
          </a:xfrm>
          <a:prstGeom prst="ellipse">
            <a:avLst/>
          </a:prstGeom>
          <a:solidFill>
            <a:srgbClr val="17BEBB"/>
          </a:solidFill>
          <a:ln cap="flat" cmpd="sng" w="12700">
            <a:solidFill>
              <a:srgbClr val="17BE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7"/>
          <p:cNvSpPr/>
          <p:nvPr/>
        </p:nvSpPr>
        <p:spPr>
          <a:xfrm>
            <a:off x="1170360" y="1591200"/>
            <a:ext cx="94320" cy="94320"/>
          </a:xfrm>
          <a:prstGeom prst="ellipse">
            <a:avLst/>
          </a:prstGeom>
          <a:solidFill>
            <a:srgbClr val="3E5563"/>
          </a:solidFill>
          <a:ln cap="flat" cmpd="sng" w="12700">
            <a:solidFill>
              <a:srgbClr val="3E5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7"/>
          <p:cNvSpPr/>
          <p:nvPr/>
        </p:nvSpPr>
        <p:spPr>
          <a:xfrm>
            <a:off x="1435680" y="1517760"/>
            <a:ext cx="995616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E8390"/>
                </a:solidFill>
                <a:latin typeface="Courier New"/>
                <a:ea typeface="Courier New"/>
                <a:cs typeface="Courier New"/>
                <a:sym typeface="Courier New"/>
              </a:rPr>
              <a:t>zip_practica.py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7"/>
          <p:cNvSpPr/>
          <p:nvPr/>
        </p:nvSpPr>
        <p:spPr>
          <a:xfrm>
            <a:off x="749880" y="1828800"/>
            <a:ext cx="10733400" cy="35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y_real = [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"setosa"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"virginica"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"setosa"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"versicolor"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y_pred = [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"setosa"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"versicolor"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"setosa"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"versicolor"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aciertos = 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(r == p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r, p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zip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(y_real, y_pred))   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3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(f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"Acierto: {aciertos / len(y_real):.0%}"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          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75%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columnas = [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"largo"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"ancho"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"clase"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fila = [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5.1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3.5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"setosa"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dict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zip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(columnas, fila))     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{'largo': 5.1, 'ancho': 3.5, 'clase': 'setosa'}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pares = [(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"ana"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), (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"leo"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)]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nombres, notas = 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zip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(*pares)  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"descomprimir": ('ana', 'leo') y (7, 9)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temps = [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18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21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19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24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[b - a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a, b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zip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(temps, temps[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:])]   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[3, -2, 5]  diferencias consecutivas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i, (x, y)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enumerate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zip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(xs, ys)):    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índice y dos listas a la vez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...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7"/>
          <p:cNvSpPr/>
          <p:nvPr/>
        </p:nvSpPr>
        <p:spPr>
          <a:xfrm>
            <a:off x="567000" y="5714640"/>
            <a:ext cx="11053440" cy="656640"/>
          </a:xfrm>
          <a:prstGeom prst="roundRect">
            <a:avLst>
              <a:gd fmla="val 8333" name="adj"/>
            </a:avLst>
          </a:prstGeom>
          <a:solidFill>
            <a:srgbClr val="EDF3F3"/>
          </a:solidFill>
          <a:ln cap="flat" cmpd="sng" w="12700">
            <a:solidFill>
              <a:srgbClr val="ED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7"/>
          <p:cNvSpPr/>
          <p:nvPr/>
        </p:nvSpPr>
        <p:spPr>
          <a:xfrm>
            <a:off x="768240" y="5714640"/>
            <a:ext cx="10641960" cy="656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La primera suma es exactamente el cálculo del acierto de un clasificador, y dict(zip(...)) es cómo una fila de CSV se convierte en diccionario.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8"/>
          <p:cNvSpPr/>
          <p:nvPr/>
        </p:nvSpPr>
        <p:spPr>
          <a:xfrm>
            <a:off x="567000" y="384120"/>
            <a:ext cx="11053440" cy="27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 u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HERRAMIENTAS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8"/>
          <p:cNvSpPr/>
          <p:nvPr/>
        </p:nvSpPr>
        <p:spPr>
          <a:xfrm>
            <a:off x="567000" y="658440"/>
            <a:ext cx="11053440" cy="63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none" strike="noStrike">
                <a:solidFill>
                  <a:srgbClr val="17262E"/>
                </a:solidFill>
                <a:latin typeface="Cambria"/>
                <a:ea typeface="Cambria"/>
                <a:cs typeface="Cambria"/>
                <a:sym typeface="Cambria"/>
              </a:rPr>
              <a:t>Funciones integradas que ahorran bucles</a:t>
            </a:r>
            <a:endParaRPr b="0" sz="3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8"/>
          <p:cNvSpPr/>
          <p:nvPr/>
        </p:nvSpPr>
        <p:spPr>
          <a:xfrm>
            <a:off x="567000" y="1417320"/>
            <a:ext cx="11053440" cy="3407040"/>
          </a:xfrm>
          <a:prstGeom prst="roundRect">
            <a:avLst>
              <a:gd fmla="val 2146" name="adj"/>
            </a:avLst>
          </a:prstGeom>
          <a:solidFill>
            <a:srgbClr val="10202B"/>
          </a:solidFill>
          <a:ln cap="flat" cmpd="sng" w="12700">
            <a:solidFill>
              <a:srgbClr val="102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8"/>
          <p:cNvSpPr/>
          <p:nvPr/>
        </p:nvSpPr>
        <p:spPr>
          <a:xfrm>
            <a:off x="768240" y="1591200"/>
            <a:ext cx="94320" cy="94320"/>
          </a:xfrm>
          <a:prstGeom prst="ellipse">
            <a:avLst/>
          </a:prstGeom>
          <a:solidFill>
            <a:srgbClr val="E4B363"/>
          </a:solidFill>
          <a:ln cap="flat" cmpd="sng" w="12700">
            <a:solidFill>
              <a:srgbClr val="E4B3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8"/>
          <p:cNvSpPr/>
          <p:nvPr/>
        </p:nvSpPr>
        <p:spPr>
          <a:xfrm>
            <a:off x="969120" y="1591200"/>
            <a:ext cx="94320" cy="94320"/>
          </a:xfrm>
          <a:prstGeom prst="ellipse">
            <a:avLst/>
          </a:prstGeom>
          <a:solidFill>
            <a:srgbClr val="17BEBB"/>
          </a:solidFill>
          <a:ln cap="flat" cmpd="sng" w="12700">
            <a:solidFill>
              <a:srgbClr val="17BE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8"/>
          <p:cNvSpPr/>
          <p:nvPr/>
        </p:nvSpPr>
        <p:spPr>
          <a:xfrm>
            <a:off x="1170360" y="1591200"/>
            <a:ext cx="94320" cy="94320"/>
          </a:xfrm>
          <a:prstGeom prst="ellipse">
            <a:avLst/>
          </a:prstGeom>
          <a:solidFill>
            <a:srgbClr val="3E5563"/>
          </a:solidFill>
          <a:ln cap="flat" cmpd="sng" w="12700">
            <a:solidFill>
              <a:srgbClr val="3E5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8"/>
          <p:cNvSpPr/>
          <p:nvPr/>
        </p:nvSpPr>
        <p:spPr>
          <a:xfrm>
            <a:off x="1435680" y="1517760"/>
            <a:ext cx="995616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E8390"/>
                </a:solidFill>
                <a:latin typeface="Courier New"/>
                <a:ea typeface="Courier New"/>
                <a:cs typeface="Courier New"/>
                <a:sym typeface="Courier New"/>
              </a:rPr>
              <a:t>integradas.py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8"/>
          <p:cNvSpPr/>
          <p:nvPr/>
        </p:nvSpPr>
        <p:spPr>
          <a:xfrm>
            <a:off x="749880" y="1828800"/>
            <a:ext cx="10733400" cy="2904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i, fila </a:t>
            </a:r>
            <a:r>
              <a:rPr b="0" lang="en-US" sz="12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lang="en-US" sz="120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enumerate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(datos, start=</a:t>
            </a:r>
            <a:r>
              <a:rPr b="0" lang="en-US" sz="12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):    </a:t>
            </a:r>
            <a:r>
              <a:rPr b="0" lang="en-US" sz="120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índice + valor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lang="en-US" sz="120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(i, fila)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nombre, nota </a:t>
            </a:r>
            <a:r>
              <a:rPr b="0" lang="en-US" sz="12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lang="en-US" sz="120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zip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(nombres, notas):     </a:t>
            </a:r>
            <a:r>
              <a:rPr b="0" lang="en-US" sz="120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recorrer en paralelo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lang="en-US" sz="120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(nombre, nota)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(notas); </a:t>
            </a:r>
            <a:r>
              <a:rPr b="0" lang="en-US" sz="120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max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(notas); </a:t>
            </a:r>
            <a:r>
              <a:rPr b="0" lang="en-US" sz="120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min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(notas); </a:t>
            </a:r>
            <a:r>
              <a:rPr b="0" lang="en-US" sz="120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(notas)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(notas) / </a:t>
            </a:r>
            <a:r>
              <a:rPr b="0" lang="en-US" sz="120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(notas)                      </a:t>
            </a:r>
            <a:r>
              <a:rPr b="0" lang="en-US" sz="120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media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any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(n &lt; </a:t>
            </a:r>
            <a:r>
              <a:rPr b="0" lang="en-US" sz="12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lang="en-US" sz="12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n </a:t>
            </a:r>
            <a:r>
              <a:rPr b="0" lang="en-US" sz="12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notas)                    </a:t>
            </a:r>
            <a:r>
              <a:rPr b="0" lang="en-US" sz="120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¿hay alguno negativo?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all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lang="en-US" sz="12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&lt;= n &lt;= </a:t>
            </a:r>
            <a:r>
              <a:rPr b="0" lang="en-US" sz="12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lang="en-US" sz="12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n </a:t>
            </a:r>
            <a:r>
              <a:rPr b="0" lang="en-US" sz="12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notas)             </a:t>
            </a:r>
            <a:r>
              <a:rPr b="0" lang="en-US" sz="120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¿son todos válidos?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sorted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(registros, key=</a:t>
            </a:r>
            <a:r>
              <a:rPr b="0" lang="en-US" sz="12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lambda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r: r[</a:t>
            </a:r>
            <a:r>
              <a:rPr b="0" lang="en-US" sz="120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"largo"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], reverse=</a:t>
            </a:r>
            <a:r>
              <a:rPr b="0" lang="en-US" sz="12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)[:</a:t>
            </a:r>
            <a:r>
              <a:rPr b="0" lang="en-US" sz="12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max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(conteo, key=conteo.</a:t>
            </a:r>
            <a:r>
              <a:rPr b="0" lang="en-US" sz="120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                 </a:t>
            </a:r>
            <a:r>
              <a:rPr b="0" lang="en-US" sz="120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clase más frecuente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8"/>
          <p:cNvSpPr/>
          <p:nvPr/>
        </p:nvSpPr>
        <p:spPr>
          <a:xfrm>
            <a:off x="567000" y="5054760"/>
            <a:ext cx="11053440" cy="656640"/>
          </a:xfrm>
          <a:prstGeom prst="roundRect">
            <a:avLst>
              <a:gd fmla="val 8333" name="adj"/>
            </a:avLst>
          </a:prstGeom>
          <a:solidFill>
            <a:srgbClr val="EDF3F3"/>
          </a:solidFill>
          <a:ln cap="flat" cmpd="sng" w="12700">
            <a:solidFill>
              <a:srgbClr val="ED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8"/>
          <p:cNvSpPr/>
          <p:nvPr/>
        </p:nvSpPr>
        <p:spPr>
          <a:xfrm>
            <a:off x="768240" y="5054760"/>
            <a:ext cx="10641960" cy="656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El parámetro key: </a:t>
            </a:r>
            <a:r>
              <a:rPr b="0" lang="en-US" sz="14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key recibe una función que extrae el criterio de orden. Es el mismo mecanismo que usarás para ordenar predicciones por probabilidad.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202B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9"/>
          <p:cNvSpPr/>
          <p:nvPr/>
        </p:nvSpPr>
        <p:spPr>
          <a:xfrm>
            <a:off x="567000" y="457200"/>
            <a:ext cx="11053440" cy="27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 u="none" strike="noStrike">
                <a:solidFill>
                  <a:srgbClr val="17BEBB"/>
                </a:solidFill>
                <a:latin typeface="Calibri"/>
                <a:ea typeface="Calibri"/>
                <a:cs typeface="Calibri"/>
                <a:sym typeface="Calibri"/>
              </a:rPr>
              <a:t>PRÁCTICA 2.2 ·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9"/>
          <p:cNvSpPr/>
          <p:nvPr/>
        </p:nvSpPr>
        <p:spPr>
          <a:xfrm>
            <a:off x="567000" y="749880"/>
            <a:ext cx="11053440" cy="63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Reescribe en Python idiomático</a:t>
            </a:r>
            <a:endParaRPr b="0" sz="30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9"/>
          <p:cNvSpPr/>
          <p:nvPr/>
        </p:nvSpPr>
        <p:spPr>
          <a:xfrm>
            <a:off x="567000" y="1600200"/>
            <a:ext cx="5393160" cy="420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7830" lvl="0" marL="34308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E2E8"/>
              </a:buClr>
              <a:buSzPts val="1500"/>
              <a:buFont typeface="Noto Sans Symbols"/>
              <a:buNone/>
            </a:pPr>
            <a:r>
              <a:t/>
            </a:r>
            <a:endParaRPr b="0" sz="1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D6E2E8"/>
              </a:buClr>
              <a:buSzPts val="1500"/>
              <a:buFont typeface="Noto Sans Symbols"/>
              <a:buChar char="🞂"/>
            </a:pPr>
            <a:r>
              <a:rPr b="0" lang="en-US" sz="1500" u="none" strike="noStrike">
                <a:solidFill>
                  <a:srgbClr val="D6E2E8"/>
                </a:solidFill>
                <a:latin typeface="Calibri"/>
                <a:ea typeface="Calibri"/>
                <a:cs typeface="Calibri"/>
                <a:sym typeface="Calibri"/>
              </a:rPr>
              <a:t>E2.5 · Normaliza una lista de valores al rango 0-1 con una sola comprensión.</a:t>
            </a:r>
            <a:endParaRPr b="0" sz="1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D6E2E8"/>
              </a:buClr>
              <a:buSzPts val="1500"/>
              <a:buFont typeface="Noto Sans Symbols"/>
              <a:buChar char="🞂"/>
            </a:pPr>
            <a:r>
              <a:rPr b="0" lang="en-US" sz="1500" u="none" strike="noStrike">
                <a:solidFill>
                  <a:srgbClr val="D6E2E8"/>
                </a:solidFill>
                <a:latin typeface="Calibri"/>
                <a:ea typeface="Calibri"/>
                <a:cs typeface="Calibri"/>
                <a:sym typeface="Calibri"/>
              </a:rPr>
              <a:t>E2.6 · Dado un texto, construye {palabra: frecuencia} y devuelve las 3 más repetidas usando sorted con key.</a:t>
            </a:r>
            <a:endParaRPr b="0" sz="1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D6E2E8"/>
              </a:buClr>
              <a:buSzPts val="1500"/>
              <a:buFont typeface="Noto Sans Symbols"/>
              <a:buChar char="🞂"/>
            </a:pPr>
            <a:r>
              <a:rPr b="0" lang="en-US" sz="1500" u="none" strike="noStrike">
                <a:solidFill>
                  <a:srgbClr val="D6E2E8"/>
                </a:solidFill>
                <a:latin typeface="Calibri"/>
                <a:ea typeface="Calibri"/>
                <a:cs typeface="Calibri"/>
                <a:sym typeface="Calibri"/>
              </a:rPr>
              <a:t>E2.7 · Con zip: calcula el acierto entre etiquetas reales y predichas, y crea un dict a partir de columnas y valores.</a:t>
            </a:r>
            <a:endParaRPr b="0" sz="1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9"/>
          <p:cNvSpPr/>
          <p:nvPr/>
        </p:nvSpPr>
        <p:spPr>
          <a:xfrm>
            <a:off x="6309360" y="1600200"/>
            <a:ext cx="5301720" cy="1926720"/>
          </a:xfrm>
          <a:prstGeom prst="roundRect">
            <a:avLst>
              <a:gd fmla="val 3793" name="adj"/>
            </a:avLst>
          </a:prstGeom>
          <a:solidFill>
            <a:srgbClr val="1A2F3D"/>
          </a:solidFill>
          <a:ln cap="flat" cmpd="sng" w="12700">
            <a:solidFill>
              <a:srgbClr val="2B42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9"/>
          <p:cNvSpPr/>
          <p:nvPr/>
        </p:nvSpPr>
        <p:spPr>
          <a:xfrm>
            <a:off x="6492240" y="2011680"/>
            <a:ext cx="4981680" cy="374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E2.5  normalización min-max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valores = [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12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30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18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lo, hi = 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min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(valores), 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max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(valores)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norm = [...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v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valores]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[0.17, 0.0, 1.0, 0.48]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9"/>
          <p:cNvSpPr/>
          <p:nvPr/>
        </p:nvSpPr>
        <p:spPr>
          <a:xfrm>
            <a:off x="6492240" y="1710000"/>
            <a:ext cx="493596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E8390"/>
                </a:solidFill>
                <a:latin typeface="Courier New"/>
                <a:ea typeface="Courier New"/>
                <a:cs typeface="Courier New"/>
                <a:sym typeface="Courier New"/>
              </a:rPr>
              <a:t>e2_5.py</a:t>
            </a:r>
            <a:endParaRPr b="0" sz="10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9"/>
          <p:cNvSpPr/>
          <p:nvPr/>
        </p:nvSpPr>
        <p:spPr>
          <a:xfrm>
            <a:off x="567000" y="6035040"/>
            <a:ext cx="5484600" cy="31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9"/>
          <p:cNvSpPr/>
          <p:nvPr/>
        </p:nvSpPr>
        <p:spPr>
          <a:xfrm>
            <a:off x="6300000" y="4136040"/>
            <a:ext cx="4139640" cy="1983960"/>
          </a:xfrm>
          <a:prstGeom prst="roundRect">
            <a:avLst>
              <a:gd fmla="val 2702" name="adj"/>
            </a:avLst>
          </a:prstGeom>
          <a:solidFill>
            <a:srgbClr val="1A2F3D"/>
          </a:solidFill>
          <a:ln cap="flat" cmpd="sng" w="12700">
            <a:solidFill>
              <a:srgbClr val="2B42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B2B2B2"/>
                </a:solidFill>
                <a:latin typeface="Arial"/>
                <a:ea typeface="Arial"/>
                <a:cs typeface="Arial"/>
                <a:sym typeface="Arial"/>
              </a:rPr>
              <a:t># Ejemplos de etiquetas reales y predichas para el E2.7</a:t>
            </a:r>
            <a:endParaRPr b="0" sz="1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Y_REAL=[“setosa”,”virginica”,”setosa”,”versicolor”]</a:t>
            </a:r>
            <a:endParaRPr b="0" sz="1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Y_REAL=[“setosa”,”virginica”,”setosa”,”setosa”]</a:t>
            </a:r>
            <a:endParaRPr b="0" sz="1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202B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0"/>
          <p:cNvSpPr/>
          <p:nvPr/>
        </p:nvSpPr>
        <p:spPr>
          <a:xfrm>
            <a:off x="567000" y="1920240"/>
            <a:ext cx="173556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400" u="none" strike="noStrike">
                <a:solidFill>
                  <a:srgbClr val="0E7C7B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sz="8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0"/>
          <p:cNvSpPr/>
          <p:nvPr/>
        </p:nvSpPr>
        <p:spPr>
          <a:xfrm>
            <a:off x="2286000" y="2148840"/>
            <a:ext cx="8959320" cy="821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 u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Funciones</a:t>
            </a:r>
            <a:endParaRPr b="0" sz="3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0"/>
          <p:cNvSpPr/>
          <p:nvPr/>
        </p:nvSpPr>
        <p:spPr>
          <a:xfrm>
            <a:off x="2331720" y="3017520"/>
            <a:ext cx="8776440" cy="821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50" u="none" strike="noStrike">
                <a:solidFill>
                  <a:srgbClr val="A9BAC4"/>
                </a:solidFill>
                <a:latin typeface="Calibri"/>
                <a:ea typeface="Calibri"/>
                <a:cs typeface="Calibri"/>
                <a:sym typeface="Calibri"/>
              </a:rPr>
              <a:t>Parámetros flexibles, documentación integrada y funciones tratadas como cualquier otro valor.</a:t>
            </a:r>
            <a:endParaRPr b="0" sz="15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0"/>
          <p:cNvSpPr/>
          <p:nvPr/>
        </p:nvSpPr>
        <p:spPr>
          <a:xfrm>
            <a:off x="2331720" y="3886200"/>
            <a:ext cx="5484600" cy="36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1"/>
          <p:cNvSpPr/>
          <p:nvPr/>
        </p:nvSpPr>
        <p:spPr>
          <a:xfrm>
            <a:off x="567000" y="384120"/>
            <a:ext cx="11053440" cy="27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 u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DEFINICIÓN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21"/>
          <p:cNvSpPr/>
          <p:nvPr/>
        </p:nvSpPr>
        <p:spPr>
          <a:xfrm>
            <a:off x="567000" y="658440"/>
            <a:ext cx="11053440" cy="63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none" strike="noStrike">
                <a:solidFill>
                  <a:srgbClr val="17262E"/>
                </a:solidFill>
                <a:latin typeface="Cambria"/>
                <a:ea typeface="Cambria"/>
                <a:cs typeface="Cambria"/>
                <a:sym typeface="Cambria"/>
              </a:rPr>
              <a:t>def, return y varios valores de vuelta</a:t>
            </a:r>
            <a:endParaRPr b="0" sz="3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21"/>
          <p:cNvSpPr/>
          <p:nvPr/>
        </p:nvSpPr>
        <p:spPr>
          <a:xfrm>
            <a:off x="567000" y="1444680"/>
            <a:ext cx="5027400" cy="72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 u="none" strike="noStrike">
                <a:solidFill>
                  <a:srgbClr val="5A6B75"/>
                </a:solidFill>
                <a:latin typeface="Calibri"/>
                <a:ea typeface="Calibri"/>
                <a:cs typeface="Calibri"/>
                <a:sym typeface="Calibri"/>
              </a:rPr>
              <a:t>Sin tipos obligatorios en la firma y sin declaración de excepciones.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1"/>
          <p:cNvSpPr/>
          <p:nvPr/>
        </p:nvSpPr>
        <p:spPr>
          <a:xfrm>
            <a:off x="567000" y="2221920"/>
            <a:ext cx="5027400" cy="397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3080" lvl="0" marL="34308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262E"/>
              </a:buClr>
              <a:buSzPts val="1500"/>
              <a:buFont typeface="Noto Sans Symbols"/>
              <a:buChar char="●"/>
            </a:pPr>
            <a:r>
              <a:rPr b="0" lang="en-US" sz="15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Si no hay return, la función devuelve None.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15000"/>
              </a:lnSpc>
              <a:spcBef>
                <a:spcPts val="901"/>
              </a:spcBef>
              <a:spcAft>
                <a:spcPts val="0"/>
              </a:spcAft>
              <a:buClr>
                <a:srgbClr val="17262E"/>
              </a:buClr>
              <a:buSzPts val="1500"/>
              <a:buFont typeface="Noto Sans Symbols"/>
              <a:buChar char="●"/>
            </a:pPr>
            <a:r>
              <a:rPr b="0" lang="en-US" sz="15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Devolver varios valores es devolver una tupla.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15000"/>
              </a:lnSpc>
              <a:spcBef>
                <a:spcPts val="901"/>
              </a:spcBef>
              <a:spcAft>
                <a:spcPts val="0"/>
              </a:spcAft>
              <a:buClr>
                <a:srgbClr val="17262E"/>
              </a:buClr>
              <a:buSzPts val="1500"/>
              <a:buFont typeface="Noto Sans Symbols"/>
              <a:buChar char="●"/>
            </a:pPr>
            <a:r>
              <a:rPr b="0" lang="en-US" sz="15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Los type hints documentan la intención sin forzarla.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15000"/>
              </a:lnSpc>
              <a:spcBef>
                <a:spcPts val="901"/>
              </a:spcBef>
              <a:spcAft>
                <a:spcPts val="0"/>
              </a:spcAft>
              <a:buClr>
                <a:srgbClr val="17262E"/>
              </a:buClr>
              <a:buSzPts val="1500"/>
              <a:buFont typeface="Noto Sans Symbols"/>
              <a:buChar char="●"/>
            </a:pPr>
            <a:r>
              <a:rPr b="0" lang="en-US" sz="15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El docstring va justo debajo del def, entre triples comillas.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21"/>
          <p:cNvSpPr/>
          <p:nvPr/>
        </p:nvSpPr>
        <p:spPr>
          <a:xfrm>
            <a:off x="5943600" y="1444680"/>
            <a:ext cx="5667480" cy="2797920"/>
          </a:xfrm>
          <a:prstGeom prst="roundRect">
            <a:avLst>
              <a:gd fmla="val 2613" name="adj"/>
            </a:avLst>
          </a:prstGeom>
          <a:solidFill>
            <a:srgbClr val="10202B"/>
          </a:solidFill>
          <a:ln cap="flat" cmpd="sng" w="12700">
            <a:solidFill>
              <a:srgbClr val="102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21"/>
          <p:cNvSpPr/>
          <p:nvPr/>
        </p:nvSpPr>
        <p:spPr>
          <a:xfrm>
            <a:off x="6144840" y="1618560"/>
            <a:ext cx="94320" cy="94320"/>
          </a:xfrm>
          <a:prstGeom prst="ellipse">
            <a:avLst/>
          </a:prstGeom>
          <a:solidFill>
            <a:srgbClr val="E4B363"/>
          </a:solidFill>
          <a:ln cap="flat" cmpd="sng" w="12700">
            <a:solidFill>
              <a:srgbClr val="E4B3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21"/>
          <p:cNvSpPr/>
          <p:nvPr/>
        </p:nvSpPr>
        <p:spPr>
          <a:xfrm>
            <a:off x="6346080" y="1618560"/>
            <a:ext cx="94320" cy="94320"/>
          </a:xfrm>
          <a:prstGeom prst="ellipse">
            <a:avLst/>
          </a:prstGeom>
          <a:solidFill>
            <a:srgbClr val="17BEBB"/>
          </a:solidFill>
          <a:ln cap="flat" cmpd="sng" w="12700">
            <a:solidFill>
              <a:srgbClr val="17BE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21"/>
          <p:cNvSpPr/>
          <p:nvPr/>
        </p:nvSpPr>
        <p:spPr>
          <a:xfrm>
            <a:off x="6546960" y="1618560"/>
            <a:ext cx="94320" cy="94320"/>
          </a:xfrm>
          <a:prstGeom prst="ellipse">
            <a:avLst/>
          </a:prstGeom>
          <a:solidFill>
            <a:srgbClr val="3E5563"/>
          </a:solidFill>
          <a:ln cap="flat" cmpd="sng" w="12700">
            <a:solidFill>
              <a:srgbClr val="3E5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21"/>
          <p:cNvSpPr/>
          <p:nvPr/>
        </p:nvSpPr>
        <p:spPr>
          <a:xfrm>
            <a:off x="6812280" y="1545480"/>
            <a:ext cx="45702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E8390"/>
                </a:solidFill>
                <a:latin typeface="Courier New"/>
                <a:ea typeface="Courier New"/>
                <a:cs typeface="Courier New"/>
                <a:sym typeface="Courier New"/>
              </a:rPr>
              <a:t>funciones.py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21"/>
          <p:cNvSpPr/>
          <p:nvPr/>
        </p:nvSpPr>
        <p:spPr>
          <a:xfrm>
            <a:off x="6126480" y="1856160"/>
            <a:ext cx="5347440" cy="22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media(valores: </a:t>
            </a:r>
            <a:r>
              <a:rPr b="0" lang="en-US" sz="110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lang="en-US" sz="110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float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]) -&gt; </a:t>
            </a:r>
            <a:r>
              <a:rPr b="0" lang="en-US" sz="110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float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lang="en-US" sz="110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"""Media aritmética de una lista."""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lang="en-US" sz="110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(valores) / </a:t>
            </a:r>
            <a:r>
              <a:rPr b="0" lang="en-US" sz="110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(valores)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resumen(valores):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lang="en-US" sz="110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min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(valores), media(valores), </a:t>
            </a:r>
            <a:r>
              <a:rPr b="0" lang="en-US" sz="110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max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(valores)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lo, m, hi = resumen([</a:t>
            </a:r>
            <a:r>
              <a:rPr b="0" lang="en-US" sz="11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help(media)   </a:t>
            </a:r>
            <a:r>
              <a:rPr b="0" lang="en-US" sz="110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muestra el docstring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2"/>
          <p:cNvSpPr/>
          <p:nvPr/>
        </p:nvSpPr>
        <p:spPr>
          <a:xfrm>
            <a:off x="567000" y="384120"/>
            <a:ext cx="11053440" cy="27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 u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PARÁMETROS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22"/>
          <p:cNvSpPr/>
          <p:nvPr/>
        </p:nvSpPr>
        <p:spPr>
          <a:xfrm>
            <a:off x="567000" y="658440"/>
            <a:ext cx="11053440" cy="63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none" strike="noStrike">
                <a:solidFill>
                  <a:srgbClr val="17262E"/>
                </a:solidFill>
                <a:latin typeface="Cambria"/>
                <a:ea typeface="Cambria"/>
                <a:cs typeface="Cambria"/>
                <a:sym typeface="Cambria"/>
              </a:rPr>
              <a:t>Posicionales, nombrados y por defecto</a:t>
            </a:r>
            <a:endParaRPr b="0" sz="3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22"/>
          <p:cNvSpPr/>
          <p:nvPr/>
        </p:nvSpPr>
        <p:spPr>
          <a:xfrm>
            <a:off x="567000" y="1417320"/>
            <a:ext cx="11053440" cy="3204000"/>
          </a:xfrm>
          <a:prstGeom prst="roundRect">
            <a:avLst>
              <a:gd fmla="val 2282" name="adj"/>
            </a:avLst>
          </a:prstGeom>
          <a:solidFill>
            <a:srgbClr val="10202B"/>
          </a:solidFill>
          <a:ln cap="flat" cmpd="sng" w="12700">
            <a:solidFill>
              <a:srgbClr val="102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22"/>
          <p:cNvSpPr/>
          <p:nvPr/>
        </p:nvSpPr>
        <p:spPr>
          <a:xfrm>
            <a:off x="768240" y="1591200"/>
            <a:ext cx="94320" cy="94320"/>
          </a:xfrm>
          <a:prstGeom prst="ellipse">
            <a:avLst/>
          </a:prstGeom>
          <a:solidFill>
            <a:srgbClr val="E4B363"/>
          </a:solidFill>
          <a:ln cap="flat" cmpd="sng" w="12700">
            <a:solidFill>
              <a:srgbClr val="E4B3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22"/>
          <p:cNvSpPr/>
          <p:nvPr/>
        </p:nvSpPr>
        <p:spPr>
          <a:xfrm>
            <a:off x="969120" y="1591200"/>
            <a:ext cx="94320" cy="94320"/>
          </a:xfrm>
          <a:prstGeom prst="ellipse">
            <a:avLst/>
          </a:prstGeom>
          <a:solidFill>
            <a:srgbClr val="17BEBB"/>
          </a:solidFill>
          <a:ln cap="flat" cmpd="sng" w="12700">
            <a:solidFill>
              <a:srgbClr val="17BE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22"/>
          <p:cNvSpPr/>
          <p:nvPr/>
        </p:nvSpPr>
        <p:spPr>
          <a:xfrm>
            <a:off x="1170360" y="1591200"/>
            <a:ext cx="94320" cy="94320"/>
          </a:xfrm>
          <a:prstGeom prst="ellipse">
            <a:avLst/>
          </a:prstGeom>
          <a:solidFill>
            <a:srgbClr val="3E5563"/>
          </a:solidFill>
          <a:ln cap="flat" cmpd="sng" w="12700">
            <a:solidFill>
              <a:srgbClr val="3E5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22"/>
          <p:cNvSpPr/>
          <p:nvPr/>
        </p:nvSpPr>
        <p:spPr>
          <a:xfrm>
            <a:off x="1435680" y="1517760"/>
            <a:ext cx="995616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E8390"/>
                </a:solidFill>
                <a:latin typeface="Courier New"/>
                <a:ea typeface="Courier New"/>
                <a:cs typeface="Courier New"/>
                <a:sym typeface="Courier New"/>
              </a:rPr>
              <a:t>parametros.py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22"/>
          <p:cNvSpPr/>
          <p:nvPr/>
        </p:nvSpPr>
        <p:spPr>
          <a:xfrm>
            <a:off x="749880" y="1828800"/>
            <a:ext cx="10733400" cy="2701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entrenar(datos, epocas=</a:t>
            </a:r>
            <a:r>
              <a:rPr b="0" lang="en-US" sz="12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tasa=</a:t>
            </a:r>
            <a:r>
              <a:rPr b="0" lang="en-US" sz="12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0.01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verbose=</a:t>
            </a:r>
            <a:r>
              <a:rPr b="0" lang="en-US" sz="12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...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entrenar(X)                          </a:t>
            </a:r>
            <a:r>
              <a:rPr b="0" lang="en-US" sz="120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usa todos los valores por defecto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entrenar(X, </a:t>
            </a:r>
            <a:r>
              <a:rPr b="0" lang="en-US" sz="12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50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                      </a:t>
            </a:r>
            <a:r>
              <a:rPr b="0" lang="en-US" sz="120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posicional: epocas = 50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entrenar(X, tasa=</a:t>
            </a:r>
            <a:r>
              <a:rPr b="0" lang="en-US" sz="12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0.1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                </a:t>
            </a:r>
            <a:r>
              <a:rPr b="0" lang="en-US" sz="120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nombrado: se salta epocas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entrenar(X, verbose=</a:t>
            </a:r>
            <a:r>
              <a:rPr b="0" lang="en-US" sz="12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epocas=</a:t>
            </a:r>
            <a:r>
              <a:rPr b="0" lang="en-US" sz="12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  </a:t>
            </a:r>
            <a:r>
              <a:rPr b="0" lang="en-US" sz="120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los nombrados van en cualquier orden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Los parámetros con valor por defecto van SIEMPRE los últimos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def malo(a=1, b): ...   -&gt; SyntaxError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config = {</a:t>
            </a:r>
            <a:r>
              <a:rPr b="0" lang="en-US" sz="120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"epocas"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lang="en-US" sz="12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20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20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"tasa"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lang="en-US" sz="12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0.05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entrenar(X, **config)                 </a:t>
            </a:r>
            <a:r>
              <a:rPr b="0" lang="en-US" sz="120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desempaqueta el dict como argumentos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22"/>
          <p:cNvSpPr/>
          <p:nvPr/>
        </p:nvSpPr>
        <p:spPr>
          <a:xfrm>
            <a:off x="567000" y="4851720"/>
            <a:ext cx="11053440" cy="656640"/>
          </a:xfrm>
          <a:prstGeom prst="roundRect">
            <a:avLst>
              <a:gd fmla="val 8333" name="adj"/>
            </a:avLst>
          </a:prstGeom>
          <a:solidFill>
            <a:srgbClr val="EDF3F3"/>
          </a:solidFill>
          <a:ln cap="flat" cmpd="sng" w="12700">
            <a:solidFill>
              <a:srgbClr val="ED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22"/>
          <p:cNvSpPr/>
          <p:nvPr/>
        </p:nvSpPr>
        <p:spPr>
          <a:xfrm>
            <a:off x="768240" y="4851720"/>
            <a:ext cx="10641960" cy="656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Buena práctica: </a:t>
            </a:r>
            <a:r>
              <a:rPr b="0" lang="en-US" sz="14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los argumentos nombrados son documentación viva: entrenar(X, 50, 0.1, True) no se entiende; entrenar(X, epocas=50, verbose=True) sí.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3"/>
          <p:cNvSpPr/>
          <p:nvPr/>
        </p:nvSpPr>
        <p:spPr>
          <a:xfrm>
            <a:off x="567000" y="384120"/>
            <a:ext cx="11053440" cy="27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 u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TRAMPA CLÁSICA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23"/>
          <p:cNvSpPr/>
          <p:nvPr/>
        </p:nvSpPr>
        <p:spPr>
          <a:xfrm>
            <a:off x="567000" y="658440"/>
            <a:ext cx="11053440" cy="63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none" strike="noStrike">
                <a:solidFill>
                  <a:srgbClr val="17262E"/>
                </a:solidFill>
                <a:latin typeface="Cambria"/>
                <a:ea typeface="Cambria"/>
                <a:cs typeface="Cambria"/>
                <a:sym typeface="Cambria"/>
              </a:rPr>
              <a:t>Nunca uses una lista como valor por defecto</a:t>
            </a:r>
            <a:endParaRPr b="0" sz="3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23"/>
          <p:cNvSpPr/>
          <p:nvPr/>
        </p:nvSpPr>
        <p:spPr>
          <a:xfrm>
            <a:off x="585360" y="1417320"/>
            <a:ext cx="5342760" cy="29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5A6B75"/>
                </a:solidFill>
                <a:latin typeface="Calibri"/>
                <a:ea typeface="Calibri"/>
                <a:cs typeface="Calibri"/>
                <a:sym typeface="Calibri"/>
              </a:rPr>
              <a:t>Mal: el valor por defecto se comparte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23"/>
          <p:cNvSpPr/>
          <p:nvPr/>
        </p:nvSpPr>
        <p:spPr>
          <a:xfrm>
            <a:off x="567000" y="1783080"/>
            <a:ext cx="5342760" cy="2510640"/>
          </a:xfrm>
          <a:prstGeom prst="roundRect">
            <a:avLst>
              <a:gd fmla="val 2912" name="adj"/>
            </a:avLst>
          </a:prstGeom>
          <a:solidFill>
            <a:srgbClr val="10202B"/>
          </a:solidFill>
          <a:ln cap="flat" cmpd="sng" w="12700">
            <a:solidFill>
              <a:srgbClr val="102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23"/>
          <p:cNvSpPr/>
          <p:nvPr/>
        </p:nvSpPr>
        <p:spPr>
          <a:xfrm>
            <a:off x="768240" y="1956960"/>
            <a:ext cx="94320" cy="94320"/>
          </a:xfrm>
          <a:prstGeom prst="ellipse">
            <a:avLst/>
          </a:prstGeom>
          <a:solidFill>
            <a:srgbClr val="E4B363"/>
          </a:solidFill>
          <a:ln cap="flat" cmpd="sng" w="12700">
            <a:solidFill>
              <a:srgbClr val="E4B3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23"/>
          <p:cNvSpPr/>
          <p:nvPr/>
        </p:nvSpPr>
        <p:spPr>
          <a:xfrm>
            <a:off x="969120" y="1956960"/>
            <a:ext cx="94320" cy="94320"/>
          </a:xfrm>
          <a:prstGeom prst="ellipse">
            <a:avLst/>
          </a:prstGeom>
          <a:solidFill>
            <a:srgbClr val="17BEBB"/>
          </a:solidFill>
          <a:ln cap="flat" cmpd="sng" w="12700">
            <a:solidFill>
              <a:srgbClr val="17BE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23"/>
          <p:cNvSpPr/>
          <p:nvPr/>
        </p:nvSpPr>
        <p:spPr>
          <a:xfrm>
            <a:off x="1170360" y="1956960"/>
            <a:ext cx="94320" cy="94320"/>
          </a:xfrm>
          <a:prstGeom prst="ellipse">
            <a:avLst/>
          </a:prstGeom>
          <a:solidFill>
            <a:srgbClr val="3E5563"/>
          </a:solidFill>
          <a:ln cap="flat" cmpd="sng" w="12700">
            <a:solidFill>
              <a:srgbClr val="3E5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23"/>
          <p:cNvSpPr/>
          <p:nvPr/>
        </p:nvSpPr>
        <p:spPr>
          <a:xfrm>
            <a:off x="1435680" y="1883520"/>
            <a:ext cx="424548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E8390"/>
                </a:solidFill>
                <a:latin typeface="Courier New"/>
                <a:ea typeface="Courier New"/>
                <a:cs typeface="Courier New"/>
                <a:sym typeface="Courier New"/>
              </a:rPr>
              <a:t>trampa.py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23"/>
          <p:cNvSpPr/>
          <p:nvPr/>
        </p:nvSpPr>
        <p:spPr>
          <a:xfrm>
            <a:off x="749880" y="2194560"/>
            <a:ext cx="5022720" cy="2007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anotar(x, registro=[]):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registro.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append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(x)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registro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anotar(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  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[1]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anotar(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  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[1, 2]  ¡sorpresa!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anotar(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  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[1, 2, 3]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El [] se crea UNA vez, al definir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la función, no en cada llamada.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23"/>
          <p:cNvSpPr/>
          <p:nvPr/>
        </p:nvSpPr>
        <p:spPr>
          <a:xfrm>
            <a:off x="6295680" y="1417320"/>
            <a:ext cx="5342760" cy="29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Bien: centinela None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3"/>
          <p:cNvSpPr/>
          <p:nvPr/>
        </p:nvSpPr>
        <p:spPr>
          <a:xfrm>
            <a:off x="6277320" y="1783080"/>
            <a:ext cx="5342760" cy="2899440"/>
          </a:xfrm>
          <a:prstGeom prst="roundRect">
            <a:avLst>
              <a:gd fmla="val 2521" name="adj"/>
            </a:avLst>
          </a:prstGeom>
          <a:solidFill>
            <a:srgbClr val="10202B"/>
          </a:solidFill>
          <a:ln cap="flat" cmpd="sng" w="12700">
            <a:solidFill>
              <a:srgbClr val="102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23"/>
          <p:cNvSpPr/>
          <p:nvPr/>
        </p:nvSpPr>
        <p:spPr>
          <a:xfrm>
            <a:off x="6478560" y="1956960"/>
            <a:ext cx="94320" cy="94320"/>
          </a:xfrm>
          <a:prstGeom prst="ellipse">
            <a:avLst/>
          </a:prstGeom>
          <a:solidFill>
            <a:srgbClr val="E4B363"/>
          </a:solidFill>
          <a:ln cap="flat" cmpd="sng" w="12700">
            <a:solidFill>
              <a:srgbClr val="E4B3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23"/>
          <p:cNvSpPr/>
          <p:nvPr/>
        </p:nvSpPr>
        <p:spPr>
          <a:xfrm>
            <a:off x="6679800" y="1956960"/>
            <a:ext cx="94320" cy="94320"/>
          </a:xfrm>
          <a:prstGeom prst="ellipse">
            <a:avLst/>
          </a:prstGeom>
          <a:solidFill>
            <a:srgbClr val="17BEBB"/>
          </a:solidFill>
          <a:ln cap="flat" cmpd="sng" w="12700">
            <a:solidFill>
              <a:srgbClr val="17BE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23"/>
          <p:cNvSpPr/>
          <p:nvPr/>
        </p:nvSpPr>
        <p:spPr>
          <a:xfrm>
            <a:off x="6881040" y="1956960"/>
            <a:ext cx="94320" cy="94320"/>
          </a:xfrm>
          <a:prstGeom prst="ellipse">
            <a:avLst/>
          </a:prstGeom>
          <a:solidFill>
            <a:srgbClr val="3E5563"/>
          </a:solidFill>
          <a:ln cap="flat" cmpd="sng" w="12700">
            <a:solidFill>
              <a:srgbClr val="3E5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23"/>
          <p:cNvSpPr/>
          <p:nvPr/>
        </p:nvSpPr>
        <p:spPr>
          <a:xfrm>
            <a:off x="7146000" y="1883520"/>
            <a:ext cx="424548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E8390"/>
                </a:solidFill>
                <a:latin typeface="Courier New"/>
                <a:ea typeface="Courier New"/>
                <a:cs typeface="Courier New"/>
                <a:sym typeface="Courier New"/>
              </a:rPr>
              <a:t>correcto.py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23"/>
          <p:cNvSpPr/>
          <p:nvPr/>
        </p:nvSpPr>
        <p:spPr>
          <a:xfrm>
            <a:off x="6460200" y="2194560"/>
            <a:ext cx="5022720" cy="239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anotar(x, registro=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registro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is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registro = []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registro.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append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(x)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registro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anotar(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  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[1]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anotar(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  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[2]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anotar(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  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[3]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Regla: por defecto solo inmutables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(None, números, cadenas, tuplas)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23"/>
          <p:cNvSpPr/>
          <p:nvPr/>
        </p:nvSpPr>
        <p:spPr>
          <a:xfrm>
            <a:off x="567000" y="5715000"/>
            <a:ext cx="11053440" cy="656640"/>
          </a:xfrm>
          <a:prstGeom prst="roundRect">
            <a:avLst>
              <a:gd fmla="val 8333" name="adj"/>
            </a:avLst>
          </a:prstGeom>
          <a:solidFill>
            <a:srgbClr val="EDF3F3"/>
          </a:solidFill>
          <a:ln cap="flat" cmpd="sng" w="12700">
            <a:solidFill>
              <a:srgbClr val="ED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23"/>
          <p:cNvSpPr/>
          <p:nvPr/>
        </p:nvSpPr>
        <p:spPr>
          <a:xfrm>
            <a:off x="768240" y="5715000"/>
            <a:ext cx="10641960" cy="656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Para recordar: </a:t>
            </a:r>
            <a:r>
              <a:rPr b="0" lang="en-US" sz="14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este error aparece en entrevistas técnicas y en bugs reales de producción. Explica por qué: el cuerpo de la función se evalúa en cada llamada, la firma no.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4"/>
          <p:cNvSpPr/>
          <p:nvPr/>
        </p:nvSpPr>
        <p:spPr>
          <a:xfrm>
            <a:off x="567000" y="384120"/>
            <a:ext cx="11053440" cy="27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 u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FLEXIBILIDAD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24"/>
          <p:cNvSpPr/>
          <p:nvPr/>
        </p:nvSpPr>
        <p:spPr>
          <a:xfrm>
            <a:off x="567000" y="658440"/>
            <a:ext cx="11053440" cy="63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none" strike="noStrike">
                <a:solidFill>
                  <a:srgbClr val="17262E"/>
                </a:solidFill>
                <a:latin typeface="Cambria"/>
                <a:ea typeface="Cambria"/>
                <a:cs typeface="Cambria"/>
                <a:sym typeface="Cambria"/>
              </a:rPr>
              <a:t>*args y **kwargs: número variable de argumentos</a:t>
            </a:r>
            <a:endParaRPr b="0" sz="3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24"/>
          <p:cNvSpPr/>
          <p:nvPr/>
        </p:nvSpPr>
        <p:spPr>
          <a:xfrm>
            <a:off x="567000" y="1417320"/>
            <a:ext cx="11053440" cy="3813120"/>
          </a:xfrm>
          <a:prstGeom prst="roundRect">
            <a:avLst>
              <a:gd fmla="val 1918" name="adj"/>
            </a:avLst>
          </a:prstGeom>
          <a:solidFill>
            <a:srgbClr val="10202B"/>
          </a:solidFill>
          <a:ln cap="flat" cmpd="sng" w="12700">
            <a:solidFill>
              <a:srgbClr val="102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24"/>
          <p:cNvSpPr/>
          <p:nvPr/>
        </p:nvSpPr>
        <p:spPr>
          <a:xfrm>
            <a:off x="768240" y="1591200"/>
            <a:ext cx="94320" cy="94320"/>
          </a:xfrm>
          <a:prstGeom prst="ellipse">
            <a:avLst/>
          </a:prstGeom>
          <a:solidFill>
            <a:srgbClr val="E4B363"/>
          </a:solidFill>
          <a:ln cap="flat" cmpd="sng" w="12700">
            <a:solidFill>
              <a:srgbClr val="E4B3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24"/>
          <p:cNvSpPr/>
          <p:nvPr/>
        </p:nvSpPr>
        <p:spPr>
          <a:xfrm>
            <a:off x="969120" y="1591200"/>
            <a:ext cx="94320" cy="94320"/>
          </a:xfrm>
          <a:prstGeom prst="ellipse">
            <a:avLst/>
          </a:prstGeom>
          <a:solidFill>
            <a:srgbClr val="17BEBB"/>
          </a:solidFill>
          <a:ln cap="flat" cmpd="sng" w="12700">
            <a:solidFill>
              <a:srgbClr val="17BE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24"/>
          <p:cNvSpPr/>
          <p:nvPr/>
        </p:nvSpPr>
        <p:spPr>
          <a:xfrm>
            <a:off x="1170360" y="1591200"/>
            <a:ext cx="94320" cy="94320"/>
          </a:xfrm>
          <a:prstGeom prst="ellipse">
            <a:avLst/>
          </a:prstGeom>
          <a:solidFill>
            <a:srgbClr val="3E5563"/>
          </a:solidFill>
          <a:ln cap="flat" cmpd="sng" w="12700">
            <a:solidFill>
              <a:srgbClr val="3E5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24"/>
          <p:cNvSpPr/>
          <p:nvPr/>
        </p:nvSpPr>
        <p:spPr>
          <a:xfrm>
            <a:off x="1435680" y="1517760"/>
            <a:ext cx="995616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E8390"/>
                </a:solidFill>
                <a:latin typeface="Courier New"/>
                <a:ea typeface="Courier New"/>
                <a:cs typeface="Courier New"/>
                <a:sym typeface="Courier New"/>
              </a:rPr>
              <a:t>variables.py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24"/>
          <p:cNvSpPr/>
          <p:nvPr/>
        </p:nvSpPr>
        <p:spPr>
          <a:xfrm>
            <a:off x="749880" y="1828800"/>
            <a:ext cx="10733400" cy="3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total(*numeros):            </a:t>
            </a:r>
            <a:r>
              <a:rPr b="0" lang="en-US" sz="120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args -&gt; tupla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lang="en-US" sz="12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lang="en-US" sz="120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(numeros)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total(</a:t>
            </a:r>
            <a:r>
              <a:rPr b="0" lang="en-US" sz="12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2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2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                 </a:t>
            </a:r>
            <a:r>
              <a:rPr b="0" lang="en-US" sz="120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6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total(*[</a:t>
            </a:r>
            <a:r>
              <a:rPr b="0" lang="en-US" sz="12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2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2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2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])            </a:t>
            </a:r>
            <a:r>
              <a:rPr b="0" lang="en-US" sz="120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desempaqueta la lista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registrar(evento, **datos):  </a:t>
            </a:r>
            <a:r>
              <a:rPr b="0" lang="en-US" sz="120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kwargs -&gt; diccionario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lang="en-US" sz="120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(evento, datos)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registrar(</a:t>
            </a:r>
            <a:r>
              <a:rPr b="0" lang="en-US" sz="120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"fin_epoca"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perdida=</a:t>
            </a:r>
            <a:r>
              <a:rPr b="0" lang="en-US" sz="12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0.21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acierto=</a:t>
            </a:r>
            <a:r>
              <a:rPr b="0" lang="en-US" sz="12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0.93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fin_epoca {'perdida': 0.21, 'acierto': 0.93}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envoltorio(*args, **kwargs):     </a:t>
            </a:r>
            <a:r>
              <a:rPr b="0" lang="en-US" sz="120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firma universal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lang="en-US" sz="12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lang="en-US" sz="12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funcion_real(*args, **kwargs)</a:t>
            </a:r>
            <a:endParaRPr b="0" sz="1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24"/>
          <p:cNvSpPr/>
          <p:nvPr/>
        </p:nvSpPr>
        <p:spPr>
          <a:xfrm>
            <a:off x="567000" y="5460840"/>
            <a:ext cx="11053440" cy="656640"/>
          </a:xfrm>
          <a:prstGeom prst="roundRect">
            <a:avLst>
              <a:gd fmla="val 8333" name="adj"/>
            </a:avLst>
          </a:prstGeom>
          <a:solidFill>
            <a:srgbClr val="EDF3F3"/>
          </a:solidFill>
          <a:ln cap="flat" cmpd="sng" w="12700">
            <a:solidFill>
              <a:srgbClr val="ED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24"/>
          <p:cNvSpPr/>
          <p:nvPr/>
        </p:nvSpPr>
        <p:spPr>
          <a:xfrm>
            <a:off x="768240" y="5460840"/>
            <a:ext cx="10641960" cy="656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Ojo: </a:t>
            </a:r>
            <a:r>
              <a:rPr b="0" lang="en-US" sz="14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el asterisco no es el nombre: * empaqueta posicionales en una tupla y ** empaqueta nombrados en un diccionario. Verás esta firma en todos los decoradores.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5"/>
          <p:cNvSpPr/>
          <p:nvPr/>
        </p:nvSpPr>
        <p:spPr>
          <a:xfrm>
            <a:off x="567000" y="384120"/>
            <a:ext cx="11053440" cy="27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 u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ÁMBITO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25"/>
          <p:cNvSpPr/>
          <p:nvPr/>
        </p:nvSpPr>
        <p:spPr>
          <a:xfrm>
            <a:off x="567000" y="658440"/>
            <a:ext cx="11053440" cy="63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none" strike="noStrike">
                <a:solidFill>
                  <a:srgbClr val="17262E"/>
                </a:solidFill>
                <a:latin typeface="Cambria"/>
                <a:ea typeface="Cambria"/>
                <a:cs typeface="Cambria"/>
                <a:sym typeface="Cambria"/>
              </a:rPr>
              <a:t>Dentro y fuera de la función</a:t>
            </a:r>
            <a:endParaRPr b="0" sz="3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25"/>
          <p:cNvSpPr/>
          <p:nvPr/>
        </p:nvSpPr>
        <p:spPr>
          <a:xfrm>
            <a:off x="567000" y="1444680"/>
            <a:ext cx="5027400" cy="72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 u="none" strike="noStrike">
                <a:solidFill>
                  <a:srgbClr val="5A6B75"/>
                </a:solidFill>
                <a:latin typeface="Calibri"/>
                <a:ea typeface="Calibri"/>
                <a:cs typeface="Calibri"/>
                <a:sym typeface="Calibri"/>
              </a:rPr>
              <a:t>Lo asignado dentro de una función es local salvo declaración expresa.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25"/>
          <p:cNvSpPr/>
          <p:nvPr/>
        </p:nvSpPr>
        <p:spPr>
          <a:xfrm>
            <a:off x="567000" y="2221920"/>
            <a:ext cx="5027400" cy="397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3080" lvl="0" marL="34308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262E"/>
              </a:buClr>
              <a:buSzPts val="1500"/>
              <a:buFont typeface="Noto Sans Symbols"/>
              <a:buChar char="●"/>
            </a:pPr>
            <a:r>
              <a:rPr b="0" lang="en-US" sz="15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Se puede leer una variable global, pero no reasignarla.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15000"/>
              </a:lnSpc>
              <a:spcBef>
                <a:spcPts val="901"/>
              </a:spcBef>
              <a:spcAft>
                <a:spcPts val="0"/>
              </a:spcAft>
              <a:buClr>
                <a:srgbClr val="17262E"/>
              </a:buClr>
              <a:buSzPts val="1500"/>
              <a:buFont typeface="Noto Sans Symbols"/>
              <a:buChar char="●"/>
            </a:pPr>
            <a:r>
              <a:rPr b="0" lang="en-US" sz="15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global funciona, pero casi siempre indica un mal diseño.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15000"/>
              </a:lnSpc>
              <a:spcBef>
                <a:spcPts val="901"/>
              </a:spcBef>
              <a:spcAft>
                <a:spcPts val="0"/>
              </a:spcAft>
              <a:buClr>
                <a:srgbClr val="17262E"/>
              </a:buClr>
              <a:buSzPts val="1500"/>
              <a:buFont typeface="Noto Sans Symbols"/>
              <a:buChar char="●"/>
            </a:pPr>
            <a:r>
              <a:rPr b="0" lang="en-US" sz="15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Mejor: recibir por parámetro y devolver con return.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15000"/>
              </a:lnSpc>
              <a:spcBef>
                <a:spcPts val="901"/>
              </a:spcBef>
              <a:spcAft>
                <a:spcPts val="0"/>
              </a:spcAft>
              <a:buClr>
                <a:srgbClr val="17262E"/>
              </a:buClr>
              <a:buSzPts val="1500"/>
              <a:buFont typeface="Noto Sans Symbols"/>
              <a:buChar char="●"/>
            </a:pPr>
            <a:r>
              <a:rPr b="0" lang="en-US" sz="15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Regla LEGB: Local, Enclosing, Global, Builtins.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25"/>
          <p:cNvSpPr/>
          <p:nvPr/>
        </p:nvSpPr>
        <p:spPr>
          <a:xfrm>
            <a:off x="5943600" y="1444680"/>
            <a:ext cx="5667480" cy="3170160"/>
          </a:xfrm>
          <a:prstGeom prst="roundRect">
            <a:avLst>
              <a:gd fmla="val 2306" name="adj"/>
            </a:avLst>
          </a:prstGeom>
          <a:solidFill>
            <a:srgbClr val="10202B"/>
          </a:solidFill>
          <a:ln cap="flat" cmpd="sng" w="12700">
            <a:solidFill>
              <a:srgbClr val="102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25"/>
          <p:cNvSpPr/>
          <p:nvPr/>
        </p:nvSpPr>
        <p:spPr>
          <a:xfrm>
            <a:off x="6144840" y="1618560"/>
            <a:ext cx="94320" cy="94320"/>
          </a:xfrm>
          <a:prstGeom prst="ellipse">
            <a:avLst/>
          </a:prstGeom>
          <a:solidFill>
            <a:srgbClr val="E4B363"/>
          </a:solidFill>
          <a:ln cap="flat" cmpd="sng" w="12700">
            <a:solidFill>
              <a:srgbClr val="E4B3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25"/>
          <p:cNvSpPr/>
          <p:nvPr/>
        </p:nvSpPr>
        <p:spPr>
          <a:xfrm>
            <a:off x="6346080" y="1618560"/>
            <a:ext cx="94320" cy="94320"/>
          </a:xfrm>
          <a:prstGeom prst="ellipse">
            <a:avLst/>
          </a:prstGeom>
          <a:solidFill>
            <a:srgbClr val="17BEBB"/>
          </a:solidFill>
          <a:ln cap="flat" cmpd="sng" w="12700">
            <a:solidFill>
              <a:srgbClr val="17BE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25"/>
          <p:cNvSpPr/>
          <p:nvPr/>
        </p:nvSpPr>
        <p:spPr>
          <a:xfrm>
            <a:off x="6546960" y="1618560"/>
            <a:ext cx="94320" cy="94320"/>
          </a:xfrm>
          <a:prstGeom prst="ellipse">
            <a:avLst/>
          </a:prstGeom>
          <a:solidFill>
            <a:srgbClr val="3E5563"/>
          </a:solidFill>
          <a:ln cap="flat" cmpd="sng" w="12700">
            <a:solidFill>
              <a:srgbClr val="3E5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25"/>
          <p:cNvSpPr/>
          <p:nvPr/>
        </p:nvSpPr>
        <p:spPr>
          <a:xfrm>
            <a:off x="6812280" y="1545480"/>
            <a:ext cx="45702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E8390"/>
                </a:solidFill>
                <a:latin typeface="Courier New"/>
                <a:ea typeface="Courier New"/>
                <a:cs typeface="Courier New"/>
                <a:sym typeface="Courier New"/>
              </a:rPr>
              <a:t>ambito.py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25"/>
          <p:cNvSpPr/>
          <p:nvPr/>
        </p:nvSpPr>
        <p:spPr>
          <a:xfrm>
            <a:off x="6126480" y="1856160"/>
            <a:ext cx="5347440" cy="266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contador = </a:t>
            </a:r>
            <a:r>
              <a:rPr b="0" lang="en-US" sz="11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sumar():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contador = contador + </a:t>
            </a:r>
            <a:r>
              <a:rPr b="0" lang="en-US" sz="11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0" lang="en-US" sz="110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UnboundLocalError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sumar_ok(c):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c + </a:t>
            </a:r>
            <a:r>
              <a:rPr b="0" lang="en-US" sz="11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</a:t>
            </a:r>
            <a:r>
              <a:rPr b="0" lang="en-US" sz="110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sin efectos colaterales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contador = sumar_ok(contador)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UMBRAL = </a:t>
            </a:r>
            <a:r>
              <a:rPr b="0" lang="en-US" sz="11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0.5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</a:t>
            </a:r>
            <a:r>
              <a:rPr b="0" lang="en-US" sz="110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constante: leer, no tocar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clasificar(p):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lang="en-US" sz="110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"si"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p &gt; UMBRAL 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lang="en-US" sz="110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"no"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6"/>
          <p:cNvSpPr/>
          <p:nvPr/>
        </p:nvSpPr>
        <p:spPr>
          <a:xfrm>
            <a:off x="567000" y="384120"/>
            <a:ext cx="11053440" cy="27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 u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FUNCIONES COMO DATOS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26"/>
          <p:cNvSpPr/>
          <p:nvPr/>
        </p:nvSpPr>
        <p:spPr>
          <a:xfrm>
            <a:off x="567000" y="658440"/>
            <a:ext cx="11053440" cy="63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none" strike="noStrike">
                <a:solidFill>
                  <a:srgbClr val="17262E"/>
                </a:solidFill>
                <a:latin typeface="Cambria"/>
                <a:ea typeface="Cambria"/>
                <a:cs typeface="Cambria"/>
                <a:sym typeface="Cambria"/>
              </a:rPr>
              <a:t>lambda: funciones anónimas de una línea</a:t>
            </a:r>
            <a:endParaRPr b="0" sz="3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26"/>
          <p:cNvSpPr/>
          <p:nvPr/>
        </p:nvSpPr>
        <p:spPr>
          <a:xfrm>
            <a:off x="567000" y="1444680"/>
            <a:ext cx="5027400" cy="72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 u="none" strike="noStrike">
                <a:solidFill>
                  <a:srgbClr val="5A6B75"/>
                </a:solidFill>
                <a:latin typeface="Calibri"/>
                <a:ea typeface="Calibri"/>
                <a:cs typeface="Calibri"/>
                <a:sym typeface="Calibri"/>
              </a:rPr>
              <a:t>lambda parámetros: expresión. Sin nombre, sin return y sin bloque.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26"/>
          <p:cNvSpPr/>
          <p:nvPr/>
        </p:nvSpPr>
        <p:spPr>
          <a:xfrm>
            <a:off x="567000" y="2221920"/>
            <a:ext cx="5027400" cy="397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3080" lvl="0" marL="34308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262E"/>
              </a:buClr>
              <a:buSzPts val="1500"/>
              <a:buFont typeface="Noto Sans Symbols"/>
              <a:buChar char="●"/>
            </a:pPr>
            <a:r>
              <a:rPr b="0" lang="en-US" sz="15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Devuelve automáticamente el valor de la expresión.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15000"/>
              </a:lnSpc>
              <a:spcBef>
                <a:spcPts val="901"/>
              </a:spcBef>
              <a:spcAft>
                <a:spcPts val="0"/>
              </a:spcAft>
              <a:buClr>
                <a:srgbClr val="17262E"/>
              </a:buClr>
              <a:buSzPts val="1500"/>
              <a:buFont typeface="Noto Sans Symbols"/>
              <a:buChar char="●"/>
            </a:pPr>
            <a:r>
              <a:rPr b="0" lang="en-US" sz="15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Admite varios parámetros y valores por defecto.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15000"/>
              </a:lnSpc>
              <a:spcBef>
                <a:spcPts val="901"/>
              </a:spcBef>
              <a:spcAft>
                <a:spcPts val="0"/>
              </a:spcAft>
              <a:buClr>
                <a:srgbClr val="17262E"/>
              </a:buClr>
              <a:buSzPts val="1500"/>
              <a:buFont typeface="Noto Sans Symbols"/>
              <a:buChar char="●"/>
            </a:pPr>
            <a:r>
              <a:rPr b="0" lang="en-US" sz="15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Solo una expresión: ni bucles, ni asignaciones, ni varias líneas.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15000"/>
              </a:lnSpc>
              <a:spcBef>
                <a:spcPts val="901"/>
              </a:spcBef>
              <a:spcAft>
                <a:spcPts val="0"/>
              </a:spcAft>
              <a:buClr>
                <a:srgbClr val="17262E"/>
              </a:buClr>
              <a:buSzPts val="1500"/>
              <a:buFont typeface="Noto Sans Symbols"/>
              <a:buChar char="●"/>
            </a:pPr>
            <a:r>
              <a:rPr b="0" lang="en-US" sz="15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Si hay que nombrarla o reutilizarla, usa def.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26"/>
          <p:cNvSpPr/>
          <p:nvPr/>
        </p:nvSpPr>
        <p:spPr>
          <a:xfrm>
            <a:off x="5943600" y="1444680"/>
            <a:ext cx="5667480" cy="2984040"/>
          </a:xfrm>
          <a:prstGeom prst="roundRect">
            <a:avLst>
              <a:gd fmla="val 2450" name="adj"/>
            </a:avLst>
          </a:prstGeom>
          <a:solidFill>
            <a:srgbClr val="10202B"/>
          </a:solidFill>
          <a:ln cap="flat" cmpd="sng" w="12700">
            <a:solidFill>
              <a:srgbClr val="102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26"/>
          <p:cNvSpPr/>
          <p:nvPr/>
        </p:nvSpPr>
        <p:spPr>
          <a:xfrm>
            <a:off x="6144840" y="1618560"/>
            <a:ext cx="94320" cy="94320"/>
          </a:xfrm>
          <a:prstGeom prst="ellipse">
            <a:avLst/>
          </a:prstGeom>
          <a:solidFill>
            <a:srgbClr val="E4B363"/>
          </a:solidFill>
          <a:ln cap="flat" cmpd="sng" w="12700">
            <a:solidFill>
              <a:srgbClr val="E4B3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26"/>
          <p:cNvSpPr/>
          <p:nvPr/>
        </p:nvSpPr>
        <p:spPr>
          <a:xfrm>
            <a:off x="6346080" y="1618560"/>
            <a:ext cx="94320" cy="94320"/>
          </a:xfrm>
          <a:prstGeom prst="ellipse">
            <a:avLst/>
          </a:prstGeom>
          <a:solidFill>
            <a:srgbClr val="17BEBB"/>
          </a:solidFill>
          <a:ln cap="flat" cmpd="sng" w="12700">
            <a:solidFill>
              <a:srgbClr val="17BE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26"/>
          <p:cNvSpPr/>
          <p:nvPr/>
        </p:nvSpPr>
        <p:spPr>
          <a:xfrm>
            <a:off x="6546960" y="1618560"/>
            <a:ext cx="94320" cy="94320"/>
          </a:xfrm>
          <a:prstGeom prst="ellipse">
            <a:avLst/>
          </a:prstGeom>
          <a:solidFill>
            <a:srgbClr val="3E5563"/>
          </a:solidFill>
          <a:ln cap="flat" cmpd="sng" w="12700">
            <a:solidFill>
              <a:srgbClr val="3E5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26"/>
          <p:cNvSpPr/>
          <p:nvPr/>
        </p:nvSpPr>
        <p:spPr>
          <a:xfrm>
            <a:off x="6812280" y="1545480"/>
            <a:ext cx="45702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E8390"/>
                </a:solidFill>
                <a:latin typeface="Courier New"/>
                <a:ea typeface="Courier New"/>
                <a:cs typeface="Courier New"/>
                <a:sym typeface="Courier New"/>
              </a:rPr>
              <a:t>lambda.py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26"/>
          <p:cNvSpPr/>
          <p:nvPr/>
        </p:nvSpPr>
        <p:spPr>
          <a:xfrm>
            <a:off x="6126480" y="1856160"/>
            <a:ext cx="5347440" cy="2481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cuadrado(x):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x ** </a:t>
            </a:r>
            <a:r>
              <a:rPr b="0" lang="en-US" sz="11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cuadrado = 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lambda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x: x ** </a:t>
            </a:r>
            <a:r>
              <a:rPr b="0" lang="en-US" sz="11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0" lang="en-US" sz="110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equivalente, desaconsejado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lambda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a, b: a + b)(</a:t>
            </a:r>
            <a:r>
              <a:rPr b="0" lang="en-US" sz="11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   </a:t>
            </a:r>
            <a:r>
              <a:rPr b="0" lang="en-US" sz="110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5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lambda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x, n=</a:t>
            </a:r>
            <a:r>
              <a:rPr b="0" lang="en-US" sz="11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 x ** n)(</a:t>
            </a:r>
            <a:r>
              <a:rPr b="0" lang="en-US" sz="11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   </a:t>
            </a:r>
            <a:r>
              <a:rPr b="0" lang="en-US" sz="110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9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paridad = 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lambda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n: </a:t>
            </a:r>
            <a:r>
              <a:rPr b="0" lang="en-US" sz="110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"par"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n % </a:t>
            </a:r>
            <a:r>
              <a:rPr b="0" lang="en-US" sz="11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== </a:t>
            </a:r>
            <a:r>
              <a:rPr b="0" lang="en-US" sz="11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lang="en-US" sz="110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"impar"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OPS = {</a:t>
            </a:r>
            <a:r>
              <a:rPr b="0" lang="en-US" sz="110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"suma"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  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lambda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a, b: a + b,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0" lang="en-US" sz="110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"resta"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lambda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a, b: a - b}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OPS[</a:t>
            </a:r>
            <a:r>
              <a:rPr b="0" lang="en-US" sz="110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"resta"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](</a:t>
            </a:r>
            <a:r>
              <a:rPr b="0" lang="en-US" sz="11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           </a:t>
            </a:r>
            <a:r>
              <a:rPr b="0" lang="en-US" sz="110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3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7"/>
          <p:cNvSpPr/>
          <p:nvPr/>
        </p:nvSpPr>
        <p:spPr>
          <a:xfrm>
            <a:off x="567000" y="384120"/>
            <a:ext cx="11053440" cy="27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 u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LAMBDA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27"/>
          <p:cNvSpPr/>
          <p:nvPr/>
        </p:nvSpPr>
        <p:spPr>
          <a:xfrm>
            <a:off x="567000" y="658440"/>
            <a:ext cx="11053440" cy="63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none" strike="noStrike">
                <a:solidFill>
                  <a:srgbClr val="17262E"/>
                </a:solidFill>
                <a:latin typeface="Cambria"/>
                <a:ea typeface="Cambria"/>
                <a:cs typeface="Cambria"/>
                <a:sym typeface="Cambria"/>
              </a:rPr>
              <a:t>Donde brilla lambda: como argumento</a:t>
            </a:r>
            <a:endParaRPr b="0" sz="3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27"/>
          <p:cNvSpPr/>
          <p:nvPr/>
        </p:nvSpPr>
        <p:spPr>
          <a:xfrm>
            <a:off x="567000" y="1417320"/>
            <a:ext cx="11053440" cy="3483360"/>
          </a:xfrm>
          <a:prstGeom prst="roundRect">
            <a:avLst>
              <a:gd fmla="val 2099" name="adj"/>
            </a:avLst>
          </a:prstGeom>
          <a:solidFill>
            <a:srgbClr val="10202B"/>
          </a:solidFill>
          <a:ln cap="flat" cmpd="sng" w="12700">
            <a:solidFill>
              <a:srgbClr val="102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27"/>
          <p:cNvSpPr/>
          <p:nvPr/>
        </p:nvSpPr>
        <p:spPr>
          <a:xfrm>
            <a:off x="768240" y="1591200"/>
            <a:ext cx="94320" cy="94320"/>
          </a:xfrm>
          <a:prstGeom prst="ellipse">
            <a:avLst/>
          </a:prstGeom>
          <a:solidFill>
            <a:srgbClr val="E4B363"/>
          </a:solidFill>
          <a:ln cap="flat" cmpd="sng" w="12700">
            <a:solidFill>
              <a:srgbClr val="E4B3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27"/>
          <p:cNvSpPr/>
          <p:nvPr/>
        </p:nvSpPr>
        <p:spPr>
          <a:xfrm>
            <a:off x="969120" y="1591200"/>
            <a:ext cx="94320" cy="94320"/>
          </a:xfrm>
          <a:prstGeom prst="ellipse">
            <a:avLst/>
          </a:prstGeom>
          <a:solidFill>
            <a:srgbClr val="17BEBB"/>
          </a:solidFill>
          <a:ln cap="flat" cmpd="sng" w="12700">
            <a:solidFill>
              <a:srgbClr val="17BE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27"/>
          <p:cNvSpPr/>
          <p:nvPr/>
        </p:nvSpPr>
        <p:spPr>
          <a:xfrm>
            <a:off x="1170360" y="1591200"/>
            <a:ext cx="94320" cy="94320"/>
          </a:xfrm>
          <a:prstGeom prst="ellipse">
            <a:avLst/>
          </a:prstGeom>
          <a:solidFill>
            <a:srgbClr val="3E5563"/>
          </a:solidFill>
          <a:ln cap="flat" cmpd="sng" w="12700">
            <a:solidFill>
              <a:srgbClr val="3E5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27"/>
          <p:cNvSpPr/>
          <p:nvPr/>
        </p:nvSpPr>
        <p:spPr>
          <a:xfrm>
            <a:off x="1435680" y="1517760"/>
            <a:ext cx="995616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E8390"/>
                </a:solidFill>
                <a:latin typeface="Courier New"/>
                <a:ea typeface="Courier New"/>
                <a:cs typeface="Courier New"/>
                <a:sym typeface="Courier New"/>
              </a:rPr>
              <a:t>lambda_key.py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27"/>
          <p:cNvSpPr/>
          <p:nvPr/>
        </p:nvSpPr>
        <p:spPr>
          <a:xfrm>
            <a:off x="749880" y="1828800"/>
            <a:ext cx="10733400" cy="2980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alumnos = [{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"nombre"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"ana"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"nota"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7.5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"edad"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22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},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{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"nombre"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"leo"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"nota"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9.0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"edad"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19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},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{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"nombre"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"eva"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"nota"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7.5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"edad"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20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}]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sorted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(alumnos, key=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lambda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a: a[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"nota"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], reverse=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  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nota descendente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sorted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(alumnos, key=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lambda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a: (-a[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"nota"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], a[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"nombre"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])) 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nota desc., nombre asc.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max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(alumnos, key=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lambda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a: a[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"nota"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])[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"nombre"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          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'leo'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min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(alumnos, key=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lambda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a: a[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"edad"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])                     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la persona más joven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palabras = [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"modelo"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"IA"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"red"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"neurona"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sorted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(palabras, key=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                      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una función existente también vale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sorted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(palabras, key=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lambda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p: p.lower())       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sin distinguir mayúsculas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puntos = [(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), (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), (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)]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sorted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(puntos, key=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lambda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p: (p[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 **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+ p[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 **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**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0.5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 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distancia al origen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27"/>
          <p:cNvSpPr/>
          <p:nvPr/>
        </p:nvSpPr>
        <p:spPr>
          <a:xfrm>
            <a:off x="567000" y="5131080"/>
            <a:ext cx="11053440" cy="656640"/>
          </a:xfrm>
          <a:prstGeom prst="roundRect">
            <a:avLst>
              <a:gd fmla="val 8333" name="adj"/>
            </a:avLst>
          </a:prstGeom>
          <a:solidFill>
            <a:srgbClr val="EDF3F3"/>
          </a:solidFill>
          <a:ln cap="flat" cmpd="sng" w="12700">
            <a:solidFill>
              <a:srgbClr val="ED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27"/>
          <p:cNvSpPr/>
          <p:nvPr/>
        </p:nvSpPr>
        <p:spPr>
          <a:xfrm>
            <a:off x="768240" y="5131080"/>
            <a:ext cx="10641960" cy="656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key=lambda es el uso número uno de lambda.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8"/>
          <p:cNvSpPr/>
          <p:nvPr/>
        </p:nvSpPr>
        <p:spPr>
          <a:xfrm>
            <a:off x="567000" y="384120"/>
            <a:ext cx="11053440" cy="27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 u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MAP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28"/>
          <p:cNvSpPr/>
          <p:nvPr/>
        </p:nvSpPr>
        <p:spPr>
          <a:xfrm>
            <a:off x="567000" y="658440"/>
            <a:ext cx="11053440" cy="63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none" strike="noStrike">
                <a:solidFill>
                  <a:srgbClr val="17262E"/>
                </a:solidFill>
                <a:latin typeface="Cambria"/>
                <a:ea typeface="Cambria"/>
                <a:cs typeface="Cambria"/>
                <a:sym typeface="Cambria"/>
              </a:rPr>
              <a:t>map: aplicar una función a cada elemento</a:t>
            </a:r>
            <a:endParaRPr b="0" sz="3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28"/>
          <p:cNvSpPr/>
          <p:nvPr/>
        </p:nvSpPr>
        <p:spPr>
          <a:xfrm>
            <a:off x="567000" y="1371600"/>
            <a:ext cx="11053440" cy="36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 u="none" strike="noStrike">
                <a:solidFill>
                  <a:srgbClr val="5A6B75"/>
                </a:solidFill>
                <a:latin typeface="Calibri"/>
                <a:ea typeface="Calibri"/>
                <a:cs typeface="Calibri"/>
                <a:sym typeface="Calibri"/>
              </a:rPr>
              <a:t>map(función, iterable) devuelve un iterador con la función aplicada a cada elemento.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28"/>
          <p:cNvSpPr/>
          <p:nvPr/>
        </p:nvSpPr>
        <p:spPr>
          <a:xfrm>
            <a:off x="567000" y="1828800"/>
            <a:ext cx="11053440" cy="3094200"/>
          </a:xfrm>
          <a:prstGeom prst="roundRect">
            <a:avLst>
              <a:gd fmla="val 2363" name="adj"/>
            </a:avLst>
          </a:prstGeom>
          <a:solidFill>
            <a:srgbClr val="10202B"/>
          </a:solidFill>
          <a:ln cap="flat" cmpd="sng" w="12700">
            <a:solidFill>
              <a:srgbClr val="102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28"/>
          <p:cNvSpPr/>
          <p:nvPr/>
        </p:nvSpPr>
        <p:spPr>
          <a:xfrm>
            <a:off x="768240" y="2002680"/>
            <a:ext cx="94320" cy="94320"/>
          </a:xfrm>
          <a:prstGeom prst="ellipse">
            <a:avLst/>
          </a:prstGeom>
          <a:solidFill>
            <a:srgbClr val="E4B363"/>
          </a:solidFill>
          <a:ln cap="flat" cmpd="sng" w="12700">
            <a:solidFill>
              <a:srgbClr val="E4B3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28"/>
          <p:cNvSpPr/>
          <p:nvPr/>
        </p:nvSpPr>
        <p:spPr>
          <a:xfrm>
            <a:off x="969120" y="2002680"/>
            <a:ext cx="94320" cy="94320"/>
          </a:xfrm>
          <a:prstGeom prst="ellipse">
            <a:avLst/>
          </a:prstGeom>
          <a:solidFill>
            <a:srgbClr val="17BEBB"/>
          </a:solidFill>
          <a:ln cap="flat" cmpd="sng" w="12700">
            <a:solidFill>
              <a:srgbClr val="17BE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28"/>
          <p:cNvSpPr/>
          <p:nvPr/>
        </p:nvSpPr>
        <p:spPr>
          <a:xfrm>
            <a:off x="1170360" y="2002680"/>
            <a:ext cx="94320" cy="94320"/>
          </a:xfrm>
          <a:prstGeom prst="ellipse">
            <a:avLst/>
          </a:prstGeom>
          <a:solidFill>
            <a:srgbClr val="3E5563"/>
          </a:solidFill>
          <a:ln cap="flat" cmpd="sng" w="12700">
            <a:solidFill>
              <a:srgbClr val="3E5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28"/>
          <p:cNvSpPr/>
          <p:nvPr/>
        </p:nvSpPr>
        <p:spPr>
          <a:xfrm>
            <a:off x="1435680" y="1929240"/>
            <a:ext cx="995616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E8390"/>
                </a:solidFill>
                <a:latin typeface="Courier New"/>
                <a:ea typeface="Courier New"/>
                <a:cs typeface="Courier New"/>
                <a:sym typeface="Courier New"/>
              </a:rPr>
              <a:t>map.py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28"/>
          <p:cNvSpPr/>
          <p:nvPr/>
        </p:nvSpPr>
        <p:spPr>
          <a:xfrm>
            <a:off x="749880" y="2240280"/>
            <a:ext cx="10733400" cy="2591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precios = [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10.0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24.5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8.99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con_iva = 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map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lambda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p: 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round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(p *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1.21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), precios)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(con_iva)         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&lt;map object at 0x...&gt;   es perezoso, como range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(con_iva))   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[12.1, 29.64, 10.88]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map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float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[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"3.5"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"2"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"7.1"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]))      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[3.5, 2.0, 7.1]   función existente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map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str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.upper, [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"ana"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"leo"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]))       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['ANA', 'LEO']    método como función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a, b = [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], [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20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30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map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lambda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x, y: x + y, a, b))        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[11, 22, 33]   varios iterables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round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(p *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1.21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p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precios]     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equivalente con comprensión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28"/>
          <p:cNvSpPr/>
          <p:nvPr/>
        </p:nvSpPr>
        <p:spPr>
          <a:xfrm>
            <a:off x="567000" y="5153400"/>
            <a:ext cx="11053440" cy="656640"/>
          </a:xfrm>
          <a:prstGeom prst="roundRect">
            <a:avLst>
              <a:gd fmla="val 8333" name="adj"/>
            </a:avLst>
          </a:prstGeom>
          <a:solidFill>
            <a:srgbClr val="EDF3F3"/>
          </a:solidFill>
          <a:ln cap="flat" cmpd="sng" w="12700">
            <a:solidFill>
              <a:srgbClr val="ED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28"/>
          <p:cNvSpPr/>
          <p:nvPr/>
        </p:nvSpPr>
        <p:spPr>
          <a:xfrm>
            <a:off x="768240" y="5153400"/>
            <a:ext cx="10641960" cy="656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map devuelve un iterador que se consume una sola vez: si haces list() dos veces sobre el mismo objeto, la segunda lista sale vacía.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9"/>
          <p:cNvSpPr/>
          <p:nvPr/>
        </p:nvSpPr>
        <p:spPr>
          <a:xfrm>
            <a:off x="567000" y="384120"/>
            <a:ext cx="11053440" cy="27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 u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FILTER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29"/>
          <p:cNvSpPr/>
          <p:nvPr/>
        </p:nvSpPr>
        <p:spPr>
          <a:xfrm>
            <a:off x="567000" y="658440"/>
            <a:ext cx="11053440" cy="63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none" strike="noStrike">
                <a:solidFill>
                  <a:srgbClr val="17262E"/>
                </a:solidFill>
                <a:latin typeface="Cambria"/>
                <a:ea typeface="Cambria"/>
                <a:cs typeface="Cambria"/>
                <a:sym typeface="Cambria"/>
              </a:rPr>
              <a:t>filter: quedarse con los que cumplen</a:t>
            </a:r>
            <a:endParaRPr b="0" sz="3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29"/>
          <p:cNvSpPr/>
          <p:nvPr/>
        </p:nvSpPr>
        <p:spPr>
          <a:xfrm>
            <a:off x="567000" y="1371600"/>
            <a:ext cx="11053440" cy="36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 u="none" strike="noStrike">
                <a:solidFill>
                  <a:srgbClr val="5A6B75"/>
                </a:solidFill>
                <a:latin typeface="Calibri"/>
                <a:ea typeface="Calibri"/>
                <a:cs typeface="Calibri"/>
                <a:sym typeface="Calibri"/>
              </a:rPr>
              <a:t>filter(función, iterable) conserva los elementos para los que la función devuelve algo verdadero.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29"/>
          <p:cNvSpPr/>
          <p:nvPr/>
        </p:nvSpPr>
        <p:spPr>
          <a:xfrm>
            <a:off x="567000" y="1828800"/>
            <a:ext cx="11053440" cy="3356280"/>
          </a:xfrm>
          <a:prstGeom prst="roundRect">
            <a:avLst>
              <a:gd fmla="val 2178" name="adj"/>
            </a:avLst>
          </a:prstGeom>
          <a:solidFill>
            <a:srgbClr val="10202B"/>
          </a:solidFill>
          <a:ln cap="flat" cmpd="sng" w="12700">
            <a:solidFill>
              <a:srgbClr val="102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29"/>
          <p:cNvSpPr/>
          <p:nvPr/>
        </p:nvSpPr>
        <p:spPr>
          <a:xfrm>
            <a:off x="768240" y="2002680"/>
            <a:ext cx="94320" cy="94320"/>
          </a:xfrm>
          <a:prstGeom prst="ellipse">
            <a:avLst/>
          </a:prstGeom>
          <a:solidFill>
            <a:srgbClr val="E4B363"/>
          </a:solidFill>
          <a:ln cap="flat" cmpd="sng" w="12700">
            <a:solidFill>
              <a:srgbClr val="E4B3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29"/>
          <p:cNvSpPr/>
          <p:nvPr/>
        </p:nvSpPr>
        <p:spPr>
          <a:xfrm>
            <a:off x="969120" y="2002680"/>
            <a:ext cx="94320" cy="94320"/>
          </a:xfrm>
          <a:prstGeom prst="ellipse">
            <a:avLst/>
          </a:prstGeom>
          <a:solidFill>
            <a:srgbClr val="17BEBB"/>
          </a:solidFill>
          <a:ln cap="flat" cmpd="sng" w="12700">
            <a:solidFill>
              <a:srgbClr val="17BE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29"/>
          <p:cNvSpPr/>
          <p:nvPr/>
        </p:nvSpPr>
        <p:spPr>
          <a:xfrm>
            <a:off x="1170360" y="2002680"/>
            <a:ext cx="94320" cy="94320"/>
          </a:xfrm>
          <a:prstGeom prst="ellipse">
            <a:avLst/>
          </a:prstGeom>
          <a:solidFill>
            <a:srgbClr val="3E5563"/>
          </a:solidFill>
          <a:ln cap="flat" cmpd="sng" w="12700">
            <a:solidFill>
              <a:srgbClr val="3E5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29"/>
          <p:cNvSpPr/>
          <p:nvPr/>
        </p:nvSpPr>
        <p:spPr>
          <a:xfrm>
            <a:off x="1435680" y="1929240"/>
            <a:ext cx="995616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E8390"/>
                </a:solidFill>
                <a:latin typeface="Courier New"/>
                <a:ea typeface="Courier New"/>
                <a:cs typeface="Courier New"/>
                <a:sym typeface="Courier New"/>
              </a:rPr>
              <a:t>filter.py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29"/>
          <p:cNvSpPr/>
          <p:nvPr/>
        </p:nvSpPr>
        <p:spPr>
          <a:xfrm>
            <a:off x="749880" y="2240280"/>
            <a:ext cx="10733400" cy="285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notas = [</a:t>
            </a:r>
            <a:r>
              <a:rPr b="0" lang="en-US" sz="11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7.5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4.0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9.2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5.5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3.9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8.1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aprobadas = </a:t>
            </a:r>
            <a:r>
              <a:rPr b="0" lang="en-US" sz="110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lang="en-US" sz="110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filter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lambda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n: n &gt;= </a:t>
            </a:r>
            <a:r>
              <a:rPr b="0" lang="en-US" sz="11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notas))   </a:t>
            </a:r>
            <a:r>
              <a:rPr b="0" lang="en-US" sz="110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[7.5, 9.2, 5.5, 8.1]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palabras = [</a:t>
            </a:r>
            <a:r>
              <a:rPr b="0" lang="en-US" sz="110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"dato"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0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""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0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"modelo"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0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"red"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0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""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lang="en-US" sz="110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filter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palabras))    </a:t>
            </a:r>
            <a:r>
              <a:rPr b="0" lang="en-US" sz="110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['dato', 'modelo', 'red']   quita los "falsos"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registros = [{</a:t>
            </a:r>
            <a:r>
              <a:rPr b="0" lang="en-US" sz="110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"clase"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lang="en-US" sz="110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"setosa"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0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"largo"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lang="en-US" sz="11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5.1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},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{</a:t>
            </a:r>
            <a:r>
              <a:rPr b="0" lang="en-US" sz="110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"clase"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lang="en-US" sz="110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"virginica"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0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"largo"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},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{</a:t>
            </a:r>
            <a:r>
              <a:rPr b="0" lang="en-US" sz="110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"clase"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lang="en-US" sz="110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"setosa"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0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"largo"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lang="en-US" sz="11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4.9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}]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validos = </a:t>
            </a:r>
            <a:r>
              <a:rPr b="0" lang="en-US" sz="110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lang="en-US" sz="110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filter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lambda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r: r[</a:t>
            </a:r>
            <a:r>
              <a:rPr b="0" lang="en-US" sz="110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"largo"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is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not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registros))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map y filter encadenados: cuadrados de los pares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lang="en-US" sz="110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map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lambda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x: x ** </a:t>
            </a:r>
            <a:r>
              <a:rPr b="0" lang="en-US" sz="11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0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filter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lambda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x: x % </a:t>
            </a:r>
            <a:r>
              <a:rPr b="0" lang="en-US" sz="11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== </a:t>
            </a:r>
            <a:r>
              <a:rPr b="0" lang="en-US" sz="11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0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range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lang="en-US" sz="11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))))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[0, 4, 16, 36, 64]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[x ** </a:t>
            </a:r>
            <a:r>
              <a:rPr b="0" lang="en-US" sz="11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x 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lang="en-US" sz="110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range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lang="en-US" sz="11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lang="en-US" sz="110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x % </a:t>
            </a:r>
            <a:r>
              <a:rPr b="0" lang="en-US" sz="11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== </a:t>
            </a:r>
            <a:r>
              <a:rPr b="0" lang="en-US" sz="110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lang="en-US" sz="110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           </a:t>
            </a:r>
            <a:r>
              <a:rPr b="0" lang="en-US" sz="110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lo mismo, comprensión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29"/>
          <p:cNvSpPr/>
          <p:nvPr/>
        </p:nvSpPr>
        <p:spPr>
          <a:xfrm>
            <a:off x="567000" y="5415480"/>
            <a:ext cx="11053440" cy="656640"/>
          </a:xfrm>
          <a:prstGeom prst="roundRect">
            <a:avLst>
              <a:gd fmla="val 8333" name="adj"/>
            </a:avLst>
          </a:prstGeom>
          <a:solidFill>
            <a:srgbClr val="EDF3F3"/>
          </a:solidFill>
          <a:ln cap="flat" cmpd="sng" w="12700">
            <a:solidFill>
              <a:srgbClr val="ED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29"/>
          <p:cNvSpPr/>
          <p:nvPr/>
        </p:nvSpPr>
        <p:spPr>
          <a:xfrm>
            <a:off x="768240" y="5415480"/>
            <a:ext cx="10641960" cy="656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filter(None, datos) es un atajo habitual para descartar valores vacíos antes de procesar un dataset.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0"/>
          <p:cNvSpPr/>
          <p:nvPr/>
        </p:nvSpPr>
        <p:spPr>
          <a:xfrm>
            <a:off x="567000" y="384120"/>
            <a:ext cx="11053440" cy="27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 u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REDUCE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30"/>
          <p:cNvSpPr/>
          <p:nvPr/>
        </p:nvSpPr>
        <p:spPr>
          <a:xfrm>
            <a:off x="567000" y="658440"/>
            <a:ext cx="11053440" cy="63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none" strike="noStrike">
                <a:solidFill>
                  <a:srgbClr val="17262E"/>
                </a:solidFill>
                <a:latin typeface="Cambria"/>
                <a:ea typeface="Cambria"/>
                <a:cs typeface="Cambria"/>
                <a:sym typeface="Cambria"/>
              </a:rPr>
              <a:t>reduce: acumular hasta un único valor</a:t>
            </a:r>
            <a:endParaRPr b="0" sz="3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30"/>
          <p:cNvSpPr/>
          <p:nvPr/>
        </p:nvSpPr>
        <p:spPr>
          <a:xfrm>
            <a:off x="567000" y="1371600"/>
            <a:ext cx="11053440" cy="36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 u="none" strike="noStrike">
                <a:solidFill>
                  <a:srgbClr val="5A6B75"/>
                </a:solidFill>
                <a:latin typeface="Calibri"/>
                <a:ea typeface="Calibri"/>
                <a:cs typeface="Calibri"/>
                <a:sym typeface="Calibri"/>
              </a:rPr>
              <a:t>reduce(función, iterable, inicial) combina los elementos de dos en dos arrastrando el resultado.</a:t>
            </a:r>
            <a:endParaRPr b="0" sz="1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30"/>
          <p:cNvSpPr/>
          <p:nvPr/>
        </p:nvSpPr>
        <p:spPr>
          <a:xfrm>
            <a:off x="567000" y="1828800"/>
            <a:ext cx="11053440" cy="3483360"/>
          </a:xfrm>
          <a:prstGeom prst="roundRect">
            <a:avLst>
              <a:gd fmla="val 2099" name="adj"/>
            </a:avLst>
          </a:prstGeom>
          <a:solidFill>
            <a:srgbClr val="10202B"/>
          </a:solidFill>
          <a:ln cap="flat" cmpd="sng" w="12700">
            <a:solidFill>
              <a:srgbClr val="102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30"/>
          <p:cNvSpPr/>
          <p:nvPr/>
        </p:nvSpPr>
        <p:spPr>
          <a:xfrm>
            <a:off x="768240" y="2002680"/>
            <a:ext cx="94320" cy="94320"/>
          </a:xfrm>
          <a:prstGeom prst="ellipse">
            <a:avLst/>
          </a:prstGeom>
          <a:solidFill>
            <a:srgbClr val="E4B363"/>
          </a:solidFill>
          <a:ln cap="flat" cmpd="sng" w="12700">
            <a:solidFill>
              <a:srgbClr val="E4B3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30"/>
          <p:cNvSpPr/>
          <p:nvPr/>
        </p:nvSpPr>
        <p:spPr>
          <a:xfrm>
            <a:off x="969120" y="2002680"/>
            <a:ext cx="94320" cy="94320"/>
          </a:xfrm>
          <a:prstGeom prst="ellipse">
            <a:avLst/>
          </a:prstGeom>
          <a:solidFill>
            <a:srgbClr val="17BEBB"/>
          </a:solidFill>
          <a:ln cap="flat" cmpd="sng" w="12700">
            <a:solidFill>
              <a:srgbClr val="17BE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30"/>
          <p:cNvSpPr/>
          <p:nvPr/>
        </p:nvSpPr>
        <p:spPr>
          <a:xfrm>
            <a:off x="1170360" y="2002680"/>
            <a:ext cx="94320" cy="94320"/>
          </a:xfrm>
          <a:prstGeom prst="ellipse">
            <a:avLst/>
          </a:prstGeom>
          <a:solidFill>
            <a:srgbClr val="3E5563"/>
          </a:solidFill>
          <a:ln cap="flat" cmpd="sng" w="12700">
            <a:solidFill>
              <a:srgbClr val="3E5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30"/>
          <p:cNvSpPr/>
          <p:nvPr/>
        </p:nvSpPr>
        <p:spPr>
          <a:xfrm>
            <a:off x="1435680" y="1929240"/>
            <a:ext cx="995616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E8390"/>
                </a:solidFill>
                <a:latin typeface="Courier New"/>
                <a:ea typeface="Courier New"/>
                <a:cs typeface="Courier New"/>
                <a:sym typeface="Courier New"/>
              </a:rPr>
              <a:t>reduce.py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30"/>
          <p:cNvSpPr/>
          <p:nvPr/>
        </p:nvSpPr>
        <p:spPr>
          <a:xfrm>
            <a:off x="749880" y="2240280"/>
            <a:ext cx="10733400" cy="2980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functools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reduce         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desde Python 3 no es integrada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reduce(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lambda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acc, x: acc + x, [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])        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10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paso a paso: ((1 + 2) + 3) + 4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reduce(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lambda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acc, x: acc * x, [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],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    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24   producto, empieza en 1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reduce(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lambda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a, b: a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a &gt; b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b, [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])  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9    máximo manual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palabras = [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"python"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"para"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"ia"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reduce(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lambda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acc, p: acc + 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len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(p), palabras,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   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12   acc empieza en 0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conteos = [{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"a"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}, {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"b"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}, {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"a"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}]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reduce(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lambda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t, d: {**t, **d}, conteos, {})         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{'a': 3, 'b': 2}  fusiona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Casi siempre hay algo más claro: sum(), math.prod(), max(), "".join()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30"/>
          <p:cNvSpPr/>
          <p:nvPr/>
        </p:nvSpPr>
        <p:spPr>
          <a:xfrm>
            <a:off x="567000" y="5542560"/>
            <a:ext cx="11053440" cy="656640"/>
          </a:xfrm>
          <a:prstGeom prst="roundRect">
            <a:avLst>
              <a:gd fmla="val 8333" name="adj"/>
            </a:avLst>
          </a:prstGeom>
          <a:solidFill>
            <a:srgbClr val="EDF3F3"/>
          </a:solidFill>
          <a:ln cap="flat" cmpd="sng" w="12700">
            <a:solidFill>
              <a:srgbClr val="ED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30"/>
          <p:cNvSpPr/>
          <p:nvPr/>
        </p:nvSpPr>
        <p:spPr>
          <a:xfrm>
            <a:off x="768240" y="5542560"/>
            <a:ext cx="10641960" cy="656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Cuidado: </a:t>
            </a:r>
            <a:r>
              <a:rPr b="0" lang="en-US" sz="14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sin valor inicial, reduce lanza TypeError con una lista vacía. Pon siempre el inicial si la lista puede llegar vacía.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1"/>
          <p:cNvSpPr/>
          <p:nvPr/>
        </p:nvSpPr>
        <p:spPr>
          <a:xfrm>
            <a:off x="567000" y="384120"/>
            <a:ext cx="11053440" cy="27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 u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ESTILOS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31"/>
          <p:cNvSpPr/>
          <p:nvPr/>
        </p:nvSpPr>
        <p:spPr>
          <a:xfrm>
            <a:off x="567000" y="658440"/>
            <a:ext cx="11053440" cy="63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none" strike="noStrike">
                <a:solidFill>
                  <a:srgbClr val="17262E"/>
                </a:solidFill>
                <a:latin typeface="Cambria"/>
                <a:ea typeface="Cambria"/>
                <a:cs typeface="Cambria"/>
                <a:sym typeface="Cambria"/>
              </a:rPr>
              <a:t>El mismo cálculo, dos estilos</a:t>
            </a:r>
            <a:endParaRPr b="0" sz="3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31"/>
          <p:cNvSpPr/>
          <p:nvPr/>
        </p:nvSpPr>
        <p:spPr>
          <a:xfrm>
            <a:off x="585360" y="1417320"/>
            <a:ext cx="5342760" cy="29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5A6B75"/>
                </a:solidFill>
                <a:latin typeface="Calibri"/>
                <a:ea typeface="Calibri"/>
                <a:cs typeface="Calibri"/>
                <a:sym typeface="Calibri"/>
              </a:rPr>
              <a:t>Funcional: filter + map + reduce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31"/>
          <p:cNvSpPr/>
          <p:nvPr/>
        </p:nvSpPr>
        <p:spPr>
          <a:xfrm>
            <a:off x="567000" y="1783080"/>
            <a:ext cx="5342760" cy="2510640"/>
          </a:xfrm>
          <a:prstGeom prst="roundRect">
            <a:avLst>
              <a:gd fmla="val 2912" name="adj"/>
            </a:avLst>
          </a:prstGeom>
          <a:solidFill>
            <a:srgbClr val="10202B"/>
          </a:solidFill>
          <a:ln cap="flat" cmpd="sng" w="12700">
            <a:solidFill>
              <a:srgbClr val="102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31"/>
          <p:cNvSpPr/>
          <p:nvPr/>
        </p:nvSpPr>
        <p:spPr>
          <a:xfrm>
            <a:off x="768240" y="1956960"/>
            <a:ext cx="94320" cy="94320"/>
          </a:xfrm>
          <a:prstGeom prst="ellipse">
            <a:avLst/>
          </a:prstGeom>
          <a:solidFill>
            <a:srgbClr val="E4B363"/>
          </a:solidFill>
          <a:ln cap="flat" cmpd="sng" w="12700">
            <a:solidFill>
              <a:srgbClr val="E4B3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31"/>
          <p:cNvSpPr/>
          <p:nvPr/>
        </p:nvSpPr>
        <p:spPr>
          <a:xfrm>
            <a:off x="969120" y="1956960"/>
            <a:ext cx="94320" cy="94320"/>
          </a:xfrm>
          <a:prstGeom prst="ellipse">
            <a:avLst/>
          </a:prstGeom>
          <a:solidFill>
            <a:srgbClr val="17BEBB"/>
          </a:solidFill>
          <a:ln cap="flat" cmpd="sng" w="12700">
            <a:solidFill>
              <a:srgbClr val="17BE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31"/>
          <p:cNvSpPr/>
          <p:nvPr/>
        </p:nvSpPr>
        <p:spPr>
          <a:xfrm>
            <a:off x="1170360" y="1956960"/>
            <a:ext cx="94320" cy="94320"/>
          </a:xfrm>
          <a:prstGeom prst="ellipse">
            <a:avLst/>
          </a:prstGeom>
          <a:solidFill>
            <a:srgbClr val="3E5563"/>
          </a:solidFill>
          <a:ln cap="flat" cmpd="sng" w="12700">
            <a:solidFill>
              <a:srgbClr val="3E5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31"/>
          <p:cNvSpPr/>
          <p:nvPr/>
        </p:nvSpPr>
        <p:spPr>
          <a:xfrm>
            <a:off x="1435680" y="1883520"/>
            <a:ext cx="424548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E8390"/>
                </a:solidFill>
                <a:latin typeface="Courier New"/>
                <a:ea typeface="Courier New"/>
                <a:cs typeface="Courier New"/>
                <a:sym typeface="Courier New"/>
              </a:rPr>
              <a:t>funcional.py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31"/>
          <p:cNvSpPr/>
          <p:nvPr/>
        </p:nvSpPr>
        <p:spPr>
          <a:xfrm>
            <a:off x="749880" y="2194560"/>
            <a:ext cx="5022720" cy="2007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functools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reduce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datos = [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-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-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positivos = 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filter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lambda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x: x &gt;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datos)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cuadrados = 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map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lambda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x: x **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positivos)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total = reduce(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lambda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a, b: a + b,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cuadrados,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(total)     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29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31"/>
          <p:cNvSpPr/>
          <p:nvPr/>
        </p:nvSpPr>
        <p:spPr>
          <a:xfrm>
            <a:off x="6295680" y="1417320"/>
            <a:ext cx="5342760" cy="29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Pythónico: comprensión + sum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31"/>
          <p:cNvSpPr/>
          <p:nvPr/>
        </p:nvSpPr>
        <p:spPr>
          <a:xfrm>
            <a:off x="6277320" y="1783080"/>
            <a:ext cx="5342760" cy="2510640"/>
          </a:xfrm>
          <a:prstGeom prst="roundRect">
            <a:avLst>
              <a:gd fmla="val 2912" name="adj"/>
            </a:avLst>
          </a:prstGeom>
          <a:solidFill>
            <a:srgbClr val="10202B"/>
          </a:solidFill>
          <a:ln cap="flat" cmpd="sng" w="12700">
            <a:solidFill>
              <a:srgbClr val="1020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31"/>
          <p:cNvSpPr/>
          <p:nvPr/>
        </p:nvSpPr>
        <p:spPr>
          <a:xfrm>
            <a:off x="6478560" y="1956960"/>
            <a:ext cx="94320" cy="94320"/>
          </a:xfrm>
          <a:prstGeom prst="ellipse">
            <a:avLst/>
          </a:prstGeom>
          <a:solidFill>
            <a:srgbClr val="E4B363"/>
          </a:solidFill>
          <a:ln cap="flat" cmpd="sng" w="12700">
            <a:solidFill>
              <a:srgbClr val="E4B3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31"/>
          <p:cNvSpPr/>
          <p:nvPr/>
        </p:nvSpPr>
        <p:spPr>
          <a:xfrm>
            <a:off x="6679800" y="1956960"/>
            <a:ext cx="94320" cy="94320"/>
          </a:xfrm>
          <a:prstGeom prst="ellipse">
            <a:avLst/>
          </a:prstGeom>
          <a:solidFill>
            <a:srgbClr val="17BEBB"/>
          </a:solidFill>
          <a:ln cap="flat" cmpd="sng" w="12700">
            <a:solidFill>
              <a:srgbClr val="17BE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31"/>
          <p:cNvSpPr/>
          <p:nvPr/>
        </p:nvSpPr>
        <p:spPr>
          <a:xfrm>
            <a:off x="6881040" y="1956960"/>
            <a:ext cx="94320" cy="94320"/>
          </a:xfrm>
          <a:prstGeom prst="ellipse">
            <a:avLst/>
          </a:prstGeom>
          <a:solidFill>
            <a:srgbClr val="3E5563"/>
          </a:solidFill>
          <a:ln cap="flat" cmpd="sng" w="12700">
            <a:solidFill>
              <a:srgbClr val="3E55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47150" spcFirstLastPara="1" rIns="47150" wrap="square" tIns="22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31"/>
          <p:cNvSpPr/>
          <p:nvPr/>
        </p:nvSpPr>
        <p:spPr>
          <a:xfrm>
            <a:off x="7146000" y="1883520"/>
            <a:ext cx="424548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E8390"/>
                </a:solidFill>
                <a:latin typeface="Courier New"/>
                <a:ea typeface="Courier New"/>
                <a:cs typeface="Courier New"/>
                <a:sym typeface="Courier New"/>
              </a:rPr>
              <a:t>pythonico.py</a:t>
            </a:r>
            <a:endParaRPr b="0" sz="1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31"/>
          <p:cNvSpPr/>
          <p:nvPr/>
        </p:nvSpPr>
        <p:spPr>
          <a:xfrm>
            <a:off x="6460200" y="2194560"/>
            <a:ext cx="5022720" cy="2007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datos = [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-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-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total = 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sum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(x **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x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datos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x &gt;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(total)     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29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map con funciones existentes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también se lee bien: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nums = 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list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map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float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texto.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split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","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)))</a:t>
            </a:r>
            <a:endParaRPr b="0" sz="115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31"/>
          <p:cNvSpPr/>
          <p:nvPr/>
        </p:nvSpPr>
        <p:spPr>
          <a:xfrm>
            <a:off x="567000" y="5715000"/>
            <a:ext cx="11053440" cy="656640"/>
          </a:xfrm>
          <a:prstGeom prst="roundRect">
            <a:avLst>
              <a:gd fmla="val 8333" name="adj"/>
            </a:avLst>
          </a:prstGeom>
          <a:solidFill>
            <a:srgbClr val="EDF3F3"/>
          </a:solidFill>
          <a:ln cap="flat" cmpd="sng" w="12700">
            <a:solidFill>
              <a:srgbClr val="ED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31"/>
          <p:cNvSpPr/>
          <p:nvPr/>
        </p:nvSpPr>
        <p:spPr>
          <a:xfrm>
            <a:off x="768240" y="5715000"/>
            <a:ext cx="10641960" cy="656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0E7C7B"/>
                </a:solidFill>
                <a:latin typeface="Calibri"/>
                <a:ea typeface="Calibri"/>
                <a:cs typeface="Calibri"/>
                <a:sym typeface="Calibri"/>
              </a:rPr>
              <a:t>Criterio: </a:t>
            </a:r>
            <a:r>
              <a:rPr b="0" lang="en-US" sz="1400" u="none" strike="noStrike">
                <a:solidFill>
                  <a:srgbClr val="17262E"/>
                </a:solidFill>
                <a:latin typeface="Calibri"/>
                <a:ea typeface="Calibri"/>
                <a:cs typeface="Calibri"/>
                <a:sym typeface="Calibri"/>
              </a:rPr>
              <a:t>en Python se prefieren comprensiones y sum/max/min. map y filter compensan con funciones ya definidas; reduce, cuando no hay una integrada. En Spark verás el estilo funcional a diario.</a:t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202B"/>
        </a:solidFill>
      </p:bgPr>
    </p:bg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32"/>
          <p:cNvSpPr/>
          <p:nvPr/>
        </p:nvSpPr>
        <p:spPr>
          <a:xfrm>
            <a:off x="567000" y="457200"/>
            <a:ext cx="11053440" cy="27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 u="none" strike="noStrike">
                <a:solidFill>
                  <a:srgbClr val="17BEBB"/>
                </a:solidFill>
                <a:latin typeface="Calibri"/>
                <a:ea typeface="Calibri"/>
                <a:cs typeface="Calibri"/>
                <a:sym typeface="Calibri"/>
              </a:rPr>
              <a:t>PRÁCTICA 2.3 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32"/>
          <p:cNvSpPr/>
          <p:nvPr/>
        </p:nvSpPr>
        <p:spPr>
          <a:xfrm>
            <a:off x="567000" y="749880"/>
            <a:ext cx="11053440" cy="63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Ejercicios: lambda, map, filter y reduce</a:t>
            </a:r>
            <a:endParaRPr b="0" sz="30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32"/>
          <p:cNvSpPr/>
          <p:nvPr/>
        </p:nvSpPr>
        <p:spPr>
          <a:xfrm>
            <a:off x="567000" y="1600200"/>
            <a:ext cx="5393160" cy="420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3080" lvl="0" marL="34308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E2E8"/>
              </a:buClr>
              <a:buSzPts val="1500"/>
              <a:buFont typeface="Noto Sans Symbols"/>
              <a:buChar char="🞂"/>
            </a:pPr>
            <a:r>
              <a:rPr b="0" lang="en-US" sz="1500" u="none" strike="noStrike">
                <a:solidFill>
                  <a:srgbClr val="D6E2E8"/>
                </a:solidFill>
                <a:latin typeface="Calibri"/>
                <a:ea typeface="Calibri"/>
                <a:cs typeface="Calibri"/>
                <a:sym typeface="Calibri"/>
              </a:rPr>
              <a:t>E2.8 · Ordena productos (nombre, precio, stock) por precio y, a igual precio, por nombre.</a:t>
            </a:r>
            <a:endParaRPr b="0" sz="1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D6E2E8"/>
              </a:buClr>
              <a:buSzPts val="1500"/>
              <a:buFont typeface="Noto Sans Symbols"/>
              <a:buChar char="🞂"/>
            </a:pPr>
            <a:r>
              <a:rPr b="0" lang="en-US" sz="1500" u="none" strike="noStrike">
                <a:solidFill>
                  <a:srgbClr val="D6E2E8"/>
                </a:solidFill>
                <a:latin typeface="Calibri"/>
                <a:ea typeface="Calibri"/>
                <a:cs typeface="Calibri"/>
                <a:sym typeface="Calibri"/>
              </a:rPr>
              <a:t>E2.9 · Con map: convierte ["3,5", "2,25", "7"] en floats cambiando la coma por punto.</a:t>
            </a:r>
            <a:endParaRPr b="0" sz="1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D6E2E8"/>
              </a:buClr>
              <a:buSzPts val="1500"/>
              <a:buFont typeface="Noto Sans Symbols"/>
              <a:buChar char="🞂"/>
            </a:pPr>
            <a:r>
              <a:rPr b="0" lang="en-US" sz="1500" u="none" strike="noStrike">
                <a:solidFill>
                  <a:srgbClr val="D6E2E8"/>
                </a:solidFill>
                <a:latin typeface="Calibri"/>
                <a:ea typeface="Calibri"/>
                <a:cs typeface="Calibri"/>
                <a:sym typeface="Calibri"/>
              </a:rPr>
              <a:t>E2.10 · Con filter: quédate con los correos que tienen "@" y un punto después de ella.</a:t>
            </a:r>
            <a:endParaRPr b="0" sz="1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D6E2E8"/>
              </a:buClr>
              <a:buSzPts val="1500"/>
              <a:buFont typeface="Noto Sans Symbols"/>
              <a:buChar char="🞂"/>
            </a:pPr>
            <a:r>
              <a:rPr b="0" lang="en-US" sz="1500" u="none" strike="noStrike">
                <a:solidFill>
                  <a:srgbClr val="D6E2E8"/>
                </a:solidFill>
                <a:latin typeface="Calibri"/>
                <a:ea typeface="Calibri"/>
                <a:cs typeface="Calibri"/>
                <a:sym typeface="Calibri"/>
              </a:rPr>
              <a:t>E2.11 · Con reduce: el producto de una lista y la palabra más larga de un texto.</a:t>
            </a:r>
            <a:endParaRPr b="0" sz="1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D6E2E8"/>
              </a:buClr>
              <a:buSzPts val="1500"/>
              <a:buFont typeface="Noto Sans Symbols"/>
              <a:buChar char="🞂"/>
            </a:pPr>
            <a:r>
              <a:rPr b="0" lang="en-US" sz="1500" u="none" strike="noStrike">
                <a:solidFill>
                  <a:srgbClr val="D6E2E8"/>
                </a:solidFill>
                <a:latin typeface="Calibri"/>
                <a:ea typeface="Calibri"/>
                <a:cs typeface="Calibri"/>
                <a:sym typeface="Calibri"/>
              </a:rPr>
              <a:t>E2.12 · Encadena filter, map y reduce: total con IVA de los precios mayores de 10 €.</a:t>
            </a:r>
            <a:endParaRPr b="0" sz="1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D6E2E8"/>
              </a:buClr>
              <a:buSzPts val="1500"/>
              <a:buFont typeface="Noto Sans Symbols"/>
              <a:buChar char="🞂"/>
            </a:pPr>
            <a:r>
              <a:rPr b="0" lang="en-US" sz="1500" u="none" strike="noStrike">
                <a:solidFill>
                  <a:srgbClr val="D6E2E8"/>
                </a:solidFill>
                <a:latin typeface="Calibri"/>
                <a:ea typeface="Calibri"/>
                <a:cs typeface="Calibri"/>
                <a:sym typeface="Calibri"/>
              </a:rPr>
              <a:t>E2.13 · Reescribe E2.16 con una comprensión y sum. ¿Cuál se lee mejor?</a:t>
            </a:r>
            <a:endParaRPr b="0" sz="1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32"/>
          <p:cNvSpPr/>
          <p:nvPr/>
        </p:nvSpPr>
        <p:spPr>
          <a:xfrm>
            <a:off x="6309360" y="1600200"/>
            <a:ext cx="5301720" cy="2705040"/>
          </a:xfrm>
          <a:prstGeom prst="roundRect">
            <a:avLst>
              <a:gd fmla="val 2702" name="adj"/>
            </a:avLst>
          </a:prstGeom>
          <a:solidFill>
            <a:srgbClr val="1A2F3D"/>
          </a:solidFill>
          <a:ln cap="flat" cmpd="sng" w="12700">
            <a:solidFill>
              <a:srgbClr val="2B42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32"/>
          <p:cNvSpPr/>
          <p:nvPr/>
        </p:nvSpPr>
        <p:spPr>
          <a:xfrm>
            <a:off x="6492240" y="2011680"/>
            <a:ext cx="4981680" cy="374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E2.12  esqueleto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functools 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reduce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precios = [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4.5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12.0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25.9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8.0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15.5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caros   = 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filter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lambda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p: ..., precios)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con_iva = </a:t>
            </a: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map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lambda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p: ..., caros)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total   = reduce(</a:t>
            </a: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lambda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acc, p: ...,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con_iva, 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8ECFEE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(f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"{total:.2f} €"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)    </a:t>
            </a:r>
            <a:r>
              <a:rPr b="0" lang="en-US" sz="1150" u="none" strike="noStrike">
                <a:solidFill>
                  <a:srgbClr val="7C8F9A"/>
                </a:solidFill>
                <a:latin typeface="Courier New"/>
                <a:ea typeface="Courier New"/>
                <a:cs typeface="Courier New"/>
                <a:sym typeface="Courier New"/>
              </a:rPr>
              <a:t># 64.61 €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32"/>
          <p:cNvSpPr/>
          <p:nvPr/>
        </p:nvSpPr>
        <p:spPr>
          <a:xfrm>
            <a:off x="6492240" y="1710000"/>
            <a:ext cx="493596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E8390"/>
                </a:solidFill>
                <a:latin typeface="Courier New"/>
                <a:ea typeface="Courier New"/>
                <a:cs typeface="Courier New"/>
                <a:sym typeface="Courier New"/>
              </a:rPr>
              <a:t>e2_12.py</a:t>
            </a:r>
            <a:endParaRPr b="0" sz="10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32"/>
          <p:cNvSpPr/>
          <p:nvPr/>
        </p:nvSpPr>
        <p:spPr>
          <a:xfrm>
            <a:off x="567000" y="6035040"/>
            <a:ext cx="5484600" cy="31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202B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3"/>
          <p:cNvSpPr/>
          <p:nvPr/>
        </p:nvSpPr>
        <p:spPr>
          <a:xfrm>
            <a:off x="567000" y="1920240"/>
            <a:ext cx="173556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400" u="none" strike="noStrike">
                <a:solidFill>
                  <a:srgbClr val="0E7C7B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sz="8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33"/>
          <p:cNvSpPr/>
          <p:nvPr/>
        </p:nvSpPr>
        <p:spPr>
          <a:xfrm>
            <a:off x="2286000" y="2148840"/>
            <a:ext cx="8959320" cy="821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 u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Proyecto 1 · Analizador de datos</a:t>
            </a:r>
            <a:endParaRPr b="0" sz="3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33"/>
          <p:cNvSpPr/>
          <p:nvPr/>
        </p:nvSpPr>
        <p:spPr>
          <a:xfrm>
            <a:off x="2331720" y="3017520"/>
            <a:ext cx="8776440" cy="821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50" u="none" strike="noStrike">
                <a:solidFill>
                  <a:srgbClr val="A9BAC4"/>
                </a:solidFill>
                <a:latin typeface="Calibri"/>
                <a:ea typeface="Calibri"/>
                <a:cs typeface="Calibri"/>
                <a:sym typeface="Calibri"/>
              </a:rPr>
              <a:t>Construir, sin librerías externas, el preprocesado que luego hace pandas en una línea.</a:t>
            </a:r>
            <a:endParaRPr b="0" sz="15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33"/>
          <p:cNvSpPr/>
          <p:nvPr/>
        </p:nvSpPr>
        <p:spPr>
          <a:xfrm>
            <a:off x="2331720" y="3886200"/>
            <a:ext cx="5484600" cy="36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202B"/>
        </a:solidFill>
      </p:bgPr>
    </p:bg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34"/>
          <p:cNvSpPr/>
          <p:nvPr/>
        </p:nvSpPr>
        <p:spPr>
          <a:xfrm>
            <a:off x="567000" y="457200"/>
            <a:ext cx="11053440" cy="272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 u="none" strike="noStrike">
                <a:solidFill>
                  <a:srgbClr val="17BEBB"/>
                </a:solidFill>
                <a:latin typeface="Calibri"/>
                <a:ea typeface="Calibri"/>
                <a:cs typeface="Calibri"/>
                <a:sym typeface="Calibri"/>
              </a:rPr>
              <a:t>PROYECTO 1 · ENUNCIADO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34"/>
          <p:cNvSpPr/>
          <p:nvPr/>
        </p:nvSpPr>
        <p:spPr>
          <a:xfrm>
            <a:off x="567000" y="749880"/>
            <a:ext cx="11053440" cy="63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 u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Analizador de un conjunto de flores</a:t>
            </a:r>
            <a:endParaRPr b="0" sz="30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34"/>
          <p:cNvSpPr/>
          <p:nvPr/>
        </p:nvSpPr>
        <p:spPr>
          <a:xfrm>
            <a:off x="567000" y="1600200"/>
            <a:ext cx="5393160" cy="420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3080" lvl="0" marL="34308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6E2E8"/>
              </a:buClr>
              <a:buSzPts val="1500"/>
              <a:buFont typeface="Noto Sans Symbols"/>
              <a:buChar char="🞂"/>
            </a:pPr>
            <a:r>
              <a:rPr b="0" lang="en-US" sz="1500" u="none" strike="noStrike">
                <a:solidFill>
                  <a:srgbClr val="D6E2E8"/>
                </a:solidFill>
                <a:latin typeface="Calibri"/>
                <a:ea typeface="Calibri"/>
                <a:cs typeface="Calibri"/>
                <a:sym typeface="Calibri"/>
              </a:rPr>
              <a:t>Partes de un dataset embebido en el código como texto (formato CSV, 30 filas del conjunto Iris).</a:t>
            </a:r>
            <a:endParaRPr b="0" sz="1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D6E2E8"/>
              </a:buClr>
              <a:buSzPts val="1500"/>
              <a:buFont typeface="Noto Sans Symbols"/>
              <a:buChar char="🞂"/>
            </a:pPr>
            <a:r>
              <a:rPr b="0" lang="en-US" sz="1500" u="none" strike="noStrike">
                <a:solidFill>
                  <a:srgbClr val="D6E2E8"/>
                </a:solidFill>
                <a:latin typeface="Calibri"/>
                <a:ea typeface="Calibri"/>
                <a:cs typeface="Calibri"/>
                <a:sym typeface="Calibri"/>
              </a:rPr>
              <a:t>1 · Parsear el texto a una lista de diccionarios con tipos correctos.</a:t>
            </a:r>
            <a:endParaRPr b="0" sz="1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D6E2E8"/>
              </a:buClr>
              <a:buSzPts val="1500"/>
              <a:buFont typeface="Noto Sans Symbols"/>
              <a:buChar char="🞂"/>
            </a:pPr>
            <a:r>
              <a:rPr b="0" lang="en-US" sz="1500" u="none" strike="noStrike">
                <a:solidFill>
                  <a:srgbClr val="D6E2E8"/>
                </a:solidFill>
                <a:latin typeface="Calibri"/>
                <a:ea typeface="Calibri"/>
                <a:cs typeface="Calibri"/>
                <a:sym typeface="Calibri"/>
              </a:rPr>
              <a:t>2 · Calcular, por clase: número de muestras, media, mínimo y máximo de cada medida.</a:t>
            </a:r>
            <a:endParaRPr b="0" sz="1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D6E2E8"/>
              </a:buClr>
              <a:buSzPts val="1500"/>
              <a:buFont typeface="Noto Sans Symbols"/>
              <a:buChar char="🞂"/>
            </a:pPr>
            <a:r>
              <a:rPr b="0" lang="en-US" sz="1500" u="none" strike="noStrike">
                <a:solidFill>
                  <a:srgbClr val="D6E2E8"/>
                </a:solidFill>
                <a:latin typeface="Calibri"/>
                <a:ea typeface="Calibri"/>
                <a:cs typeface="Calibri"/>
                <a:sym typeface="Calibri"/>
              </a:rPr>
              <a:t>3 · Normalizar las medidas al rango 0-1 con una comprensión.</a:t>
            </a:r>
            <a:endParaRPr b="0" sz="1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D6E2E8"/>
              </a:buClr>
              <a:buSzPts val="1500"/>
              <a:buFont typeface="Noto Sans Symbols"/>
              <a:buChar char="🞂"/>
            </a:pPr>
            <a:r>
              <a:rPr b="0" lang="en-US" sz="1500" u="none" strike="noStrike">
                <a:solidFill>
                  <a:srgbClr val="D6E2E8"/>
                </a:solidFill>
                <a:latin typeface="Calibri"/>
                <a:ea typeface="Calibri"/>
                <a:cs typeface="Calibri"/>
                <a:sym typeface="Calibri"/>
              </a:rPr>
              <a:t>4 · Detectar y listar los valores atípicos (a más de 2 desviaciones de la media).</a:t>
            </a:r>
            <a:endParaRPr b="0" sz="1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080" lvl="0" marL="34308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rgbClr val="D6E2E8"/>
              </a:buClr>
              <a:buSzPts val="1500"/>
              <a:buFont typeface="Noto Sans Symbols"/>
              <a:buChar char="🞂"/>
            </a:pPr>
            <a:r>
              <a:rPr b="0" lang="en-US" sz="1500" u="none" strike="noStrike">
                <a:solidFill>
                  <a:srgbClr val="D6E2E8"/>
                </a:solidFill>
                <a:latin typeface="Calibri"/>
                <a:ea typeface="Calibri"/>
                <a:cs typeface="Calibri"/>
                <a:sym typeface="Calibri"/>
              </a:rPr>
              <a:t>5 · Imprimir un informe alineado con f-strings.</a:t>
            </a:r>
            <a:endParaRPr b="0" sz="1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34"/>
          <p:cNvSpPr/>
          <p:nvPr/>
        </p:nvSpPr>
        <p:spPr>
          <a:xfrm>
            <a:off x="6309360" y="1600200"/>
            <a:ext cx="5301720" cy="2705040"/>
          </a:xfrm>
          <a:prstGeom prst="roundRect">
            <a:avLst>
              <a:gd fmla="val 2702" name="adj"/>
            </a:avLst>
          </a:prstGeom>
          <a:solidFill>
            <a:srgbClr val="1A2F3D"/>
          </a:solidFill>
          <a:ln cap="flat" cmpd="sng" w="12700">
            <a:solidFill>
              <a:srgbClr val="2B42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34"/>
          <p:cNvSpPr/>
          <p:nvPr/>
        </p:nvSpPr>
        <p:spPr>
          <a:xfrm>
            <a:off x="6492240" y="2011680"/>
            <a:ext cx="4981680" cy="374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DATOS = 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5.1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3.5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1.4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0.2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,setosa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4.9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3.0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1.4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0.2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,setosa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7.0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3.2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4.7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lang="en-US" sz="1150" u="none" strike="noStrike">
                <a:solidFill>
                  <a:srgbClr val="F0A6A6"/>
                </a:solidFill>
                <a:latin typeface="Courier New"/>
                <a:ea typeface="Courier New"/>
                <a:cs typeface="Courier New"/>
                <a:sym typeface="Courier New"/>
              </a:rPr>
              <a:t>1.4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,versicolor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"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COLUMNAS = [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"largo_sep"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"ancho_sep"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"largo_pet"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"ancho_pet"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"clase"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17BEBB"/>
                </a:solidFill>
                <a:latin typeface="Courier New"/>
                <a:ea typeface="Courier New"/>
                <a:cs typeface="Courier New"/>
                <a:sym typeface="Courier New"/>
              </a:rPr>
              <a:t>def</a:t>
            </a: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parsear(texto):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0" lang="en-US" sz="1150" u="none" strike="noStrike">
                <a:solidFill>
                  <a:srgbClr val="E4B363"/>
                </a:solidFill>
                <a:latin typeface="Courier New"/>
                <a:ea typeface="Courier New"/>
                <a:cs typeface="Courier New"/>
                <a:sym typeface="Courier New"/>
              </a:rPr>
              <a:t>"""Devuelve lista de dicts."""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50" u="none" strike="noStrike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rPr>
              <a:t>    ...</a:t>
            </a:r>
            <a:endParaRPr b="0" sz="11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34"/>
          <p:cNvSpPr/>
          <p:nvPr/>
        </p:nvSpPr>
        <p:spPr>
          <a:xfrm>
            <a:off x="6492240" y="1710000"/>
            <a:ext cx="493596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strike="noStrike">
                <a:solidFill>
                  <a:srgbClr val="6E8390"/>
                </a:solidFill>
                <a:latin typeface="Courier New"/>
                <a:ea typeface="Courier New"/>
                <a:cs typeface="Courier New"/>
                <a:sym typeface="Courier New"/>
              </a:rPr>
              <a:t>proyecto1.py</a:t>
            </a:r>
            <a:endParaRPr b="0" sz="10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34"/>
          <p:cNvSpPr/>
          <p:nvPr/>
        </p:nvSpPr>
        <p:spPr>
          <a:xfrm>
            <a:off x="567000" y="6035040"/>
            <a:ext cx="5484600" cy="31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2026-09-21T10:54:36Z</dcterms:created>
  <dc:creator>PptxGenJS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37</vt:i4>
  </property>
  <property fmtid="{D5CDD505-2E9C-101B-9397-08002B2CF9AE}" pid="3" name="PresentationFormat">
    <vt:lpwstr>On-screen Show (16:9)</vt:lpwstr>
  </property>
  <property fmtid="{D5CDD505-2E9C-101B-9397-08002B2CF9AE}" pid="4" name="Slides">
    <vt:i4>37</vt:i4>
  </property>
</Properties>
</file>