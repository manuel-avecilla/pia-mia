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4" roundtripDataSignature="AMtx7miBzFFjyRKIs30ENKYM5O4ec7t9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F292CDA-5254-4C19-B225-4A7F84EEFDC2}">
  <a:tblStyle styleId="{1F292CDA-5254-4C19-B225-4A7F84EEFDC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customschemas.google.com/relationships/presentationmetadata" Target="meta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/>
          <p:nvPr>
            <p:ph idx="2" type="sldImg"/>
          </p:nvPr>
        </p:nvSpPr>
        <p:spPr>
          <a:xfrm>
            <a:off x="685800" y="1143000"/>
            <a:ext cx="5485680" cy="3085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" name="Google Shape;15;p1:notes"/>
          <p:cNvSpPr txBox="1"/>
          <p:nvPr>
            <p:ph idx="1"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Sesión final: 2 horas de POO y 3 de proyecto. Anunciarlo desde el principio para que dosifiquen la atención.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:notes"/>
          <p:cNvSpPr txBox="1"/>
          <p:nvPr>
            <p:ph idx="12" type="sldNum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/>
          <p:nvPr>
            <p:ph idx="2" type="sldImg"/>
          </p:nvPr>
        </p:nvSpPr>
        <p:spPr>
          <a:xfrm>
            <a:off x="685800" y="1143000"/>
            <a:ext cx="5485680" cy="3085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:notes"/>
          <p:cNvSpPr txBox="1"/>
          <p:nvPr>
            <p:ph idx="12" type="sldNum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:notes"/>
          <p:cNvSpPr/>
          <p:nvPr>
            <p:ph idx="2" type="sldImg"/>
          </p:nvPr>
        </p:nvSpPr>
        <p:spPr>
          <a:xfrm>
            <a:off x="685800" y="1143000"/>
            <a:ext cx="5485680" cy="3085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" name="Google Shape;40;p3:notes"/>
          <p:cNvSpPr txBox="1"/>
          <p:nvPr>
            <p:ph idx="1"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Ejecutar dir([]) en el REPL y localizar __len__, __iter__, __eq__. Prepara el terreno para los métodos especiales.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3:notes"/>
          <p:cNvSpPr txBox="1"/>
          <p:nvPr>
            <p:ph idx="12" type="sldNum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:notes"/>
          <p:cNvSpPr/>
          <p:nvPr>
            <p:ph idx="2" type="sldImg"/>
          </p:nvPr>
        </p:nvSpPr>
        <p:spPr>
          <a:xfrm>
            <a:off x="685800" y="1143000"/>
            <a:ext cx="5485680" cy="3085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" name="Google Shape;55;p4:notes"/>
          <p:cNvSpPr txBox="1"/>
          <p:nvPr>
            <p:ph idx="1"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Olvidar self en la firma es el error número uno del día. Provocarlo a propósito y leer el TypeError juntos.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4:notes"/>
          <p:cNvSpPr txBox="1"/>
          <p:nvPr>
            <p:ph idx="12" type="sldNum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:notes"/>
          <p:cNvSpPr/>
          <p:nvPr>
            <p:ph idx="2" type="sldImg"/>
          </p:nvPr>
        </p:nvSpPr>
        <p:spPr>
          <a:xfrm>
            <a:off x="685800" y="1143000"/>
            <a:ext cx="5485680" cy="3085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" name="Google Shape;70;p5:notes"/>
          <p:cNvSpPr txBox="1"/>
          <p:nvPr>
            <p:ph idx="1"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Retomar la trampa del bloque 2: el mismo concepto, otro escenario.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5:notes"/>
          <p:cNvSpPr txBox="1"/>
          <p:nvPr>
            <p:ph idx="12" type="sldNum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:notes"/>
          <p:cNvSpPr/>
          <p:nvPr>
            <p:ph idx="2" type="sldImg"/>
          </p:nvPr>
        </p:nvSpPr>
        <p:spPr>
          <a:xfrm>
            <a:off x="685800" y="1143000"/>
            <a:ext cx="5485680" cy="3085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" name="Google Shape;93;p6:notes"/>
          <p:cNvSpPr txBox="1"/>
          <p:nvPr>
            <p:ph idx="1"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cls permite que la subclase construya objetos de su propio tipo: enlaza con herencia.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6:notes"/>
          <p:cNvSpPr txBox="1"/>
          <p:nvPr>
            <p:ph idx="12" type="sldNum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:notes"/>
          <p:cNvSpPr/>
          <p:nvPr>
            <p:ph idx="2" type="sldImg"/>
          </p:nvPr>
        </p:nvSpPr>
        <p:spPr>
          <a:xfrm>
            <a:off x="685800" y="1143000"/>
            <a:ext cx="5485680" cy="3085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" name="Google Shape;108;p7:notes"/>
          <p:cNvSpPr txBox="1"/>
          <p:nvPr>
            <p:ph idx="1"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Nada de escribir getters y setters para todo como en Java: aquí se considera ruido.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7:notes"/>
          <p:cNvSpPr txBox="1"/>
          <p:nvPr>
            <p:ph idx="12" type="sldNum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:notes"/>
          <p:cNvSpPr/>
          <p:nvPr>
            <p:ph idx="2" type="sldImg"/>
          </p:nvPr>
        </p:nvSpPr>
        <p:spPr>
          <a:xfrm>
            <a:off x="685800" y="1143000"/>
            <a:ext cx="5485680" cy="3085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Quien termine antes, que añada validaciones con excepciones propias del bloque 3.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8:notes"/>
          <p:cNvSpPr txBox="1"/>
          <p:nvPr>
            <p:ph idx="12" type="sldNum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:notes"/>
          <p:cNvSpPr/>
          <p:nvPr>
            <p:ph idx="2" type="sldImg"/>
          </p:nvPr>
        </p:nvSpPr>
        <p:spPr>
          <a:xfrm>
            <a:off x="685800" y="1143000"/>
            <a:ext cx="5485680" cy="3085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" name="Google Shape;135;p9:notes"/>
          <p:cNvSpPr txBox="1"/>
          <p:nvPr>
            <p:ph idx="1"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9:notes"/>
          <p:cNvSpPr txBox="1"/>
          <p:nvPr>
            <p:ph idx="12" type="sldNum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:notes"/>
          <p:cNvSpPr/>
          <p:nvPr>
            <p:ph idx="2" type="sldImg"/>
          </p:nvPr>
        </p:nvSpPr>
        <p:spPr>
          <a:xfrm>
            <a:off x="685800" y="1143000"/>
            <a:ext cx="5485680" cy="3085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4" name="Google Shape;144;p10:notes"/>
          <p:cNvSpPr txBox="1"/>
          <p:nvPr>
            <p:ph idx="1"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Mostrar la diferencia imprimiendo una lista de objetos: ahí solo actúa __repr__.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0:notes"/>
          <p:cNvSpPr txBox="1"/>
          <p:nvPr>
            <p:ph idx="12" type="sldNum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:notes"/>
          <p:cNvSpPr/>
          <p:nvPr>
            <p:ph idx="2" type="sldImg"/>
          </p:nvPr>
        </p:nvSpPr>
        <p:spPr>
          <a:xfrm>
            <a:off x="685800" y="1143000"/>
            <a:ext cx="5485680" cy="3085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7" name="Google Shape;167;p11:notes"/>
          <p:cNvSpPr txBox="1"/>
          <p:nvPr>
            <p:ph idx="1"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Comparar con implements Iterable&lt;T&gt; en Java. Aquí el contrato es implícito.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1:notes"/>
          <p:cNvSpPr txBox="1"/>
          <p:nvPr>
            <p:ph idx="12" type="sldNum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2:notes"/>
          <p:cNvSpPr/>
          <p:nvPr>
            <p:ph idx="2" type="sldImg"/>
          </p:nvPr>
        </p:nvSpPr>
        <p:spPr>
          <a:xfrm>
            <a:off x="685800" y="1143000"/>
            <a:ext cx="5485680" cy="3085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2" name="Google Shape;182;p12:notes"/>
          <p:cNvSpPr txBox="1"/>
          <p:nvPr>
            <p:ph idx="1"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Muy usado en código moderno de datos. frozen=True da objetos inmutables, útiles como claves de diccionario.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2:notes"/>
          <p:cNvSpPr txBox="1"/>
          <p:nvPr>
            <p:ph idx="12" type="sldNum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3:notes"/>
          <p:cNvSpPr/>
          <p:nvPr>
            <p:ph idx="2" type="sldImg"/>
          </p:nvPr>
        </p:nvSpPr>
        <p:spPr>
          <a:xfrm>
            <a:off x="685800" y="1143000"/>
            <a:ext cx="5485680" cy="3085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5" name="Google Shape;205;p13:notes"/>
          <p:cNvSpPr txBox="1"/>
          <p:nvPr>
            <p:ph idx="1"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3:notes"/>
          <p:cNvSpPr txBox="1"/>
          <p:nvPr>
            <p:ph idx="12" type="sldNum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4:notes"/>
          <p:cNvSpPr/>
          <p:nvPr>
            <p:ph idx="2" type="sldImg"/>
          </p:nvPr>
        </p:nvSpPr>
        <p:spPr>
          <a:xfrm>
            <a:off x="685800" y="1143000"/>
            <a:ext cx="5485680" cy="3085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4" name="Google Shape;214;p14:notes"/>
          <p:cNvSpPr txBox="1"/>
          <p:nvPr>
            <p:ph idx="1"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Este modelo trivial servirá de referencia (baseline) en el proyecto: si el k-NN no lo supera, algo falla.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4:notes"/>
          <p:cNvSpPr txBox="1"/>
          <p:nvPr>
            <p:ph idx="12" type="sldNum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5:notes"/>
          <p:cNvSpPr/>
          <p:nvPr>
            <p:ph idx="2" type="sldImg"/>
          </p:nvPr>
        </p:nvSpPr>
        <p:spPr>
          <a:xfrm>
            <a:off x="685800" y="1143000"/>
            <a:ext cx="5485680" cy="3085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9" name="Google Shape;229;p15:notes"/>
          <p:cNvSpPr txBox="1"/>
          <p:nvPr>
            <p:ph idx="1"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Este bucle final es la diapositiva que explica por qué merece la pena la POO: código de evaluación escrito una vez.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5:notes"/>
          <p:cNvSpPr txBox="1"/>
          <p:nvPr>
            <p:ph idx="12" type="sldNum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6:notes"/>
          <p:cNvSpPr/>
          <p:nvPr>
            <p:ph idx="2" type="sldImg"/>
          </p:nvPr>
        </p:nvSpPr>
        <p:spPr>
          <a:xfrm>
            <a:off x="685800" y="1143000"/>
            <a:ext cx="5485680" cy="3085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4" name="Google Shape;244;p16:notes"/>
          <p:cNvSpPr txBox="1"/>
          <p:nvPr>
            <p:ph idx="1"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Usar ABC en el proyecto final es opcional pero recomendable: convierte un olvido en un error temprano.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6:notes"/>
          <p:cNvSpPr txBox="1"/>
          <p:nvPr>
            <p:ph idx="12" type="sldNum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7:notes"/>
          <p:cNvSpPr/>
          <p:nvPr>
            <p:ph idx="2" type="sldImg"/>
          </p:nvPr>
        </p:nvSpPr>
        <p:spPr>
          <a:xfrm>
            <a:off x="685800" y="1143000"/>
            <a:ext cx="5485680" cy="3085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9" name="Google Shape;259;p17:notes"/>
          <p:cNvSpPr txBox="1"/>
          <p:nvPr>
            <p:ph idx="1"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 concreto: Normalizador no debe heredar de Dataset; el Dataset usa un Normalizador.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7:notes"/>
          <p:cNvSpPr txBox="1"/>
          <p:nvPr>
            <p:ph idx="12" type="sldNum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8:notes"/>
          <p:cNvSpPr/>
          <p:nvPr>
            <p:ph idx="2" type="sldImg"/>
          </p:nvPr>
        </p:nvSpPr>
        <p:spPr>
          <a:xfrm>
            <a:off x="685800" y="1143000"/>
            <a:ext cx="5485680" cy="3085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6" name="Google Shape;286;p18:notes"/>
          <p:cNvSpPr txBox="1"/>
          <p:nvPr>
            <p:ph idx="1"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debate Cuadrado/Rectángulo (principio de sustitución de Liskov) da mucho juego en 5 minutos.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8:notes"/>
          <p:cNvSpPr txBox="1"/>
          <p:nvPr>
            <p:ph idx="12" type="sldNum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9:notes"/>
          <p:cNvSpPr/>
          <p:nvPr>
            <p:ph idx="2" type="sldImg"/>
          </p:nvPr>
        </p:nvSpPr>
        <p:spPr>
          <a:xfrm>
            <a:off x="685800" y="1143000"/>
            <a:ext cx="5485680" cy="3085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8" name="Google Shape;298;p19:notes"/>
          <p:cNvSpPr txBox="1"/>
          <p:nvPr>
            <p:ph idx="1"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9:notes"/>
          <p:cNvSpPr txBox="1"/>
          <p:nvPr>
            <p:ph idx="12" type="sldNum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0:notes"/>
          <p:cNvSpPr/>
          <p:nvPr>
            <p:ph idx="2" type="sldImg"/>
          </p:nvPr>
        </p:nvSpPr>
        <p:spPr>
          <a:xfrm>
            <a:off x="685800" y="1143000"/>
            <a:ext cx="5485680" cy="3085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7" name="Google Shape;307;p20:notes"/>
          <p:cNvSpPr txBox="1"/>
          <p:nvPr>
            <p:ph idx="1"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Dejar que el grupo intente clasificar "a ojo" varios puntos antes de explicar el algoritmo: todos aplican k-NN de forma intuitiva. Señalar que setosa queda aislada (fácil) y que versicolor y virginica se solapan (ahí se concentran los errores).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20:notes"/>
          <p:cNvSpPr txBox="1"/>
          <p:nvPr>
            <p:ph idx="12" type="sldNum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1:notes"/>
          <p:cNvSpPr/>
          <p:nvPr>
            <p:ph idx="2" type="sldImg"/>
          </p:nvPr>
        </p:nvSpPr>
        <p:spPr>
          <a:xfrm>
            <a:off x="685800" y="1143000"/>
            <a:ext cx="5485680" cy="3085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5" name="Google Shape;495;p21:notes"/>
          <p:cNvSpPr txBox="1"/>
          <p:nvPr>
            <p:ph idx="1"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k-NN = k Nearest Neighbors, k vecinos más cercanos. Es aprendizaje supervisado: necesita las etiquetas de las muestras de entrenamiento.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21:notes"/>
          <p:cNvSpPr txBox="1"/>
          <p:nvPr>
            <p:ph idx="12" type="sldNum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2:notes"/>
          <p:cNvSpPr/>
          <p:nvPr>
            <p:ph idx="2" type="sldImg"/>
          </p:nvPr>
        </p:nvSpPr>
        <p:spPr>
          <a:xfrm>
            <a:off x="685800" y="1143000"/>
            <a:ext cx="5485680" cy="3085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3" name="Google Shape;523;p22:notes"/>
          <p:cNvSpPr txBox="1"/>
          <p:nvPr>
            <p:ph idx="1"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Dibujar el triángulo rectángulo con catetos 0.1 y 0.3 en la pizarra. Hacer notar el uso de zip y de una expresión generadora: todo es del bloque 2.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22:notes"/>
          <p:cNvSpPr txBox="1"/>
          <p:nvPr>
            <p:ph idx="12" type="sldNum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23:notes"/>
          <p:cNvSpPr/>
          <p:nvPr>
            <p:ph idx="2" type="sldImg"/>
          </p:nvPr>
        </p:nvSpPr>
        <p:spPr>
          <a:xfrm>
            <a:off x="685800" y="1143000"/>
            <a:ext cx="5485680" cy="3085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8" name="Google Shape;538;p23:notes"/>
          <p:cNvSpPr txBox="1"/>
          <p:nvPr>
            <p:ph idx="1"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Hacer el cálculo con el grupo antes de mostrar la tabla. El caso k = 5 es deliberado: demuestra que un k impar no evita empates cuando hay más de dos clases.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23:notes"/>
          <p:cNvSpPr txBox="1"/>
          <p:nvPr>
            <p:ph idx="12" type="sldNum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24:notes"/>
          <p:cNvSpPr/>
          <p:nvPr>
            <p:ph idx="2" type="sldImg"/>
          </p:nvPr>
        </p:nvSpPr>
        <p:spPr>
          <a:xfrm>
            <a:off x="685800" y="1143000"/>
            <a:ext cx="5485680" cy="3085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9" name="Google Shape;559;p24:notes"/>
          <p:cNvSpPr txBox="1"/>
          <p:nvPr>
            <p:ph idx="1"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Desempates razonables: quedarse con la clase del vecino más cercano entre las empatadas, o reducir k en uno y volver a votar. Counter.most_common desempata por orden de aparición, lo que con vecinos ordenados equivale a lo primero.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24:notes"/>
          <p:cNvSpPr txBox="1"/>
          <p:nvPr>
            <p:ph idx="12" type="sldNum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5:notes"/>
          <p:cNvSpPr/>
          <p:nvPr>
            <p:ph idx="2" type="sldImg"/>
          </p:nvPr>
        </p:nvSpPr>
        <p:spPr>
          <a:xfrm>
            <a:off x="685800" y="1143000"/>
            <a:ext cx="5485680" cy="3085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6" name="Google Shape;586;p25:notes"/>
          <p:cNvSpPr txBox="1"/>
          <p:nvPr>
            <p:ph idx="1"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 el Iris las cuatro medidas están en centímetros y el efecto es pequeño, pero en datos reales (edad, ingresos, píxeles) es la diferencia entre un modelo útil y uno inútil. Usar el test para normalizar es una fuga de información (data leakage).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25:notes"/>
          <p:cNvSpPr txBox="1"/>
          <p:nvPr>
            <p:ph idx="12" type="sldNum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26:notes"/>
          <p:cNvSpPr/>
          <p:nvPr>
            <p:ph idx="2" type="sldImg"/>
          </p:nvPr>
        </p:nvSpPr>
        <p:spPr>
          <a:xfrm>
            <a:off x="685800" y="1143000"/>
            <a:ext cx="5485680" cy="3085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9" name="Google Shape;609;p26:notes"/>
          <p:cNvSpPr txBox="1"/>
          <p:nvPr>
            <p:ph idx="1"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Contrastar con un modelo "ansioso" como la regresión o una red neuronal: entrenar es caro y predecir es barato. k-NN es justo al revés.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26:notes"/>
          <p:cNvSpPr txBox="1"/>
          <p:nvPr>
            <p:ph idx="12" type="sldNum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27:notes"/>
          <p:cNvSpPr/>
          <p:nvPr>
            <p:ph idx="2" type="sldImg"/>
          </p:nvPr>
        </p:nvSpPr>
        <p:spPr>
          <a:xfrm>
            <a:off x="685800" y="1143000"/>
            <a:ext cx="5485680" cy="3085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6" name="Google Shape;636;p27:notes"/>
          <p:cNvSpPr txBox="1"/>
          <p:nvPr>
            <p:ph idx="1"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Escribir esta función en directo, probarla con las seis flores del ejemplo resuelto y comprobar que da versicolor con k = 3. Después, pasar al enunciado del proyecto.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27:notes"/>
          <p:cNvSpPr txBox="1"/>
          <p:nvPr>
            <p:ph idx="12" type="sldNum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28:notes"/>
          <p:cNvSpPr/>
          <p:nvPr>
            <p:ph idx="2" type="sldImg"/>
          </p:nvPr>
        </p:nvSpPr>
        <p:spPr>
          <a:xfrm>
            <a:off x="685800" y="1143000"/>
            <a:ext cx="5485680" cy="3085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9" name="Google Shape;659;p28:notes"/>
          <p:cNvSpPr txBox="1"/>
          <p:nvPr>
            <p:ph idx="1"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Dar el fichero iris.csv y el esqueleto de la clase Modelo. El voto mayoritario usa Counter o max(key=...): lo vieron en el bloque 2.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28:notes"/>
          <p:cNvSpPr txBox="1"/>
          <p:nvPr>
            <p:ph idx="12" type="sldNum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9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" name="Google Shape;11;p29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2004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85750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−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8575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8575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8575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202B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"/>
          <p:cNvSpPr/>
          <p:nvPr/>
        </p:nvSpPr>
        <p:spPr>
          <a:xfrm>
            <a:off x="9418320" y="-1371600"/>
            <a:ext cx="4205520" cy="4205520"/>
          </a:xfrm>
          <a:prstGeom prst="ellipse">
            <a:avLst/>
          </a:prstGeom>
          <a:solidFill>
            <a:srgbClr val="0E7C7B">
              <a:alpha val="27843"/>
            </a:srgbClr>
          </a:solidFill>
          <a:ln cap="flat" cmpd="sng" w="12700">
            <a:solidFill>
              <a:srgbClr val="0E7C7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67000" y="1325880"/>
            <a:ext cx="11054520" cy="319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17BEBB"/>
                </a:solidFill>
                <a:latin typeface="Calibri"/>
                <a:ea typeface="Calibri"/>
                <a:cs typeface="Calibri"/>
                <a:sym typeface="Calibri"/>
              </a:rPr>
              <a:t>BLOQUE 4 </a:t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67000" y="1737360"/>
            <a:ext cx="7863120" cy="137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 u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Orientación a objetos</a:t>
            </a:r>
            <a:endParaRPr b="0" sz="4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 u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y proyecto final</a:t>
            </a:r>
            <a:endParaRPr b="0" sz="4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67000" y="3154680"/>
            <a:ext cx="7497360" cy="822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B9C8D0"/>
                </a:solidFill>
                <a:latin typeface="Calibri"/>
                <a:ea typeface="Calibri"/>
                <a:cs typeface="Calibri"/>
                <a:sym typeface="Calibri"/>
              </a:rPr>
              <a:t>Clases, herencia y polimorfismo en Python, y un clasificador k-NN</a:t>
            </a:r>
            <a:endParaRPr b="0" sz="16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67000" y="4160520"/>
            <a:ext cx="6765840" cy="2257920"/>
          </a:xfrm>
          <a:prstGeom prst="roundRect">
            <a:avLst>
              <a:gd fmla="val 3239" name="adj"/>
            </a:avLst>
          </a:prstGeom>
          <a:solidFill>
            <a:srgbClr val="10202B"/>
          </a:solidFill>
          <a:ln cap="flat" cmpd="sng" w="12700">
            <a:solidFill>
              <a:srgbClr val="102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68240" y="4334400"/>
            <a:ext cx="95400" cy="95400"/>
          </a:xfrm>
          <a:prstGeom prst="ellipse">
            <a:avLst/>
          </a:prstGeom>
          <a:solidFill>
            <a:srgbClr val="E4B363"/>
          </a:solidFill>
          <a:ln cap="flat" cmpd="sng" w="12700">
            <a:solidFill>
              <a:srgbClr val="E4B3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875" spcFirstLastPara="1" rIns="47875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969120" y="4334400"/>
            <a:ext cx="95400" cy="95400"/>
          </a:xfrm>
          <a:prstGeom prst="ellipse">
            <a:avLst/>
          </a:prstGeom>
          <a:solidFill>
            <a:srgbClr val="17BEBB"/>
          </a:solidFill>
          <a:ln cap="flat" cmpd="sng" w="12700">
            <a:solidFill>
              <a:srgbClr val="17BE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875" spcFirstLastPara="1" rIns="47875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1170360" y="4334400"/>
            <a:ext cx="95400" cy="95400"/>
          </a:xfrm>
          <a:prstGeom prst="ellipse">
            <a:avLst/>
          </a:prstGeom>
          <a:solidFill>
            <a:srgbClr val="3E5563"/>
          </a:solidFill>
          <a:ln cap="flat" cmpd="sng" w="12700">
            <a:solidFill>
              <a:srgbClr val="3E5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875" spcFirstLastPara="1" rIns="47875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1435680" y="4260960"/>
            <a:ext cx="5668560" cy="227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E8390"/>
                </a:solidFill>
                <a:latin typeface="Courier New"/>
                <a:ea typeface="Courier New"/>
                <a:cs typeface="Courier New"/>
                <a:sym typeface="Courier New"/>
              </a:rPr>
              <a:t>bloque4.py</a:t>
            </a:r>
            <a:endParaRPr b="0" sz="10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749880" y="4572000"/>
            <a:ext cx="6445800" cy="17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lang="en-US" sz="12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ClasificadorKNN(Modelo):</a:t>
            </a:r>
            <a:endParaRPr b="0" sz="12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2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2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lang="en-US" sz="12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__init__(</a:t>
            </a:r>
            <a:r>
              <a:rPr b="0" lang="en-US" sz="12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2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k: </a:t>
            </a:r>
            <a:r>
              <a:rPr b="0" lang="en-US" sz="12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0" lang="en-US" sz="12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lang="en-US" sz="12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lang="en-US" sz="12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b="0" sz="12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lang="en-US" sz="12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2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.k = k</a:t>
            </a:r>
            <a:endParaRPr b="0" sz="12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2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2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lang="en-US" sz="12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entrenar(</a:t>
            </a:r>
            <a:r>
              <a:rPr b="0" lang="en-US" sz="12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2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X, y):</a:t>
            </a:r>
            <a:endParaRPr b="0" sz="12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lang="en-US" sz="12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2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._X, </a:t>
            </a:r>
            <a:r>
              <a:rPr b="0" lang="en-US" sz="12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2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._y = X, y</a:t>
            </a:r>
            <a:endParaRPr b="0" sz="12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lang="en-US" sz="12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lang="en-US" sz="12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lang="en-US" sz="12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endParaRPr b="0" sz="12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7589520" y="5943600"/>
            <a:ext cx="4022640" cy="319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7C8F9A"/>
                </a:solidFill>
                <a:latin typeface="Calibri"/>
                <a:ea typeface="Calibri"/>
                <a:cs typeface="Calibri"/>
                <a:sym typeface="Calibri"/>
              </a:rPr>
              <a:t>Programación de Inteligencia Artificial · CE IA y Big Data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202B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"/>
          <p:cNvSpPr/>
          <p:nvPr/>
        </p:nvSpPr>
        <p:spPr>
          <a:xfrm>
            <a:off x="567000" y="1920240"/>
            <a:ext cx="1736640" cy="137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400" u="none" strike="noStrike">
                <a:solidFill>
                  <a:srgbClr val="0E7C7B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sz="8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2286000" y="2148840"/>
            <a:ext cx="8960400" cy="822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 u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Clases y objetos</a:t>
            </a:r>
            <a:endParaRPr b="0" sz="3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2331720" y="3017520"/>
            <a:ext cx="8777520" cy="822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50" u="none" strike="noStrike">
                <a:solidFill>
                  <a:srgbClr val="A9BAC4"/>
                </a:solidFill>
                <a:latin typeface="Calibri"/>
                <a:ea typeface="Calibri"/>
                <a:cs typeface="Calibri"/>
                <a:sym typeface="Calibri"/>
              </a:rPr>
              <a:t>Si vienes de Java, el 80 % te sonará. Lo que cambia es la ceremonia, no las ideas.</a:t>
            </a:r>
            <a:endParaRPr b="0" sz="15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2331720" y="3886200"/>
            <a:ext cx="5485680" cy="36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"/>
          <p:cNvSpPr/>
          <p:nvPr/>
        </p:nvSpPr>
        <p:spPr>
          <a:xfrm>
            <a:off x="567000" y="384120"/>
            <a:ext cx="1105452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PUNTO DE PARTIDA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567000" y="658440"/>
            <a:ext cx="11054520" cy="639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 strike="noStrike">
                <a:solidFill>
                  <a:srgbClr val="17262E"/>
                </a:solidFill>
                <a:latin typeface="Cambria"/>
                <a:ea typeface="Cambria"/>
                <a:cs typeface="Cambria"/>
                <a:sym typeface="Cambria"/>
              </a:rPr>
              <a:t>En Python ya llevas tres sesiones usando objetos</a:t>
            </a:r>
            <a:endParaRPr b="0" sz="3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567000" y="1444680"/>
            <a:ext cx="5028480" cy="7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 u="none" strike="noStrike">
                <a:solidFill>
                  <a:srgbClr val="5A6B75"/>
                </a:solidFill>
                <a:latin typeface="Calibri"/>
                <a:ea typeface="Calibri"/>
                <a:cs typeface="Calibri"/>
                <a:sym typeface="Calibri"/>
              </a:rPr>
              <a:t>Números, listas, funciones y módulos son objetos con métodos.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567000" y="2221920"/>
            <a:ext cx="5028480" cy="3976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3080" lvl="0" marL="34308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262E"/>
              </a:buClr>
              <a:buSzPts val="1500"/>
              <a:buFont typeface="Noto Sans Symbols"/>
              <a:buChar char="●"/>
            </a:pPr>
            <a:r>
              <a:rPr b="0" lang="en-US" sz="15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dir(objeto) enumera todo lo que ese objeto sabe hacer.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15000"/>
              </a:lnSpc>
              <a:spcBef>
                <a:spcPts val="901"/>
              </a:spcBef>
              <a:spcAft>
                <a:spcPts val="0"/>
              </a:spcAft>
              <a:buClr>
                <a:srgbClr val="17262E"/>
              </a:buClr>
              <a:buSzPts val="1500"/>
              <a:buFont typeface="Noto Sans Symbols"/>
              <a:buChar char="●"/>
            </a:pPr>
            <a:r>
              <a:rPr b="0" lang="en-US" sz="15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Los métodos que empiezan y acaban en doble guion bajo son los del lenguaje.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15000"/>
              </a:lnSpc>
              <a:spcBef>
                <a:spcPts val="901"/>
              </a:spcBef>
              <a:spcAft>
                <a:spcPts val="0"/>
              </a:spcAft>
              <a:buClr>
                <a:srgbClr val="17262E"/>
              </a:buClr>
              <a:buSzPts val="1500"/>
              <a:buFont typeface="Noto Sans Symbols"/>
              <a:buChar char="●"/>
            </a:pPr>
            <a:r>
              <a:rPr b="0" lang="en-US" sz="15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Definir una clase es añadir un tipo nuevo al lenguaje.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15000"/>
              </a:lnSpc>
              <a:spcBef>
                <a:spcPts val="901"/>
              </a:spcBef>
              <a:spcAft>
                <a:spcPts val="0"/>
              </a:spcAft>
              <a:buClr>
                <a:srgbClr val="17262E"/>
              </a:buClr>
              <a:buSzPts val="1500"/>
              <a:buFont typeface="Noto Sans Symbols"/>
              <a:buChar char="●"/>
            </a:pPr>
            <a:r>
              <a:rPr b="0" lang="en-US" sz="15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La clase describe; el objeto (instancia) existe en memoria.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5943600" y="1444680"/>
            <a:ext cx="5668560" cy="2427120"/>
          </a:xfrm>
          <a:prstGeom prst="roundRect">
            <a:avLst>
              <a:gd fmla="val 3013" name="adj"/>
            </a:avLst>
          </a:prstGeom>
          <a:solidFill>
            <a:srgbClr val="10202B"/>
          </a:solidFill>
          <a:ln cap="flat" cmpd="sng" w="12700">
            <a:solidFill>
              <a:srgbClr val="102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6144840" y="1618560"/>
            <a:ext cx="95400" cy="95400"/>
          </a:xfrm>
          <a:prstGeom prst="ellipse">
            <a:avLst/>
          </a:prstGeom>
          <a:solidFill>
            <a:srgbClr val="E4B363"/>
          </a:solidFill>
          <a:ln cap="flat" cmpd="sng" w="12700">
            <a:solidFill>
              <a:srgbClr val="E4B3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875" spcFirstLastPara="1" rIns="47875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6346080" y="1618560"/>
            <a:ext cx="95400" cy="95400"/>
          </a:xfrm>
          <a:prstGeom prst="ellipse">
            <a:avLst/>
          </a:prstGeom>
          <a:solidFill>
            <a:srgbClr val="17BEBB"/>
          </a:solidFill>
          <a:ln cap="flat" cmpd="sng" w="12700">
            <a:solidFill>
              <a:srgbClr val="17BE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875" spcFirstLastPara="1" rIns="47875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6546960" y="1618560"/>
            <a:ext cx="95400" cy="95400"/>
          </a:xfrm>
          <a:prstGeom prst="ellipse">
            <a:avLst/>
          </a:prstGeom>
          <a:solidFill>
            <a:srgbClr val="3E5563"/>
          </a:solidFill>
          <a:ln cap="flat" cmpd="sng" w="12700">
            <a:solidFill>
              <a:srgbClr val="3E5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875" spcFirstLastPara="1" rIns="47875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6812280" y="1545480"/>
            <a:ext cx="4571280" cy="227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E8390"/>
                </a:solidFill>
                <a:latin typeface="Courier New"/>
                <a:ea typeface="Courier New"/>
                <a:cs typeface="Courier New"/>
                <a:sym typeface="Courier New"/>
              </a:rPr>
              <a:t>objetos.py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6126480" y="1856160"/>
            <a:ext cx="5348520" cy="19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x = [</a:t>
            </a:r>
            <a:r>
              <a:rPr b="0" lang="en-US" sz="11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(x)           </a:t>
            </a:r>
            <a:r>
              <a:rPr b="0" lang="en-US" sz="11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&lt;class 'list'&gt;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x.sort()          </a:t>
            </a:r>
            <a:r>
              <a:rPr b="0" lang="en-US" sz="11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método del objeto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(x)            </a:t>
            </a:r>
            <a:r>
              <a:rPr b="0" lang="en-US" sz="11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llama a x.__len__()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isinstance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(x, </a:t>
            </a:r>
            <a:r>
              <a:rPr b="0" lang="en-US" sz="110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  </a:t>
            </a:r>
            <a:r>
              <a:rPr b="0" lang="en-US" sz="11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True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"abc"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.upper()     </a:t>
            </a:r>
            <a:r>
              <a:rPr b="0" lang="en-US" sz="11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también es un objeto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lang="en-US" sz="11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).bit_length()  </a:t>
            </a:r>
            <a:r>
              <a:rPr b="0" lang="en-US" sz="11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hasta los enteros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"/>
          <p:cNvSpPr/>
          <p:nvPr/>
        </p:nvSpPr>
        <p:spPr>
          <a:xfrm>
            <a:off x="567000" y="384120"/>
            <a:ext cx="1105452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DEFINICIÓN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567000" y="658440"/>
            <a:ext cx="11054520" cy="639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 strike="noStrike">
                <a:solidFill>
                  <a:srgbClr val="17262E"/>
                </a:solidFill>
                <a:latin typeface="Cambria"/>
                <a:ea typeface="Cambria"/>
                <a:cs typeface="Cambria"/>
                <a:sym typeface="Cambria"/>
              </a:rPr>
              <a:t>La clase mínima: __init__ y self</a:t>
            </a:r>
            <a:endParaRPr b="0" sz="3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567000" y="1417320"/>
            <a:ext cx="11054520" cy="3289680"/>
          </a:xfrm>
          <a:prstGeom prst="roundRect">
            <a:avLst>
              <a:gd fmla="val 2223" name="adj"/>
            </a:avLst>
          </a:prstGeom>
          <a:solidFill>
            <a:srgbClr val="10202B"/>
          </a:solidFill>
          <a:ln cap="flat" cmpd="sng" w="12700">
            <a:solidFill>
              <a:srgbClr val="102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768240" y="1591200"/>
            <a:ext cx="95400" cy="95400"/>
          </a:xfrm>
          <a:prstGeom prst="ellipse">
            <a:avLst/>
          </a:prstGeom>
          <a:solidFill>
            <a:srgbClr val="E4B363"/>
          </a:solidFill>
          <a:ln cap="flat" cmpd="sng" w="12700">
            <a:solidFill>
              <a:srgbClr val="E4B3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875" spcFirstLastPara="1" rIns="47875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969120" y="1591200"/>
            <a:ext cx="95400" cy="95400"/>
          </a:xfrm>
          <a:prstGeom prst="ellipse">
            <a:avLst/>
          </a:prstGeom>
          <a:solidFill>
            <a:srgbClr val="17BEBB"/>
          </a:solidFill>
          <a:ln cap="flat" cmpd="sng" w="12700">
            <a:solidFill>
              <a:srgbClr val="17BE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875" spcFirstLastPara="1" rIns="47875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1170360" y="1591200"/>
            <a:ext cx="95400" cy="95400"/>
          </a:xfrm>
          <a:prstGeom prst="ellipse">
            <a:avLst/>
          </a:prstGeom>
          <a:solidFill>
            <a:srgbClr val="3E5563"/>
          </a:solidFill>
          <a:ln cap="flat" cmpd="sng" w="12700">
            <a:solidFill>
              <a:srgbClr val="3E5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875" spcFirstLastPara="1" rIns="47875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1435680" y="1517760"/>
            <a:ext cx="9957240" cy="227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E8390"/>
                </a:solidFill>
                <a:latin typeface="Courier New"/>
                <a:ea typeface="Courier New"/>
                <a:cs typeface="Courier New"/>
                <a:sym typeface="Courier New"/>
              </a:rPr>
              <a:t>muestra.py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749880" y="1828800"/>
            <a:ext cx="10734480" cy="2786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Muestra: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"""Una observación del conjunto de datos."""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__init__(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medidas: 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float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], clase: 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str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.medidas = medidas   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atributos de instancia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.clase = clase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dimension(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-&gt; 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  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self es SIEMPRE el primer parámetro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.medidas)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m = Muestra([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5.1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3.5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1.4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0.2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], 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"setosa"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no se usa "new"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(m.clase)       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setosa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(m.dimension()) 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4  -&gt; Muestra.dimension(m) por debajo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567000" y="4936320"/>
            <a:ext cx="11054520" cy="657720"/>
          </a:xfrm>
          <a:prstGeom prst="roundRect">
            <a:avLst>
              <a:gd fmla="val 8333" name="adj"/>
            </a:avLst>
          </a:prstGeom>
          <a:solidFill>
            <a:srgbClr val="EDF3F3"/>
          </a:solidFill>
          <a:ln cap="flat" cmpd="sng" w="12700">
            <a:solidFill>
              <a:srgbClr val="ED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768240" y="4936320"/>
            <a:ext cx="10643040" cy="65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Dos diferencias con Java: </a:t>
            </a:r>
            <a:r>
              <a:rPr b="0" lang="en-US" sz="14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__init__ no es un constructor, es un inicializador: el objeto ya existe cuando se llama. self es explícito porque Python prefiere lo explícito a lo implícito.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"/>
          <p:cNvSpPr/>
          <p:nvPr/>
        </p:nvSpPr>
        <p:spPr>
          <a:xfrm>
            <a:off x="567000" y="384120"/>
            <a:ext cx="1105452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ATRIBUTOS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567000" y="658440"/>
            <a:ext cx="11054520" cy="639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 strike="noStrike">
                <a:solidFill>
                  <a:srgbClr val="17262E"/>
                </a:solidFill>
                <a:latin typeface="Cambria"/>
                <a:ea typeface="Cambria"/>
                <a:cs typeface="Cambria"/>
                <a:sym typeface="Cambria"/>
              </a:rPr>
              <a:t>De instancia frente a de clase</a:t>
            </a:r>
            <a:endParaRPr b="0" sz="3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585360" y="1417320"/>
            <a:ext cx="5343840" cy="291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5A6B75"/>
                </a:solidFill>
                <a:latin typeface="Calibri"/>
                <a:ea typeface="Calibri"/>
                <a:cs typeface="Calibri"/>
                <a:sym typeface="Calibri"/>
              </a:rPr>
              <a:t>De instancia: uno por objeto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567000" y="1783080"/>
            <a:ext cx="5343840" cy="2900520"/>
          </a:xfrm>
          <a:prstGeom prst="roundRect">
            <a:avLst>
              <a:gd fmla="val 2521" name="adj"/>
            </a:avLst>
          </a:prstGeom>
          <a:solidFill>
            <a:srgbClr val="10202B"/>
          </a:solidFill>
          <a:ln cap="flat" cmpd="sng" w="12700">
            <a:solidFill>
              <a:srgbClr val="102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768240" y="1956960"/>
            <a:ext cx="95400" cy="95400"/>
          </a:xfrm>
          <a:prstGeom prst="ellipse">
            <a:avLst/>
          </a:prstGeom>
          <a:solidFill>
            <a:srgbClr val="E4B363"/>
          </a:solidFill>
          <a:ln cap="flat" cmpd="sng" w="12700">
            <a:solidFill>
              <a:srgbClr val="E4B3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875" spcFirstLastPara="1" rIns="47875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969120" y="1956960"/>
            <a:ext cx="95400" cy="95400"/>
          </a:xfrm>
          <a:prstGeom prst="ellipse">
            <a:avLst/>
          </a:prstGeom>
          <a:solidFill>
            <a:srgbClr val="17BEBB"/>
          </a:solidFill>
          <a:ln cap="flat" cmpd="sng" w="12700">
            <a:solidFill>
              <a:srgbClr val="17BE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875" spcFirstLastPara="1" rIns="47875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1170360" y="1956960"/>
            <a:ext cx="95400" cy="95400"/>
          </a:xfrm>
          <a:prstGeom prst="ellipse">
            <a:avLst/>
          </a:prstGeom>
          <a:solidFill>
            <a:srgbClr val="3E5563"/>
          </a:solidFill>
          <a:ln cap="flat" cmpd="sng" w="12700">
            <a:solidFill>
              <a:srgbClr val="3E5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875" spcFirstLastPara="1" rIns="47875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1435680" y="1883520"/>
            <a:ext cx="4246560" cy="227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E8390"/>
                </a:solidFill>
                <a:latin typeface="Courier New"/>
                <a:ea typeface="Courier New"/>
                <a:cs typeface="Courier New"/>
                <a:sym typeface="Courier New"/>
              </a:rPr>
              <a:t>instancia.py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749880" y="2194560"/>
            <a:ext cx="5023800" cy="23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Modelo: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__init__(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k):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.k = k     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propio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a = Modelo(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b = Modelo(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a.k 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3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b.k 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5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Se pueden añadir en caliente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a.entrenado =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6295680" y="1417320"/>
            <a:ext cx="5343840" cy="291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De clase: compartido por todos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6277320" y="1783080"/>
            <a:ext cx="5343840" cy="2511720"/>
          </a:xfrm>
          <a:prstGeom prst="roundRect">
            <a:avLst>
              <a:gd fmla="val 2912" name="adj"/>
            </a:avLst>
          </a:prstGeom>
          <a:solidFill>
            <a:srgbClr val="10202B"/>
          </a:solidFill>
          <a:ln cap="flat" cmpd="sng" w="12700">
            <a:solidFill>
              <a:srgbClr val="102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6478560" y="1956960"/>
            <a:ext cx="95400" cy="95400"/>
          </a:xfrm>
          <a:prstGeom prst="ellipse">
            <a:avLst/>
          </a:prstGeom>
          <a:solidFill>
            <a:srgbClr val="E4B363"/>
          </a:solidFill>
          <a:ln cap="flat" cmpd="sng" w="12700">
            <a:solidFill>
              <a:srgbClr val="E4B3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875" spcFirstLastPara="1" rIns="47875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6679800" y="1956960"/>
            <a:ext cx="95400" cy="95400"/>
          </a:xfrm>
          <a:prstGeom prst="ellipse">
            <a:avLst/>
          </a:prstGeom>
          <a:solidFill>
            <a:srgbClr val="17BEBB"/>
          </a:solidFill>
          <a:ln cap="flat" cmpd="sng" w="12700">
            <a:solidFill>
              <a:srgbClr val="17BE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875" spcFirstLastPara="1" rIns="47875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6881040" y="1956960"/>
            <a:ext cx="95400" cy="95400"/>
          </a:xfrm>
          <a:prstGeom prst="ellipse">
            <a:avLst/>
          </a:prstGeom>
          <a:solidFill>
            <a:srgbClr val="3E5563"/>
          </a:solidFill>
          <a:ln cap="flat" cmpd="sng" w="12700">
            <a:solidFill>
              <a:srgbClr val="3E5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875" spcFirstLastPara="1" rIns="47875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7146000" y="1883520"/>
            <a:ext cx="4246560" cy="227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E8390"/>
                </a:solidFill>
                <a:latin typeface="Courier New"/>
                <a:ea typeface="Courier New"/>
                <a:cs typeface="Courier New"/>
                <a:sym typeface="Courier New"/>
              </a:rPr>
              <a:t>clase.py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6460200" y="2194560"/>
            <a:ext cx="5023800" cy="20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Modelo: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contador =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compartido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METRICAS = (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"acierto"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"f1"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__init__(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k):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.k = k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Modelo.contador +=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Modelo(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); Modelo(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Modelo.contador 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2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567000" y="5715000"/>
            <a:ext cx="11054520" cy="657720"/>
          </a:xfrm>
          <a:prstGeom prst="roundRect">
            <a:avLst>
              <a:gd fmla="val 8333" name="adj"/>
            </a:avLst>
          </a:prstGeom>
          <a:solidFill>
            <a:srgbClr val="EDF3F3"/>
          </a:solidFill>
          <a:ln cap="flat" cmpd="sng" w="12700">
            <a:solidFill>
              <a:srgbClr val="ED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768240" y="5715000"/>
            <a:ext cx="10643040" cy="65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Idea clave: </a:t>
            </a:r>
            <a:r>
              <a:rPr b="0" lang="en-US" sz="14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los atributos de clase sirven para constantes y configuración común. Cuidado con poner ahí una lista mutable: la comparten todas las instancias (misma trampa que el argumento por defecto).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"/>
          <p:cNvSpPr/>
          <p:nvPr/>
        </p:nvSpPr>
        <p:spPr>
          <a:xfrm>
            <a:off x="567000" y="384120"/>
            <a:ext cx="1105452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MÉTODOS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567000" y="658440"/>
            <a:ext cx="11054520" cy="639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 strike="noStrike">
                <a:solidFill>
                  <a:srgbClr val="17262E"/>
                </a:solidFill>
                <a:latin typeface="Cambria"/>
                <a:ea typeface="Cambria"/>
                <a:cs typeface="Cambria"/>
                <a:sym typeface="Cambria"/>
              </a:rPr>
              <a:t>De instancia, de clase y estáticos</a:t>
            </a:r>
            <a:endParaRPr b="0" sz="3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567000" y="1417320"/>
            <a:ext cx="11054520" cy="4101840"/>
          </a:xfrm>
          <a:prstGeom prst="roundRect">
            <a:avLst>
              <a:gd fmla="val 1783" name="adj"/>
            </a:avLst>
          </a:prstGeom>
          <a:solidFill>
            <a:srgbClr val="10202B"/>
          </a:solidFill>
          <a:ln cap="flat" cmpd="sng" w="12700">
            <a:solidFill>
              <a:srgbClr val="102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768240" y="1591200"/>
            <a:ext cx="95400" cy="95400"/>
          </a:xfrm>
          <a:prstGeom prst="ellipse">
            <a:avLst/>
          </a:prstGeom>
          <a:solidFill>
            <a:srgbClr val="E4B363"/>
          </a:solidFill>
          <a:ln cap="flat" cmpd="sng" w="12700">
            <a:solidFill>
              <a:srgbClr val="E4B3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875" spcFirstLastPara="1" rIns="47875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969120" y="1591200"/>
            <a:ext cx="95400" cy="95400"/>
          </a:xfrm>
          <a:prstGeom prst="ellipse">
            <a:avLst/>
          </a:prstGeom>
          <a:solidFill>
            <a:srgbClr val="17BEBB"/>
          </a:solidFill>
          <a:ln cap="flat" cmpd="sng" w="12700">
            <a:solidFill>
              <a:srgbClr val="17BE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875" spcFirstLastPara="1" rIns="47875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1170360" y="1591200"/>
            <a:ext cx="95400" cy="95400"/>
          </a:xfrm>
          <a:prstGeom prst="ellipse">
            <a:avLst/>
          </a:prstGeom>
          <a:solidFill>
            <a:srgbClr val="3E5563"/>
          </a:solidFill>
          <a:ln cap="flat" cmpd="sng" w="12700">
            <a:solidFill>
              <a:srgbClr val="3E5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875" spcFirstLastPara="1" rIns="47875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1435680" y="1517760"/>
            <a:ext cx="9957240" cy="227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E8390"/>
                </a:solidFill>
                <a:latin typeface="Courier New"/>
                <a:ea typeface="Courier New"/>
                <a:cs typeface="Courier New"/>
                <a:sym typeface="Courier New"/>
              </a:rPr>
              <a:t>metodos.py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749880" y="1828800"/>
            <a:ext cx="10734480" cy="359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Muestra: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__init__(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medidas, clase):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.medidas,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.clase = medidas, clase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escalar(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factor):                  </a:t>
            </a:r>
            <a:r>
              <a:rPr b="0" lang="en-US" sz="11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instancia: usa self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Muestra([m * factor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m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.medidas],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.clase)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@</a:t>
            </a:r>
            <a:r>
              <a:rPr b="0" lang="en-US" sz="110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classmethod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desde_csv(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cls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linea: </a:t>
            </a:r>
            <a:r>
              <a:rPr b="0" lang="en-US" sz="110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str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):              </a:t>
            </a:r>
            <a:r>
              <a:rPr b="0" lang="en-US" sz="11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constructor alternativo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*nums, clase = linea.</a:t>
            </a:r>
            <a:r>
              <a:rPr b="0" lang="en-US" sz="110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strip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().</a:t>
            </a:r>
            <a:r>
              <a:rPr b="0" lang="en-US" sz="110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split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lang="en-US" sz="110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","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cls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([</a:t>
            </a:r>
            <a:r>
              <a:rPr b="0" lang="en-US" sz="110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float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(n)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n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nums], clase)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@</a:t>
            </a:r>
            <a:r>
              <a:rPr b="0" lang="en-US" sz="110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staticmethod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distancia(a, b):                         </a:t>
            </a:r>
            <a:r>
              <a:rPr b="0" lang="en-US" sz="11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ni self ni cls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lang="en-US" sz="110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((x - y) ** </a:t>
            </a:r>
            <a:r>
              <a:rPr b="0" lang="en-US" sz="11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x, y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lang="en-US" sz="110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zip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(a, b)) ** </a:t>
            </a:r>
            <a:r>
              <a:rPr b="0" lang="en-US" sz="11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0.5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m = Muestra.desde_csv(</a:t>
            </a:r>
            <a:r>
              <a:rPr b="0" lang="en-US" sz="110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"5.1,3.5,1.4,0.2,setosa"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Muestra.distancia([</a:t>
            </a:r>
            <a:r>
              <a:rPr b="0" lang="en-US" sz="11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], [</a:t>
            </a:r>
            <a:r>
              <a:rPr b="0" lang="en-US" sz="11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])                </a:t>
            </a:r>
            <a:r>
              <a:rPr b="0" lang="en-US" sz="11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5.0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567000" y="5748480"/>
            <a:ext cx="11054520" cy="657720"/>
          </a:xfrm>
          <a:prstGeom prst="roundRect">
            <a:avLst>
              <a:gd fmla="val 8333" name="adj"/>
            </a:avLst>
          </a:prstGeom>
          <a:solidFill>
            <a:srgbClr val="EDF3F3"/>
          </a:solidFill>
          <a:ln cap="flat" cmpd="sng" w="12700">
            <a:solidFill>
              <a:srgbClr val="ED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768240" y="5748480"/>
            <a:ext cx="10643040" cy="65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Patrón útil: </a:t>
            </a:r>
            <a:r>
              <a:rPr b="0" lang="en-US" sz="14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el patrón desde_csv con @classmethod es habitual: una clase, varias formas de crearla (desde fichero, desde diccionario, desde una fila de base de datos).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"/>
          <p:cNvSpPr/>
          <p:nvPr/>
        </p:nvSpPr>
        <p:spPr>
          <a:xfrm>
            <a:off x="567000" y="384120"/>
            <a:ext cx="1105452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ENCAPSULACIÓN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567000" y="658440"/>
            <a:ext cx="11054520" cy="639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 strike="noStrike">
                <a:solidFill>
                  <a:srgbClr val="17262E"/>
                </a:solidFill>
                <a:latin typeface="Cambria"/>
                <a:ea typeface="Cambria"/>
                <a:cs typeface="Cambria"/>
                <a:sym typeface="Cambria"/>
              </a:rPr>
              <a:t>Convenio, no candado: _ y @property</a:t>
            </a:r>
            <a:endParaRPr b="0" sz="3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567000" y="1417320"/>
            <a:ext cx="11054520" cy="4287960"/>
          </a:xfrm>
          <a:prstGeom prst="roundRect">
            <a:avLst>
              <a:gd fmla="val 1706" name="adj"/>
            </a:avLst>
          </a:prstGeom>
          <a:solidFill>
            <a:srgbClr val="10202B"/>
          </a:solidFill>
          <a:ln cap="flat" cmpd="sng" w="12700">
            <a:solidFill>
              <a:srgbClr val="102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768240" y="1591200"/>
            <a:ext cx="95400" cy="95400"/>
          </a:xfrm>
          <a:prstGeom prst="ellipse">
            <a:avLst/>
          </a:prstGeom>
          <a:solidFill>
            <a:srgbClr val="E4B363"/>
          </a:solidFill>
          <a:ln cap="flat" cmpd="sng" w="12700">
            <a:solidFill>
              <a:srgbClr val="E4B3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875" spcFirstLastPara="1" rIns="47875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969120" y="1591200"/>
            <a:ext cx="95400" cy="95400"/>
          </a:xfrm>
          <a:prstGeom prst="ellipse">
            <a:avLst/>
          </a:prstGeom>
          <a:solidFill>
            <a:srgbClr val="17BEBB"/>
          </a:solidFill>
          <a:ln cap="flat" cmpd="sng" w="12700">
            <a:solidFill>
              <a:srgbClr val="17BE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875" spcFirstLastPara="1" rIns="47875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1170360" y="1591200"/>
            <a:ext cx="95400" cy="95400"/>
          </a:xfrm>
          <a:prstGeom prst="ellipse">
            <a:avLst/>
          </a:prstGeom>
          <a:solidFill>
            <a:srgbClr val="3E5563"/>
          </a:solidFill>
          <a:ln cap="flat" cmpd="sng" w="12700">
            <a:solidFill>
              <a:srgbClr val="3E5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875" spcFirstLastPara="1" rIns="47875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1435680" y="1517760"/>
            <a:ext cx="9957240" cy="227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E8390"/>
                </a:solidFill>
                <a:latin typeface="Courier New"/>
                <a:ea typeface="Courier New"/>
                <a:cs typeface="Courier New"/>
                <a:sym typeface="Courier New"/>
              </a:rPr>
              <a:t>propiedades.py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749880" y="1828800"/>
            <a:ext cx="10734480" cy="378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Termometro: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__init__(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celsius):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._celsius = celsius        </a:t>
            </a:r>
            <a:r>
              <a:rPr b="0" lang="en-US" sz="11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"no me toques": convenio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@</a:t>
            </a:r>
            <a:r>
              <a:rPr b="0" lang="en-US" sz="110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property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celsius(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):                 </a:t>
            </a:r>
            <a:r>
              <a:rPr b="0" lang="en-US" sz="11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se usa como atributo, no método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._celsius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@celsius.setter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celsius(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valor):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valor &lt; -</a:t>
            </a:r>
            <a:r>
              <a:rPr b="0" lang="en-US" sz="11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273.15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raise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ValueError(</a:t>
            </a:r>
            <a:r>
              <a:rPr b="0" lang="en-US" sz="110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"Por debajo del cero absoluto"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._celsius = valor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@</a:t>
            </a:r>
            <a:r>
              <a:rPr b="0" lang="en-US" sz="110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property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fahrenheit(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):              </a:t>
            </a:r>
            <a:r>
              <a:rPr b="0" lang="en-US" sz="11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atributo calculado, sin almacenar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._celsius * </a:t>
            </a:r>
            <a:r>
              <a:rPr b="0" lang="en-US" sz="11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/ </a:t>
            </a:r>
            <a:r>
              <a:rPr b="0" lang="en-US" sz="11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+ </a:t>
            </a:r>
            <a:r>
              <a:rPr b="0" lang="en-US" sz="11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32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t = Termometro(</a:t>
            </a:r>
            <a:r>
              <a:rPr b="0" lang="en-US" sz="11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25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t.celsius = </a:t>
            </a:r>
            <a:r>
              <a:rPr b="0" lang="en-US" sz="11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30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lang="en-US" sz="11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pasa por el setter y valida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t.fahrenheit          </a:t>
            </a:r>
            <a:r>
              <a:rPr b="0" lang="en-US" sz="11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86.0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567000" y="5934600"/>
            <a:ext cx="11054520" cy="657720"/>
          </a:xfrm>
          <a:prstGeom prst="roundRect">
            <a:avLst>
              <a:gd fmla="val 8333" name="adj"/>
            </a:avLst>
          </a:prstGeom>
          <a:solidFill>
            <a:srgbClr val="EDF3F3"/>
          </a:solidFill>
          <a:ln cap="flat" cmpd="sng" w="12700">
            <a:solidFill>
              <a:srgbClr val="ED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768240" y="5934600"/>
            <a:ext cx="10643040" cy="65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Filosofía distinta: </a:t>
            </a:r>
            <a:r>
              <a:rPr b="0" lang="en-US" sz="14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Python no tiene private real: _x es "uso interno". Empieza con atributos públicos y añade @property cuando necesites validar.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202B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/>
          <p:nvPr/>
        </p:nvSpPr>
        <p:spPr>
          <a:xfrm>
            <a:off x="567000" y="457200"/>
            <a:ext cx="1105452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 u="none" strike="noStrike">
                <a:solidFill>
                  <a:srgbClr val="17BEBB"/>
                </a:solidFill>
                <a:latin typeface="Calibri"/>
                <a:ea typeface="Calibri"/>
                <a:cs typeface="Calibri"/>
                <a:sym typeface="Calibri"/>
              </a:rPr>
              <a:t>PRÁCTICA 4.1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567000" y="749880"/>
            <a:ext cx="11054520" cy="639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Tus primeras clases</a:t>
            </a:r>
            <a:endParaRPr b="0" sz="30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567000" y="1600200"/>
            <a:ext cx="5394240" cy="4205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3080" lvl="0" marL="34308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E2E8"/>
              </a:buClr>
              <a:buSzPts val="1500"/>
              <a:buFont typeface="Noto Sans Symbols"/>
              <a:buChar char="🞂"/>
            </a:pPr>
            <a:r>
              <a:rPr b="0" lang="en-US" sz="1500" u="none" strike="noStrike">
                <a:solidFill>
                  <a:srgbClr val="D6E2E8"/>
                </a:solidFill>
                <a:latin typeface="Calibri"/>
                <a:ea typeface="Calibri"/>
                <a:cs typeface="Calibri"/>
                <a:sym typeface="Calibri"/>
              </a:rPr>
              <a:t>E4.1 · Clase CuentaBancaria con saldo privado, ingresar, retirar (valida saldo suficiente) y propiedad saldo de solo lectura.</a:t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D6E2E8"/>
              </a:buClr>
              <a:buSzPts val="1500"/>
              <a:buFont typeface="Noto Sans Symbols"/>
              <a:buChar char="🞂"/>
            </a:pPr>
            <a:r>
              <a:rPr b="0" lang="en-US" sz="1500" u="none" strike="noStrike">
                <a:solidFill>
                  <a:srgbClr val="D6E2E8"/>
                </a:solidFill>
                <a:latin typeface="Calibri"/>
                <a:ea typeface="Calibri"/>
                <a:cs typeface="Calibri"/>
                <a:sym typeface="Calibri"/>
              </a:rPr>
              <a:t>E4.2 · Clase Alumno con nombre y lista de notas: métodos añadir_nota(), media() y propiedad aprobado.</a:t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D6E2E8"/>
              </a:buClr>
              <a:buSzPts val="1500"/>
              <a:buFont typeface="Noto Sans Symbols"/>
              <a:buChar char="🞂"/>
            </a:pPr>
            <a:r>
              <a:rPr b="0" lang="en-US" sz="1500" u="none" strike="noStrike">
                <a:solidFill>
                  <a:srgbClr val="D6E2E8"/>
                </a:solidFill>
                <a:latin typeface="Calibri"/>
                <a:ea typeface="Calibri"/>
                <a:cs typeface="Calibri"/>
                <a:sym typeface="Calibri"/>
              </a:rPr>
              <a:t>E4.3 · Clase Vector2D con suma, módulo y un método de clase desde_texto("3,4").</a:t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D6E2E8"/>
              </a:buClr>
              <a:buSzPts val="1500"/>
              <a:buFont typeface="Noto Sans Symbols"/>
              <a:buChar char="🞂"/>
            </a:pPr>
            <a:r>
              <a:rPr b="0" lang="en-US" sz="1500" u="none" strike="noStrike">
                <a:solidFill>
                  <a:srgbClr val="D6E2E8"/>
                </a:solidFill>
                <a:latin typeface="Calibri"/>
                <a:ea typeface="Calibri"/>
                <a:cs typeface="Calibri"/>
                <a:sym typeface="Calibri"/>
              </a:rPr>
              <a:t>E4.4 · Convierte la función resumen_por_clase() del proyecto 1 en una clase Dataset con métodos.</a:t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6309360" y="1600200"/>
            <a:ext cx="5302800" cy="3095280"/>
          </a:xfrm>
          <a:prstGeom prst="roundRect">
            <a:avLst>
              <a:gd fmla="val 2363" name="adj"/>
            </a:avLst>
          </a:prstGeom>
          <a:solidFill>
            <a:srgbClr val="1A2F3D"/>
          </a:solidFill>
          <a:ln cap="flat" cmpd="sng" w="12700">
            <a:solidFill>
              <a:srgbClr val="2B42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6492240" y="2011680"/>
            <a:ext cx="4982760" cy="374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E4.1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CuentaBancaria: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__init__(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titular, saldo=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0.0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.titular = titular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._saldo = saldo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@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property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saldo(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...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retirar(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cantidad):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...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6492240" y="1710000"/>
            <a:ext cx="4937040" cy="227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E8390"/>
                </a:solidFill>
                <a:latin typeface="Courier New"/>
                <a:ea typeface="Courier New"/>
                <a:cs typeface="Courier New"/>
                <a:sym typeface="Courier New"/>
              </a:rPr>
              <a:t>e4_1.py</a:t>
            </a:r>
            <a:endParaRPr b="0" sz="10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567000" y="6035040"/>
            <a:ext cx="5485680" cy="319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202B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"/>
          <p:cNvSpPr/>
          <p:nvPr/>
        </p:nvSpPr>
        <p:spPr>
          <a:xfrm>
            <a:off x="567000" y="1920240"/>
            <a:ext cx="1736640" cy="137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400" u="none" strike="noStrike">
                <a:solidFill>
                  <a:srgbClr val="0E7C7B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sz="8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9"/>
          <p:cNvSpPr/>
          <p:nvPr/>
        </p:nvSpPr>
        <p:spPr>
          <a:xfrm>
            <a:off x="2286000" y="2148840"/>
            <a:ext cx="8960400" cy="822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 u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Métodos especiales y dataclasses</a:t>
            </a:r>
            <a:endParaRPr b="0" sz="3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9"/>
          <p:cNvSpPr/>
          <p:nvPr/>
        </p:nvSpPr>
        <p:spPr>
          <a:xfrm>
            <a:off x="2331720" y="3017520"/>
            <a:ext cx="8777520" cy="822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50" u="none" strike="noStrike">
                <a:solidFill>
                  <a:srgbClr val="A9BAC4"/>
                </a:solidFill>
                <a:latin typeface="Calibri"/>
                <a:ea typeface="Calibri"/>
                <a:cs typeface="Calibri"/>
                <a:sym typeface="Calibri"/>
              </a:rPr>
              <a:t>Hacer que tus objetos se comporten como los del lenguaje: imprimirse, compararse, medirse, recorrerse.</a:t>
            </a:r>
            <a:endParaRPr b="0" sz="15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2331720" y="3886200"/>
            <a:ext cx="5485680" cy="36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"/>
          <p:cNvSpPr/>
          <p:nvPr/>
        </p:nvSpPr>
        <p:spPr>
          <a:xfrm>
            <a:off x="567000" y="384120"/>
            <a:ext cx="1105452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REPRESENTACIÓN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0"/>
          <p:cNvSpPr/>
          <p:nvPr/>
        </p:nvSpPr>
        <p:spPr>
          <a:xfrm>
            <a:off x="567000" y="658440"/>
            <a:ext cx="11054520" cy="639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 strike="noStrike">
                <a:solidFill>
                  <a:srgbClr val="17262E"/>
                </a:solidFill>
                <a:latin typeface="Cambria"/>
                <a:ea typeface="Cambria"/>
                <a:cs typeface="Cambria"/>
                <a:sym typeface="Cambria"/>
              </a:rPr>
              <a:t>__str__ para personas, __repr__ para programadores</a:t>
            </a:r>
            <a:endParaRPr b="0" sz="3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0"/>
          <p:cNvSpPr/>
          <p:nvPr/>
        </p:nvSpPr>
        <p:spPr>
          <a:xfrm>
            <a:off x="585360" y="1417320"/>
            <a:ext cx="5343840" cy="291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5A6B75"/>
                </a:solidFill>
                <a:latin typeface="Calibri"/>
                <a:ea typeface="Calibri"/>
                <a:cs typeface="Calibri"/>
                <a:sym typeface="Calibri"/>
              </a:rPr>
              <a:t>Sin definir nada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0"/>
          <p:cNvSpPr/>
          <p:nvPr/>
        </p:nvSpPr>
        <p:spPr>
          <a:xfrm>
            <a:off x="567000" y="1783080"/>
            <a:ext cx="5343840" cy="2511720"/>
          </a:xfrm>
          <a:prstGeom prst="roundRect">
            <a:avLst>
              <a:gd fmla="val 2912" name="adj"/>
            </a:avLst>
          </a:prstGeom>
          <a:solidFill>
            <a:srgbClr val="10202B"/>
          </a:solidFill>
          <a:ln cap="flat" cmpd="sng" w="12700">
            <a:solidFill>
              <a:srgbClr val="102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0"/>
          <p:cNvSpPr/>
          <p:nvPr/>
        </p:nvSpPr>
        <p:spPr>
          <a:xfrm>
            <a:off x="768240" y="1956960"/>
            <a:ext cx="95400" cy="95400"/>
          </a:xfrm>
          <a:prstGeom prst="ellipse">
            <a:avLst/>
          </a:prstGeom>
          <a:solidFill>
            <a:srgbClr val="E4B363"/>
          </a:solidFill>
          <a:ln cap="flat" cmpd="sng" w="12700">
            <a:solidFill>
              <a:srgbClr val="E4B3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875" spcFirstLastPara="1" rIns="47875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0"/>
          <p:cNvSpPr/>
          <p:nvPr/>
        </p:nvSpPr>
        <p:spPr>
          <a:xfrm>
            <a:off x="969120" y="1956960"/>
            <a:ext cx="95400" cy="95400"/>
          </a:xfrm>
          <a:prstGeom prst="ellipse">
            <a:avLst/>
          </a:prstGeom>
          <a:solidFill>
            <a:srgbClr val="17BEBB"/>
          </a:solidFill>
          <a:ln cap="flat" cmpd="sng" w="12700">
            <a:solidFill>
              <a:srgbClr val="17BE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875" spcFirstLastPara="1" rIns="47875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0"/>
          <p:cNvSpPr/>
          <p:nvPr/>
        </p:nvSpPr>
        <p:spPr>
          <a:xfrm>
            <a:off x="1170360" y="1956960"/>
            <a:ext cx="95400" cy="95400"/>
          </a:xfrm>
          <a:prstGeom prst="ellipse">
            <a:avLst/>
          </a:prstGeom>
          <a:solidFill>
            <a:srgbClr val="3E5563"/>
          </a:solidFill>
          <a:ln cap="flat" cmpd="sng" w="12700">
            <a:solidFill>
              <a:srgbClr val="3E5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875" spcFirstLastPara="1" rIns="47875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0"/>
          <p:cNvSpPr/>
          <p:nvPr/>
        </p:nvSpPr>
        <p:spPr>
          <a:xfrm>
            <a:off x="1435680" y="1883520"/>
            <a:ext cx="4246560" cy="227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E8390"/>
                </a:solidFill>
                <a:latin typeface="Courier New"/>
                <a:ea typeface="Courier New"/>
                <a:cs typeface="Courier New"/>
                <a:sym typeface="Courier New"/>
              </a:rPr>
              <a:t>sin.py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749880" y="2194560"/>
            <a:ext cx="5023800" cy="20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Muestra: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__init__(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clase):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.clase = clase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(Muestra(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"setosa"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&lt;__main__.Muestra object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 at 0x7f3a2c1d5e50&gt;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Inútil al depurar o al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imprimir una lista de objetos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0"/>
          <p:cNvSpPr/>
          <p:nvPr/>
        </p:nvSpPr>
        <p:spPr>
          <a:xfrm>
            <a:off x="6295680" y="1417320"/>
            <a:ext cx="5343840" cy="291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Definiéndolos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0"/>
          <p:cNvSpPr/>
          <p:nvPr/>
        </p:nvSpPr>
        <p:spPr>
          <a:xfrm>
            <a:off x="6277320" y="1783080"/>
            <a:ext cx="5343840" cy="2900520"/>
          </a:xfrm>
          <a:prstGeom prst="roundRect">
            <a:avLst>
              <a:gd fmla="val 2521" name="adj"/>
            </a:avLst>
          </a:prstGeom>
          <a:solidFill>
            <a:srgbClr val="10202B"/>
          </a:solidFill>
          <a:ln cap="flat" cmpd="sng" w="12700">
            <a:solidFill>
              <a:srgbClr val="102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0"/>
          <p:cNvSpPr/>
          <p:nvPr/>
        </p:nvSpPr>
        <p:spPr>
          <a:xfrm>
            <a:off x="6478560" y="1956960"/>
            <a:ext cx="95400" cy="95400"/>
          </a:xfrm>
          <a:prstGeom prst="ellipse">
            <a:avLst/>
          </a:prstGeom>
          <a:solidFill>
            <a:srgbClr val="E4B363"/>
          </a:solidFill>
          <a:ln cap="flat" cmpd="sng" w="12700">
            <a:solidFill>
              <a:srgbClr val="E4B3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875" spcFirstLastPara="1" rIns="47875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6679800" y="1956960"/>
            <a:ext cx="95400" cy="95400"/>
          </a:xfrm>
          <a:prstGeom prst="ellipse">
            <a:avLst/>
          </a:prstGeom>
          <a:solidFill>
            <a:srgbClr val="17BEBB"/>
          </a:solidFill>
          <a:ln cap="flat" cmpd="sng" w="12700">
            <a:solidFill>
              <a:srgbClr val="17BE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875" spcFirstLastPara="1" rIns="47875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0"/>
          <p:cNvSpPr/>
          <p:nvPr/>
        </p:nvSpPr>
        <p:spPr>
          <a:xfrm>
            <a:off x="6881040" y="1956960"/>
            <a:ext cx="95400" cy="95400"/>
          </a:xfrm>
          <a:prstGeom prst="ellipse">
            <a:avLst/>
          </a:prstGeom>
          <a:solidFill>
            <a:srgbClr val="3E5563"/>
          </a:solidFill>
          <a:ln cap="flat" cmpd="sng" w="12700">
            <a:solidFill>
              <a:srgbClr val="3E5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875" spcFirstLastPara="1" rIns="47875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0"/>
          <p:cNvSpPr/>
          <p:nvPr/>
        </p:nvSpPr>
        <p:spPr>
          <a:xfrm>
            <a:off x="7146000" y="1883520"/>
            <a:ext cx="4246560" cy="227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E8390"/>
                </a:solidFill>
                <a:latin typeface="Courier New"/>
                <a:ea typeface="Courier New"/>
                <a:cs typeface="Courier New"/>
                <a:sym typeface="Courier New"/>
              </a:rPr>
              <a:t>con.py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6460200" y="2194560"/>
            <a:ext cx="5023800" cy="23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Muestra: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__init__(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clase):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.clase = clase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__str__(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f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"Muestra de {self.clase}"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__repr__(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f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"Muestra({self.clase!r})"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(Muestra(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"setosa"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Muestra de setosa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0"/>
          <p:cNvSpPr/>
          <p:nvPr/>
        </p:nvSpPr>
        <p:spPr>
          <a:xfrm>
            <a:off x="567000" y="5715000"/>
            <a:ext cx="11054520" cy="657720"/>
          </a:xfrm>
          <a:prstGeom prst="roundRect">
            <a:avLst>
              <a:gd fmla="val 8333" name="adj"/>
            </a:avLst>
          </a:prstGeom>
          <a:solidFill>
            <a:srgbClr val="EDF3F3"/>
          </a:solidFill>
          <a:ln cap="flat" cmpd="sng" w="12700">
            <a:solidFill>
              <a:srgbClr val="ED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0"/>
          <p:cNvSpPr/>
          <p:nvPr/>
        </p:nvSpPr>
        <p:spPr>
          <a:xfrm>
            <a:off x="768240" y="5715000"/>
            <a:ext cx="10643040" cy="65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Idea clave: </a:t>
            </a:r>
            <a:r>
              <a:rPr b="0" lang="en-US" sz="14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print() y f-strings usan __str__; el REPL, las listas y el depurador usan __repr__. Si solo vas a escribir uno, escribe __repr__.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1"/>
          <p:cNvSpPr/>
          <p:nvPr/>
        </p:nvSpPr>
        <p:spPr>
          <a:xfrm>
            <a:off x="567000" y="384120"/>
            <a:ext cx="1105452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PROTOCOLOS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567000" y="658440"/>
            <a:ext cx="11054520" cy="639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 strike="noStrike">
                <a:solidFill>
                  <a:srgbClr val="17262E"/>
                </a:solidFill>
                <a:latin typeface="Cambria"/>
                <a:ea typeface="Cambria"/>
                <a:cs typeface="Cambria"/>
                <a:sym typeface="Cambria"/>
              </a:rPr>
              <a:t>Integrar tu clase en el lenguaje</a:t>
            </a:r>
            <a:endParaRPr b="0" sz="3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1"/>
          <p:cNvSpPr/>
          <p:nvPr/>
        </p:nvSpPr>
        <p:spPr>
          <a:xfrm>
            <a:off x="567000" y="1417320"/>
            <a:ext cx="11054520" cy="4287960"/>
          </a:xfrm>
          <a:prstGeom prst="roundRect">
            <a:avLst>
              <a:gd fmla="val 1706" name="adj"/>
            </a:avLst>
          </a:prstGeom>
          <a:solidFill>
            <a:srgbClr val="10202B"/>
          </a:solidFill>
          <a:ln cap="flat" cmpd="sng" w="12700">
            <a:solidFill>
              <a:srgbClr val="102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1"/>
          <p:cNvSpPr/>
          <p:nvPr/>
        </p:nvSpPr>
        <p:spPr>
          <a:xfrm>
            <a:off x="768240" y="1591200"/>
            <a:ext cx="95400" cy="95400"/>
          </a:xfrm>
          <a:prstGeom prst="ellipse">
            <a:avLst/>
          </a:prstGeom>
          <a:solidFill>
            <a:srgbClr val="E4B363"/>
          </a:solidFill>
          <a:ln cap="flat" cmpd="sng" w="12700">
            <a:solidFill>
              <a:srgbClr val="E4B3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875" spcFirstLastPara="1" rIns="47875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1"/>
          <p:cNvSpPr/>
          <p:nvPr/>
        </p:nvSpPr>
        <p:spPr>
          <a:xfrm>
            <a:off x="969120" y="1591200"/>
            <a:ext cx="95400" cy="95400"/>
          </a:xfrm>
          <a:prstGeom prst="ellipse">
            <a:avLst/>
          </a:prstGeom>
          <a:solidFill>
            <a:srgbClr val="17BEBB"/>
          </a:solidFill>
          <a:ln cap="flat" cmpd="sng" w="12700">
            <a:solidFill>
              <a:srgbClr val="17BE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875" spcFirstLastPara="1" rIns="47875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1"/>
          <p:cNvSpPr/>
          <p:nvPr/>
        </p:nvSpPr>
        <p:spPr>
          <a:xfrm>
            <a:off x="1170360" y="1591200"/>
            <a:ext cx="95400" cy="95400"/>
          </a:xfrm>
          <a:prstGeom prst="ellipse">
            <a:avLst/>
          </a:prstGeom>
          <a:solidFill>
            <a:srgbClr val="3E5563"/>
          </a:solidFill>
          <a:ln cap="flat" cmpd="sng" w="12700">
            <a:solidFill>
              <a:srgbClr val="3E5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875" spcFirstLastPara="1" rIns="47875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1"/>
          <p:cNvSpPr/>
          <p:nvPr/>
        </p:nvSpPr>
        <p:spPr>
          <a:xfrm>
            <a:off x="1435680" y="1517760"/>
            <a:ext cx="9957240" cy="227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E8390"/>
                </a:solidFill>
                <a:latin typeface="Courier New"/>
                <a:ea typeface="Courier New"/>
                <a:cs typeface="Courier New"/>
                <a:sym typeface="Courier New"/>
              </a:rPr>
              <a:t>protocolos.py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1"/>
          <p:cNvSpPr/>
          <p:nvPr/>
        </p:nvSpPr>
        <p:spPr>
          <a:xfrm>
            <a:off x="749880" y="1828800"/>
            <a:ext cx="10734480" cy="378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Dataset: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__init__(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muestras):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._muestras = muestras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__len__(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):                    </a:t>
            </a:r>
            <a:r>
              <a:rPr b="0" lang="en-US" sz="11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len(ds)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lang="en-US" sz="110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._muestras)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__getitem__(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i):             </a:t>
            </a:r>
            <a:r>
              <a:rPr b="0" lang="en-US" sz="11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ds[0]  y  ds[10:20]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._muestras[i]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__iter__(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):                   </a:t>
            </a:r>
            <a:r>
              <a:rPr b="0" lang="en-US" sz="11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for m in ds: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iter(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._muestras)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__eq__(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otro):               </a:t>
            </a:r>
            <a:r>
              <a:rPr b="0" lang="en-US" sz="11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ds1 == ds2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._muestras == otro._muestras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ds = Dataset([m1, m2, m3])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(ds); ds[</a:t>
            </a:r>
            <a:r>
              <a:rPr b="0" lang="en-US" sz="11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]; ds[:</a:t>
            </a:r>
            <a:r>
              <a:rPr b="0" lang="en-US" sz="11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          </a:t>
            </a:r>
            <a:r>
              <a:rPr b="0" lang="en-US" sz="11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funcionan sin más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m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ds: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10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(m)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1"/>
          <p:cNvSpPr/>
          <p:nvPr/>
        </p:nvSpPr>
        <p:spPr>
          <a:xfrm>
            <a:off x="567000" y="5934600"/>
            <a:ext cx="11054520" cy="657720"/>
          </a:xfrm>
          <a:prstGeom prst="roundRect">
            <a:avLst>
              <a:gd fmla="val 8333" name="adj"/>
            </a:avLst>
          </a:prstGeom>
          <a:solidFill>
            <a:srgbClr val="EDF3F3"/>
          </a:solidFill>
          <a:ln cap="flat" cmpd="sng" w="12700">
            <a:solidFill>
              <a:srgbClr val="ED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1"/>
          <p:cNvSpPr/>
          <p:nvPr/>
        </p:nvSpPr>
        <p:spPr>
          <a:xfrm>
            <a:off x="768240" y="5934600"/>
            <a:ext cx="10643040" cy="65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Idea central: </a:t>
            </a:r>
            <a:r>
              <a:rPr b="0" lang="en-US" sz="14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esto es duck typing en estado puro: cualquier objeto con __len__ y __getitem__ se comporta como una secuencia. No hace falta heredar de nada ni implementar una interfaz.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"/>
          <p:cNvSpPr/>
          <p:nvPr/>
        </p:nvSpPr>
        <p:spPr>
          <a:xfrm>
            <a:off x="567000" y="384120"/>
            <a:ext cx="1105452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MENOS CÓDIGO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2"/>
          <p:cNvSpPr/>
          <p:nvPr/>
        </p:nvSpPr>
        <p:spPr>
          <a:xfrm>
            <a:off x="567000" y="658440"/>
            <a:ext cx="11054520" cy="639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 strike="noStrike">
                <a:solidFill>
                  <a:srgbClr val="17262E"/>
                </a:solidFill>
                <a:latin typeface="Cambria"/>
                <a:ea typeface="Cambria"/>
                <a:cs typeface="Cambria"/>
                <a:sym typeface="Cambria"/>
              </a:rPr>
              <a:t>dataclasses: clases de datos sin ceremonia</a:t>
            </a:r>
            <a:endParaRPr b="0" sz="3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2"/>
          <p:cNvSpPr/>
          <p:nvPr/>
        </p:nvSpPr>
        <p:spPr>
          <a:xfrm>
            <a:off x="585360" y="1417320"/>
            <a:ext cx="5343840" cy="291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5A6B75"/>
                </a:solidFill>
                <a:latin typeface="Calibri"/>
                <a:ea typeface="Calibri"/>
                <a:cs typeface="Calibri"/>
                <a:sym typeface="Calibri"/>
              </a:rPr>
              <a:t>A mano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2"/>
          <p:cNvSpPr/>
          <p:nvPr/>
        </p:nvSpPr>
        <p:spPr>
          <a:xfrm>
            <a:off x="567000" y="1783080"/>
            <a:ext cx="5343840" cy="2900520"/>
          </a:xfrm>
          <a:prstGeom prst="roundRect">
            <a:avLst>
              <a:gd fmla="val 2521" name="adj"/>
            </a:avLst>
          </a:prstGeom>
          <a:solidFill>
            <a:srgbClr val="10202B"/>
          </a:solidFill>
          <a:ln cap="flat" cmpd="sng" w="12700">
            <a:solidFill>
              <a:srgbClr val="102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2"/>
          <p:cNvSpPr/>
          <p:nvPr/>
        </p:nvSpPr>
        <p:spPr>
          <a:xfrm>
            <a:off x="768240" y="1956960"/>
            <a:ext cx="95400" cy="95400"/>
          </a:xfrm>
          <a:prstGeom prst="ellipse">
            <a:avLst/>
          </a:prstGeom>
          <a:solidFill>
            <a:srgbClr val="E4B363"/>
          </a:solidFill>
          <a:ln cap="flat" cmpd="sng" w="12700">
            <a:solidFill>
              <a:srgbClr val="E4B3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875" spcFirstLastPara="1" rIns="47875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2"/>
          <p:cNvSpPr/>
          <p:nvPr/>
        </p:nvSpPr>
        <p:spPr>
          <a:xfrm>
            <a:off x="969120" y="1956960"/>
            <a:ext cx="95400" cy="95400"/>
          </a:xfrm>
          <a:prstGeom prst="ellipse">
            <a:avLst/>
          </a:prstGeom>
          <a:solidFill>
            <a:srgbClr val="17BEBB"/>
          </a:solidFill>
          <a:ln cap="flat" cmpd="sng" w="12700">
            <a:solidFill>
              <a:srgbClr val="17BE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875" spcFirstLastPara="1" rIns="47875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2"/>
          <p:cNvSpPr/>
          <p:nvPr/>
        </p:nvSpPr>
        <p:spPr>
          <a:xfrm>
            <a:off x="1170360" y="1956960"/>
            <a:ext cx="95400" cy="95400"/>
          </a:xfrm>
          <a:prstGeom prst="ellipse">
            <a:avLst/>
          </a:prstGeom>
          <a:solidFill>
            <a:srgbClr val="3E5563"/>
          </a:solidFill>
          <a:ln cap="flat" cmpd="sng" w="12700">
            <a:solidFill>
              <a:srgbClr val="3E5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875" spcFirstLastPara="1" rIns="47875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2"/>
          <p:cNvSpPr/>
          <p:nvPr/>
        </p:nvSpPr>
        <p:spPr>
          <a:xfrm>
            <a:off x="1435680" y="1883520"/>
            <a:ext cx="4246560" cy="227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E8390"/>
                </a:solidFill>
                <a:latin typeface="Courier New"/>
                <a:ea typeface="Courier New"/>
                <a:cs typeface="Courier New"/>
                <a:sym typeface="Courier New"/>
              </a:rPr>
              <a:t>manual.py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2"/>
          <p:cNvSpPr/>
          <p:nvPr/>
        </p:nvSpPr>
        <p:spPr>
          <a:xfrm>
            <a:off x="749880" y="2194560"/>
            <a:ext cx="5023800" cy="23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Punto: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__init__(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x, y, etiqueta=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.x = x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.y = y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.etiqueta = etiqueta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__repr__(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(f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"Punto({self.x}, "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f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"{self.y}, {self.etiqueta!r})"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__eq__(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o):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.x,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.y) == (o.x, o.y)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2"/>
          <p:cNvSpPr/>
          <p:nvPr/>
        </p:nvSpPr>
        <p:spPr>
          <a:xfrm>
            <a:off x="6295680" y="1417320"/>
            <a:ext cx="5343840" cy="291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Con @dataclass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2"/>
          <p:cNvSpPr/>
          <p:nvPr/>
        </p:nvSpPr>
        <p:spPr>
          <a:xfrm>
            <a:off x="6277320" y="1783080"/>
            <a:ext cx="5343840" cy="2706120"/>
          </a:xfrm>
          <a:prstGeom prst="roundRect">
            <a:avLst>
              <a:gd fmla="val 2702" name="adj"/>
            </a:avLst>
          </a:prstGeom>
          <a:solidFill>
            <a:srgbClr val="10202B"/>
          </a:solidFill>
          <a:ln cap="flat" cmpd="sng" w="12700">
            <a:solidFill>
              <a:srgbClr val="102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2"/>
          <p:cNvSpPr/>
          <p:nvPr/>
        </p:nvSpPr>
        <p:spPr>
          <a:xfrm>
            <a:off x="6478560" y="1956960"/>
            <a:ext cx="95400" cy="95400"/>
          </a:xfrm>
          <a:prstGeom prst="ellipse">
            <a:avLst/>
          </a:prstGeom>
          <a:solidFill>
            <a:srgbClr val="E4B363"/>
          </a:solidFill>
          <a:ln cap="flat" cmpd="sng" w="12700">
            <a:solidFill>
              <a:srgbClr val="E4B3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875" spcFirstLastPara="1" rIns="47875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2"/>
          <p:cNvSpPr/>
          <p:nvPr/>
        </p:nvSpPr>
        <p:spPr>
          <a:xfrm>
            <a:off x="6679800" y="1956960"/>
            <a:ext cx="95400" cy="95400"/>
          </a:xfrm>
          <a:prstGeom prst="ellipse">
            <a:avLst/>
          </a:prstGeom>
          <a:solidFill>
            <a:srgbClr val="17BEBB"/>
          </a:solidFill>
          <a:ln cap="flat" cmpd="sng" w="12700">
            <a:solidFill>
              <a:srgbClr val="17BE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875" spcFirstLastPara="1" rIns="47875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2"/>
          <p:cNvSpPr/>
          <p:nvPr/>
        </p:nvSpPr>
        <p:spPr>
          <a:xfrm>
            <a:off x="6881040" y="1956960"/>
            <a:ext cx="95400" cy="95400"/>
          </a:xfrm>
          <a:prstGeom prst="ellipse">
            <a:avLst/>
          </a:prstGeom>
          <a:solidFill>
            <a:srgbClr val="3E5563"/>
          </a:solidFill>
          <a:ln cap="flat" cmpd="sng" w="12700">
            <a:solidFill>
              <a:srgbClr val="3E5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875" spcFirstLastPara="1" rIns="47875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2"/>
          <p:cNvSpPr/>
          <p:nvPr/>
        </p:nvSpPr>
        <p:spPr>
          <a:xfrm>
            <a:off x="7146000" y="1883520"/>
            <a:ext cx="4246560" cy="227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E8390"/>
                </a:solidFill>
                <a:latin typeface="Courier New"/>
                <a:ea typeface="Courier New"/>
                <a:cs typeface="Courier New"/>
                <a:sym typeface="Courier New"/>
              </a:rPr>
              <a:t>moderno.py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2"/>
          <p:cNvSpPr/>
          <p:nvPr/>
        </p:nvSpPr>
        <p:spPr>
          <a:xfrm>
            <a:off x="6460200" y="2194560"/>
            <a:ext cx="5023800" cy="2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dataclasses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dataclass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field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dataclass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Punto: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x: 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float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y: 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float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etiqueta: 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str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""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distancia_a(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otro):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((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.x - otro.x) **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+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(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.y - otro.y) **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**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0.5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2"/>
          <p:cNvSpPr/>
          <p:nvPr/>
        </p:nvSpPr>
        <p:spPr>
          <a:xfrm>
            <a:off x="567000" y="5715000"/>
            <a:ext cx="11054520" cy="657720"/>
          </a:xfrm>
          <a:prstGeom prst="roundRect">
            <a:avLst>
              <a:gd fmla="val 8333" name="adj"/>
            </a:avLst>
          </a:prstGeom>
          <a:solidFill>
            <a:srgbClr val="EDF3F3"/>
          </a:solidFill>
          <a:ln cap="flat" cmpd="sng" w="12700">
            <a:solidFill>
              <a:srgbClr val="ED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2"/>
          <p:cNvSpPr/>
          <p:nvPr/>
        </p:nvSpPr>
        <p:spPr>
          <a:xfrm>
            <a:off x="768240" y="5715000"/>
            <a:ext cx="10643040" cy="65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Regalo: </a:t>
            </a:r>
            <a:r>
              <a:rPr b="0" lang="en-US" sz="14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@dataclass genera __init__, __repr__ y __eq__ a partir de los type hints. Para listas por defecto usa field(default_factory=list), nunca [].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202B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3"/>
          <p:cNvSpPr/>
          <p:nvPr/>
        </p:nvSpPr>
        <p:spPr>
          <a:xfrm>
            <a:off x="567000" y="1920240"/>
            <a:ext cx="1736640" cy="137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400" u="none" strike="noStrike">
                <a:solidFill>
                  <a:srgbClr val="0E7C7B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sz="8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3"/>
          <p:cNvSpPr/>
          <p:nvPr/>
        </p:nvSpPr>
        <p:spPr>
          <a:xfrm>
            <a:off x="2286000" y="2148840"/>
            <a:ext cx="8960400" cy="822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 u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Herencia y polimorfismo</a:t>
            </a:r>
            <a:endParaRPr b="0" sz="3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3"/>
          <p:cNvSpPr/>
          <p:nvPr/>
        </p:nvSpPr>
        <p:spPr>
          <a:xfrm>
            <a:off x="2331720" y="3017520"/>
            <a:ext cx="8777520" cy="822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50" u="none" strike="noStrike">
                <a:solidFill>
                  <a:srgbClr val="A9BAC4"/>
                </a:solidFill>
                <a:latin typeface="Calibri"/>
                <a:ea typeface="Calibri"/>
                <a:cs typeface="Calibri"/>
                <a:sym typeface="Calibri"/>
              </a:rPr>
              <a:t>Reutilizar comportamiento sin duplicar código, y escribir funciones que valen para familias enteras de objetos.</a:t>
            </a:r>
            <a:endParaRPr b="0" sz="15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3"/>
          <p:cNvSpPr/>
          <p:nvPr/>
        </p:nvSpPr>
        <p:spPr>
          <a:xfrm>
            <a:off x="2331720" y="3886200"/>
            <a:ext cx="5485680" cy="36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4"/>
          <p:cNvSpPr/>
          <p:nvPr/>
        </p:nvSpPr>
        <p:spPr>
          <a:xfrm>
            <a:off x="567000" y="384120"/>
            <a:ext cx="1105452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HERENCIA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4"/>
          <p:cNvSpPr/>
          <p:nvPr/>
        </p:nvSpPr>
        <p:spPr>
          <a:xfrm>
            <a:off x="567000" y="658440"/>
            <a:ext cx="11054520" cy="639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 strike="noStrike">
                <a:solidFill>
                  <a:srgbClr val="17262E"/>
                </a:solidFill>
                <a:latin typeface="Cambria"/>
                <a:ea typeface="Cambria"/>
                <a:cs typeface="Cambria"/>
                <a:sym typeface="Cambria"/>
              </a:rPr>
              <a:t>Extender una clase con super()</a:t>
            </a:r>
            <a:endParaRPr b="0" sz="3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4"/>
          <p:cNvSpPr/>
          <p:nvPr/>
        </p:nvSpPr>
        <p:spPr>
          <a:xfrm>
            <a:off x="567000" y="1417320"/>
            <a:ext cx="11054520" cy="4296240"/>
          </a:xfrm>
          <a:prstGeom prst="roundRect">
            <a:avLst>
              <a:gd fmla="val 1702" name="adj"/>
            </a:avLst>
          </a:prstGeom>
          <a:solidFill>
            <a:srgbClr val="10202B"/>
          </a:solidFill>
          <a:ln cap="flat" cmpd="sng" w="12700">
            <a:solidFill>
              <a:srgbClr val="102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4"/>
          <p:cNvSpPr/>
          <p:nvPr/>
        </p:nvSpPr>
        <p:spPr>
          <a:xfrm>
            <a:off x="768240" y="1591200"/>
            <a:ext cx="95400" cy="95400"/>
          </a:xfrm>
          <a:prstGeom prst="ellipse">
            <a:avLst/>
          </a:prstGeom>
          <a:solidFill>
            <a:srgbClr val="E4B363"/>
          </a:solidFill>
          <a:ln cap="flat" cmpd="sng" w="12700">
            <a:solidFill>
              <a:srgbClr val="E4B3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875" spcFirstLastPara="1" rIns="47875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4"/>
          <p:cNvSpPr/>
          <p:nvPr/>
        </p:nvSpPr>
        <p:spPr>
          <a:xfrm>
            <a:off x="969120" y="1591200"/>
            <a:ext cx="95400" cy="95400"/>
          </a:xfrm>
          <a:prstGeom prst="ellipse">
            <a:avLst/>
          </a:prstGeom>
          <a:solidFill>
            <a:srgbClr val="17BEBB"/>
          </a:solidFill>
          <a:ln cap="flat" cmpd="sng" w="12700">
            <a:solidFill>
              <a:srgbClr val="17BE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875" spcFirstLastPara="1" rIns="47875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4"/>
          <p:cNvSpPr/>
          <p:nvPr/>
        </p:nvSpPr>
        <p:spPr>
          <a:xfrm>
            <a:off x="1170360" y="1591200"/>
            <a:ext cx="95400" cy="95400"/>
          </a:xfrm>
          <a:prstGeom prst="ellipse">
            <a:avLst/>
          </a:prstGeom>
          <a:solidFill>
            <a:srgbClr val="3E5563"/>
          </a:solidFill>
          <a:ln cap="flat" cmpd="sng" w="12700">
            <a:solidFill>
              <a:srgbClr val="3E5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875" spcFirstLastPara="1" rIns="47875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4"/>
          <p:cNvSpPr/>
          <p:nvPr/>
        </p:nvSpPr>
        <p:spPr>
          <a:xfrm>
            <a:off x="1435680" y="1517760"/>
            <a:ext cx="9957240" cy="227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E8390"/>
                </a:solidFill>
                <a:latin typeface="Courier New"/>
                <a:ea typeface="Courier New"/>
                <a:cs typeface="Courier New"/>
                <a:sym typeface="Courier New"/>
              </a:rPr>
              <a:t>herencia.py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4"/>
          <p:cNvSpPr/>
          <p:nvPr/>
        </p:nvSpPr>
        <p:spPr>
          <a:xfrm>
            <a:off x="749880" y="1828800"/>
            <a:ext cx="10734480" cy="379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lang="en-US" sz="10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Modelo: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0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lang="en-US" sz="10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__init__(</a:t>
            </a:r>
            <a:r>
              <a:rPr b="0" lang="en-US" sz="10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0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nombre):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lang="en-US" sz="10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0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.nombre = nombre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lang="en-US" sz="10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0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.entrenado = </a:t>
            </a:r>
            <a:r>
              <a:rPr b="0" lang="en-US" sz="10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0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lang="en-US" sz="10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entrenar(</a:t>
            </a:r>
            <a:r>
              <a:rPr b="0" lang="en-US" sz="10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0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X, y):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lang="en-US" sz="10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raise</a:t>
            </a:r>
            <a:r>
              <a:rPr b="0" lang="en-US" sz="10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NotImplementedError(</a:t>
            </a:r>
            <a:r>
              <a:rPr b="0" lang="en-US" sz="10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"Cada modelo define su entrenamiento"</a:t>
            </a:r>
            <a:r>
              <a:rPr b="0" lang="en-US" sz="10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lang="en-US" sz="10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ModeloMayoritario(Modelo):            </a:t>
            </a:r>
            <a:r>
              <a:rPr b="0" lang="en-US" sz="10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hereda de Modelo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0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lang="en-US" sz="10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__init__(</a:t>
            </a:r>
            <a:r>
              <a:rPr b="0" lang="en-US" sz="10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0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lang="en-US" sz="10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super</a:t>
            </a:r>
            <a:r>
              <a:rPr b="0" lang="en-US" sz="10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().__init__(</a:t>
            </a:r>
            <a:r>
              <a:rPr b="0" lang="en-US" sz="10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"Clase mayoritaria"</a:t>
            </a:r>
            <a:r>
              <a:rPr b="0" lang="en-US" sz="10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  </a:t>
            </a:r>
            <a:r>
              <a:rPr b="0" lang="en-US" sz="10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inicializa la parte del padre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lang="en-US" sz="10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0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._clase = </a:t>
            </a:r>
            <a:r>
              <a:rPr b="0" lang="en-US" sz="10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0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lang="en-US" sz="10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entrenar(</a:t>
            </a:r>
            <a:r>
              <a:rPr b="0" lang="en-US" sz="10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0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X, y):               </a:t>
            </a:r>
            <a:r>
              <a:rPr b="0" lang="en-US" sz="10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sobrescribe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lang="en-US" sz="10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0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._clase = </a:t>
            </a:r>
            <a:r>
              <a:rPr b="0" lang="en-US" sz="10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max</a:t>
            </a:r>
            <a:r>
              <a:rPr b="0" lang="en-US" sz="10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lang="en-US" sz="10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b="0" lang="en-US" sz="10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(y), key=y.count)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lang="en-US" sz="10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0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.entrenado = </a:t>
            </a:r>
            <a:r>
              <a:rPr b="0" lang="en-US" sz="10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lang="en-US" sz="10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lang="en-US" sz="10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lang="en-US" sz="10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0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lang="en-US" sz="10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predecir(</a:t>
            </a:r>
            <a:r>
              <a:rPr b="0" lang="en-US" sz="10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0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X):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lang="en-US" sz="10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lang="en-US" sz="10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b="0" lang="en-US" sz="10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0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._clase </a:t>
            </a:r>
            <a:r>
              <a:rPr b="0" lang="en-US" sz="10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lang="en-US" sz="10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_ </a:t>
            </a:r>
            <a:r>
              <a:rPr b="0" lang="en-US" sz="10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lang="en-US" sz="10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X]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4"/>
          <p:cNvSpPr/>
          <p:nvPr/>
        </p:nvSpPr>
        <p:spPr>
          <a:xfrm>
            <a:off x="567000" y="5942880"/>
            <a:ext cx="11054520" cy="657720"/>
          </a:xfrm>
          <a:prstGeom prst="roundRect">
            <a:avLst>
              <a:gd fmla="val 8333" name="adj"/>
            </a:avLst>
          </a:prstGeom>
          <a:solidFill>
            <a:srgbClr val="EDF3F3"/>
          </a:solidFill>
          <a:ln cap="flat" cmpd="sng" w="12700">
            <a:solidFill>
              <a:srgbClr val="ED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4"/>
          <p:cNvSpPr/>
          <p:nvPr/>
        </p:nvSpPr>
        <p:spPr>
          <a:xfrm>
            <a:off x="768240" y="5942880"/>
            <a:ext cx="10643040" cy="65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Obligatorio: </a:t>
            </a:r>
            <a:r>
              <a:rPr b="0" lang="en-US" sz="14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super() llama a la implementación del padre. Sin esa llamada en __init__, los atributos del padre nunca se crean.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5"/>
          <p:cNvSpPr/>
          <p:nvPr/>
        </p:nvSpPr>
        <p:spPr>
          <a:xfrm>
            <a:off x="567000" y="384120"/>
            <a:ext cx="1105452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POLIMORFISMO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5"/>
          <p:cNvSpPr/>
          <p:nvPr/>
        </p:nvSpPr>
        <p:spPr>
          <a:xfrm>
            <a:off x="567000" y="658440"/>
            <a:ext cx="11054520" cy="639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 strike="noStrike">
                <a:solidFill>
                  <a:srgbClr val="17262E"/>
                </a:solidFill>
                <a:latin typeface="Cambria"/>
                <a:ea typeface="Cambria"/>
                <a:cs typeface="Cambria"/>
                <a:sym typeface="Cambria"/>
              </a:rPr>
              <a:t>El mismo código para todos los modelos</a:t>
            </a:r>
            <a:endParaRPr b="0" sz="3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5"/>
          <p:cNvSpPr/>
          <p:nvPr/>
        </p:nvSpPr>
        <p:spPr>
          <a:xfrm>
            <a:off x="567000" y="1444680"/>
            <a:ext cx="5028480" cy="7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 u="none" strike="noStrike">
                <a:solidFill>
                  <a:srgbClr val="5A6B75"/>
                </a:solidFill>
                <a:latin typeface="Calibri"/>
                <a:ea typeface="Calibri"/>
                <a:cs typeface="Calibri"/>
                <a:sym typeface="Calibri"/>
              </a:rPr>
              <a:t>No importa la clase concreta, sino que responda a los métodos esperados.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5"/>
          <p:cNvSpPr/>
          <p:nvPr/>
        </p:nvSpPr>
        <p:spPr>
          <a:xfrm>
            <a:off x="567000" y="2221920"/>
            <a:ext cx="5028480" cy="3976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3080" lvl="0" marL="34308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262E"/>
              </a:buClr>
              <a:buSzPts val="1500"/>
              <a:buFont typeface="Noto Sans Symbols"/>
              <a:buChar char="●"/>
            </a:pPr>
            <a:r>
              <a:rPr b="0" lang="en-US" sz="15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Sin interfaces declaradas: basta con tener el método.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15000"/>
              </a:lnSpc>
              <a:spcBef>
                <a:spcPts val="901"/>
              </a:spcBef>
              <a:spcAft>
                <a:spcPts val="0"/>
              </a:spcAft>
              <a:buClr>
                <a:srgbClr val="17262E"/>
              </a:buClr>
              <a:buSzPts val="1500"/>
              <a:buFont typeface="Noto Sans Symbols"/>
              <a:buChar char="●"/>
            </a:pPr>
            <a:r>
              <a:rPr b="0" lang="en-US" sz="15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isinstance() cuando de verdad haga falta distinguir.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15000"/>
              </a:lnSpc>
              <a:spcBef>
                <a:spcPts val="901"/>
              </a:spcBef>
              <a:spcAft>
                <a:spcPts val="0"/>
              </a:spcAft>
              <a:buClr>
                <a:srgbClr val="17262E"/>
              </a:buClr>
              <a:buSzPts val="1500"/>
              <a:buFont typeface="Noto Sans Symbols"/>
              <a:buChar char="●"/>
            </a:pPr>
            <a:r>
              <a:rPr b="0" lang="en-US" sz="15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Es exactamente la API fit/predict de scikit-learn.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15000"/>
              </a:lnSpc>
              <a:spcBef>
                <a:spcPts val="901"/>
              </a:spcBef>
              <a:spcAft>
                <a:spcPts val="0"/>
              </a:spcAft>
              <a:buClr>
                <a:srgbClr val="17262E"/>
              </a:buClr>
              <a:buSzPts val="1500"/>
              <a:buFont typeface="Noto Sans Symbols"/>
              <a:buChar char="●"/>
            </a:pPr>
            <a:r>
              <a:rPr b="0" lang="en-US" sz="15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Añadir un modelo nuevo no obliga a tocar el evaluador.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5"/>
          <p:cNvSpPr/>
          <p:nvPr/>
        </p:nvSpPr>
        <p:spPr>
          <a:xfrm>
            <a:off x="5943600" y="1444680"/>
            <a:ext cx="5668560" cy="3230640"/>
          </a:xfrm>
          <a:prstGeom prst="roundRect">
            <a:avLst>
              <a:gd fmla="val 2264" name="adj"/>
            </a:avLst>
          </a:prstGeom>
          <a:solidFill>
            <a:srgbClr val="10202B"/>
          </a:solidFill>
          <a:ln cap="flat" cmpd="sng" w="12700">
            <a:solidFill>
              <a:srgbClr val="102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5"/>
          <p:cNvSpPr/>
          <p:nvPr/>
        </p:nvSpPr>
        <p:spPr>
          <a:xfrm>
            <a:off x="6144840" y="1618560"/>
            <a:ext cx="95400" cy="95400"/>
          </a:xfrm>
          <a:prstGeom prst="ellipse">
            <a:avLst/>
          </a:prstGeom>
          <a:solidFill>
            <a:srgbClr val="E4B363"/>
          </a:solidFill>
          <a:ln cap="flat" cmpd="sng" w="12700">
            <a:solidFill>
              <a:srgbClr val="E4B3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875" spcFirstLastPara="1" rIns="47875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5"/>
          <p:cNvSpPr/>
          <p:nvPr/>
        </p:nvSpPr>
        <p:spPr>
          <a:xfrm>
            <a:off x="6346080" y="1618560"/>
            <a:ext cx="95400" cy="95400"/>
          </a:xfrm>
          <a:prstGeom prst="ellipse">
            <a:avLst/>
          </a:prstGeom>
          <a:solidFill>
            <a:srgbClr val="17BEBB"/>
          </a:solidFill>
          <a:ln cap="flat" cmpd="sng" w="12700">
            <a:solidFill>
              <a:srgbClr val="17BE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875" spcFirstLastPara="1" rIns="47875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5"/>
          <p:cNvSpPr/>
          <p:nvPr/>
        </p:nvSpPr>
        <p:spPr>
          <a:xfrm>
            <a:off x="6546960" y="1618560"/>
            <a:ext cx="95400" cy="95400"/>
          </a:xfrm>
          <a:prstGeom prst="ellipse">
            <a:avLst/>
          </a:prstGeom>
          <a:solidFill>
            <a:srgbClr val="3E5563"/>
          </a:solidFill>
          <a:ln cap="flat" cmpd="sng" w="12700">
            <a:solidFill>
              <a:srgbClr val="3E5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875" spcFirstLastPara="1" rIns="47875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5"/>
          <p:cNvSpPr/>
          <p:nvPr/>
        </p:nvSpPr>
        <p:spPr>
          <a:xfrm>
            <a:off x="6812280" y="1545480"/>
            <a:ext cx="4571280" cy="227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E8390"/>
                </a:solidFill>
                <a:latin typeface="Courier New"/>
                <a:ea typeface="Courier New"/>
                <a:cs typeface="Courier New"/>
                <a:sym typeface="Courier New"/>
              </a:rPr>
              <a:t>polimorfismo.py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5"/>
          <p:cNvSpPr/>
          <p:nvPr/>
        </p:nvSpPr>
        <p:spPr>
          <a:xfrm>
            <a:off x="6126480" y="1856160"/>
            <a:ext cx="5348520" cy="2727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lang="en-US" sz="10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evaluar(modelo, X_tr, y_tr, X_te, y_te):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modelo.entrenar(X_tr, y_tr)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pred = modelo.predecir(X_te)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aciertos = </a:t>
            </a:r>
            <a:r>
              <a:rPr b="0" lang="en-US" sz="10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b="0" lang="en-US" sz="10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lang="en-US" sz="10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lang="en-US" sz="10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lang="en-US" sz="10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lang="en-US" sz="10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p, real </a:t>
            </a:r>
            <a:r>
              <a:rPr b="0" lang="en-US" sz="10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lang="en-US" sz="10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lang="en-US" sz="10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zip</a:t>
            </a:r>
            <a:r>
              <a:rPr b="0" lang="en-US" sz="10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(pred, y_te) </a:t>
            </a:r>
            <a:r>
              <a:rPr b="0" lang="en-US" sz="10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0" lang="en-US" sz="10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p == real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)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0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lang="en-US" sz="10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aciertos / </a:t>
            </a:r>
            <a:r>
              <a:rPr b="0" lang="en-US" sz="10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b="0" lang="en-US" sz="10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(y_te)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modelos = [ModeloMayoritario(),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ClasificadorKNN(k=</a:t>
            </a:r>
            <a:r>
              <a:rPr b="0" lang="en-US" sz="10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lang="en-US" sz="10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ClasificadorKNN(k=</a:t>
            </a:r>
            <a:r>
              <a:rPr b="0" lang="en-US" sz="10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b="0" lang="en-US" sz="10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)]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lang="en-US" sz="10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m </a:t>
            </a:r>
            <a:r>
              <a:rPr b="0" lang="en-US" sz="10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lang="en-US" sz="10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modelos: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0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lang="en-US" sz="10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(m.nombre, evaluar(m, *datos))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6"/>
          <p:cNvSpPr/>
          <p:nvPr/>
        </p:nvSpPr>
        <p:spPr>
          <a:xfrm>
            <a:off x="567000" y="384120"/>
            <a:ext cx="1105452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CONTRATOS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6"/>
          <p:cNvSpPr/>
          <p:nvPr/>
        </p:nvSpPr>
        <p:spPr>
          <a:xfrm>
            <a:off x="567000" y="658440"/>
            <a:ext cx="11054520" cy="639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 strike="noStrike">
                <a:solidFill>
                  <a:srgbClr val="17262E"/>
                </a:solidFill>
                <a:latin typeface="Cambria"/>
                <a:ea typeface="Cambria"/>
                <a:cs typeface="Cambria"/>
                <a:sym typeface="Cambria"/>
              </a:rPr>
              <a:t>Clases abstractas: obligar a implementar</a:t>
            </a:r>
            <a:endParaRPr b="0" sz="3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6"/>
          <p:cNvSpPr/>
          <p:nvPr/>
        </p:nvSpPr>
        <p:spPr>
          <a:xfrm>
            <a:off x="567000" y="1417320"/>
            <a:ext cx="11054520" cy="3873240"/>
          </a:xfrm>
          <a:prstGeom prst="roundRect">
            <a:avLst>
              <a:gd fmla="val 1888" name="adj"/>
            </a:avLst>
          </a:prstGeom>
          <a:solidFill>
            <a:srgbClr val="10202B"/>
          </a:solidFill>
          <a:ln cap="flat" cmpd="sng" w="12700">
            <a:solidFill>
              <a:srgbClr val="102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6"/>
          <p:cNvSpPr/>
          <p:nvPr/>
        </p:nvSpPr>
        <p:spPr>
          <a:xfrm>
            <a:off x="768240" y="1591200"/>
            <a:ext cx="95400" cy="95400"/>
          </a:xfrm>
          <a:prstGeom prst="ellipse">
            <a:avLst/>
          </a:prstGeom>
          <a:solidFill>
            <a:srgbClr val="E4B363"/>
          </a:solidFill>
          <a:ln cap="flat" cmpd="sng" w="12700">
            <a:solidFill>
              <a:srgbClr val="E4B3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875" spcFirstLastPara="1" rIns="47875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6"/>
          <p:cNvSpPr/>
          <p:nvPr/>
        </p:nvSpPr>
        <p:spPr>
          <a:xfrm>
            <a:off x="969120" y="1591200"/>
            <a:ext cx="95400" cy="95400"/>
          </a:xfrm>
          <a:prstGeom prst="ellipse">
            <a:avLst/>
          </a:prstGeom>
          <a:solidFill>
            <a:srgbClr val="17BEBB"/>
          </a:solidFill>
          <a:ln cap="flat" cmpd="sng" w="12700">
            <a:solidFill>
              <a:srgbClr val="17BE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875" spcFirstLastPara="1" rIns="47875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6"/>
          <p:cNvSpPr/>
          <p:nvPr/>
        </p:nvSpPr>
        <p:spPr>
          <a:xfrm>
            <a:off x="1170360" y="1591200"/>
            <a:ext cx="95400" cy="95400"/>
          </a:xfrm>
          <a:prstGeom prst="ellipse">
            <a:avLst/>
          </a:prstGeom>
          <a:solidFill>
            <a:srgbClr val="3E5563"/>
          </a:solidFill>
          <a:ln cap="flat" cmpd="sng" w="12700">
            <a:solidFill>
              <a:srgbClr val="3E5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875" spcFirstLastPara="1" rIns="47875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6"/>
          <p:cNvSpPr/>
          <p:nvPr/>
        </p:nvSpPr>
        <p:spPr>
          <a:xfrm>
            <a:off x="1435680" y="1517760"/>
            <a:ext cx="9957240" cy="227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E8390"/>
                </a:solidFill>
                <a:latin typeface="Courier New"/>
                <a:ea typeface="Courier New"/>
                <a:cs typeface="Courier New"/>
                <a:sym typeface="Courier New"/>
              </a:rPr>
              <a:t>abstracta.py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6"/>
          <p:cNvSpPr/>
          <p:nvPr/>
        </p:nvSpPr>
        <p:spPr>
          <a:xfrm>
            <a:off x="749880" y="1828800"/>
            <a:ext cx="10734480" cy="337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abc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ABC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abstractmethod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Modelo(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ABC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"""Contrato que cumple cualquier clasificador del proyecto."""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@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abstractmethod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entrenar(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X, y): ...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@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abstractmethod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predecir(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X): ...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evaluar(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X, y):              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método común ya implementado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pred =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.predecir(X)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(p == r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p, r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zip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(pred, y)) / 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(y)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Modelo()       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TypeError: no se puede instanciar una clase abstracta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6"/>
          <p:cNvSpPr/>
          <p:nvPr/>
        </p:nvSpPr>
        <p:spPr>
          <a:xfrm>
            <a:off x="567000" y="5519880"/>
            <a:ext cx="11054520" cy="657720"/>
          </a:xfrm>
          <a:prstGeom prst="roundRect">
            <a:avLst>
              <a:gd fmla="val 8333" name="adj"/>
            </a:avLst>
          </a:prstGeom>
          <a:solidFill>
            <a:srgbClr val="EDF3F3"/>
          </a:solidFill>
          <a:ln cap="flat" cmpd="sng" w="12700">
            <a:solidFill>
              <a:srgbClr val="ED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6"/>
          <p:cNvSpPr/>
          <p:nvPr/>
        </p:nvSpPr>
        <p:spPr>
          <a:xfrm>
            <a:off x="768240" y="5519880"/>
            <a:ext cx="10643040" cy="65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Ojo: </a:t>
            </a:r>
            <a:r>
              <a:rPr b="0" lang="en-US" sz="14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una clase abstracta mezcla contrato (métodos abstractos) e implementación compartida (evaluar). Es el punto medio entre la interfaz y la clase normal de Java.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7"/>
          <p:cNvSpPr/>
          <p:nvPr/>
        </p:nvSpPr>
        <p:spPr>
          <a:xfrm>
            <a:off x="567000" y="384120"/>
            <a:ext cx="1105452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DISEÑO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7"/>
          <p:cNvSpPr/>
          <p:nvPr/>
        </p:nvSpPr>
        <p:spPr>
          <a:xfrm>
            <a:off x="567000" y="658440"/>
            <a:ext cx="11054520" cy="639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 strike="noStrike">
                <a:solidFill>
                  <a:srgbClr val="17262E"/>
                </a:solidFill>
                <a:latin typeface="Cambria"/>
                <a:ea typeface="Cambria"/>
                <a:cs typeface="Cambria"/>
                <a:sym typeface="Cambria"/>
              </a:rPr>
              <a:t>Herencia o composición: cómo decidir</a:t>
            </a:r>
            <a:endParaRPr b="0" sz="3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7"/>
          <p:cNvSpPr/>
          <p:nvPr/>
        </p:nvSpPr>
        <p:spPr>
          <a:xfrm>
            <a:off x="567000" y="1463040"/>
            <a:ext cx="5380560" cy="2010960"/>
          </a:xfrm>
          <a:prstGeom prst="roundRect">
            <a:avLst>
              <a:gd fmla="val 2727" name="adj"/>
            </a:avLst>
          </a:prstGeom>
          <a:solidFill>
            <a:srgbClr val="EDF3F3"/>
          </a:solidFill>
          <a:ln cap="flat" cmpd="sng" w="12700">
            <a:solidFill>
              <a:srgbClr val="E1E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7"/>
          <p:cNvSpPr/>
          <p:nvPr/>
        </p:nvSpPr>
        <p:spPr>
          <a:xfrm>
            <a:off x="822960" y="1700640"/>
            <a:ext cx="419760" cy="419760"/>
          </a:xfrm>
          <a:prstGeom prst="ellipse">
            <a:avLst/>
          </a:prstGeom>
          <a:solidFill>
            <a:srgbClr val="0E7C7B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7"/>
          <p:cNvSpPr/>
          <p:nvPr/>
        </p:nvSpPr>
        <p:spPr>
          <a:xfrm>
            <a:off x="822960" y="1700640"/>
            <a:ext cx="419760" cy="41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7"/>
          <p:cNvSpPr/>
          <p:nvPr/>
        </p:nvSpPr>
        <p:spPr>
          <a:xfrm>
            <a:off x="1353240" y="1719000"/>
            <a:ext cx="4374720" cy="410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Herencia: "es un"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7"/>
          <p:cNvSpPr/>
          <p:nvPr/>
        </p:nvSpPr>
        <p:spPr>
          <a:xfrm>
            <a:off x="841320" y="2240280"/>
            <a:ext cx="4831920" cy="1050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 u="none" strike="noStrike">
                <a:solidFill>
                  <a:srgbClr val="5A6B75"/>
                </a:solidFill>
                <a:latin typeface="Calibri"/>
                <a:ea typeface="Calibri"/>
                <a:cs typeface="Calibri"/>
                <a:sym typeface="Calibri"/>
              </a:rPr>
              <a:t>ClasificadorKNN es un Modelo. Comparten contrato y el hijo puede sustituir al padre en cualquier sitio.</a:t>
            </a:r>
            <a:endParaRPr b="0" sz="13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7"/>
          <p:cNvSpPr/>
          <p:nvPr/>
        </p:nvSpPr>
        <p:spPr>
          <a:xfrm>
            <a:off x="6240960" y="1463040"/>
            <a:ext cx="5380560" cy="2010960"/>
          </a:xfrm>
          <a:prstGeom prst="roundRect">
            <a:avLst>
              <a:gd fmla="val 2727" name="adj"/>
            </a:avLst>
          </a:prstGeom>
          <a:solidFill>
            <a:srgbClr val="EDF3F3"/>
          </a:solidFill>
          <a:ln cap="flat" cmpd="sng" w="12700">
            <a:solidFill>
              <a:srgbClr val="E1E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7"/>
          <p:cNvSpPr/>
          <p:nvPr/>
        </p:nvSpPr>
        <p:spPr>
          <a:xfrm>
            <a:off x="6496920" y="1700640"/>
            <a:ext cx="419760" cy="419760"/>
          </a:xfrm>
          <a:prstGeom prst="ellipse">
            <a:avLst/>
          </a:prstGeom>
          <a:solidFill>
            <a:srgbClr val="0E7C7B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7"/>
          <p:cNvSpPr/>
          <p:nvPr/>
        </p:nvSpPr>
        <p:spPr>
          <a:xfrm>
            <a:off x="6496920" y="1700640"/>
            <a:ext cx="419760" cy="41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7"/>
          <p:cNvSpPr/>
          <p:nvPr/>
        </p:nvSpPr>
        <p:spPr>
          <a:xfrm>
            <a:off x="7027200" y="1719000"/>
            <a:ext cx="4374720" cy="410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Composición: "tiene un"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7"/>
          <p:cNvSpPr/>
          <p:nvPr/>
        </p:nvSpPr>
        <p:spPr>
          <a:xfrm>
            <a:off x="6515280" y="2240280"/>
            <a:ext cx="4831920" cy="1050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 u="none" strike="noStrike">
                <a:solidFill>
                  <a:srgbClr val="5A6B75"/>
                </a:solidFill>
                <a:latin typeface="Calibri"/>
                <a:ea typeface="Calibri"/>
                <a:cs typeface="Calibri"/>
                <a:sym typeface="Calibri"/>
              </a:rPr>
              <a:t>Un Entrenador tiene un Modelo y tiene un Dataset. Se combinan objetos en vez de encadenar clases.</a:t>
            </a:r>
            <a:endParaRPr b="0" sz="13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7"/>
          <p:cNvSpPr/>
          <p:nvPr/>
        </p:nvSpPr>
        <p:spPr>
          <a:xfrm>
            <a:off x="567000" y="3767400"/>
            <a:ext cx="5380560" cy="2010960"/>
          </a:xfrm>
          <a:prstGeom prst="roundRect">
            <a:avLst>
              <a:gd fmla="val 2727" name="adj"/>
            </a:avLst>
          </a:prstGeom>
          <a:solidFill>
            <a:srgbClr val="EDF3F3"/>
          </a:solidFill>
          <a:ln cap="flat" cmpd="sng" w="12700">
            <a:solidFill>
              <a:srgbClr val="E1E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7"/>
          <p:cNvSpPr/>
          <p:nvPr/>
        </p:nvSpPr>
        <p:spPr>
          <a:xfrm>
            <a:off x="822960" y="4005000"/>
            <a:ext cx="419760" cy="419760"/>
          </a:xfrm>
          <a:prstGeom prst="ellipse">
            <a:avLst/>
          </a:prstGeom>
          <a:solidFill>
            <a:srgbClr val="0E7C7B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7"/>
          <p:cNvSpPr/>
          <p:nvPr/>
        </p:nvSpPr>
        <p:spPr>
          <a:xfrm>
            <a:off x="822960" y="4005000"/>
            <a:ext cx="419760" cy="41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7"/>
          <p:cNvSpPr/>
          <p:nvPr/>
        </p:nvSpPr>
        <p:spPr>
          <a:xfrm>
            <a:off x="1353240" y="4023360"/>
            <a:ext cx="4374720" cy="410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Señal de alarma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7"/>
          <p:cNvSpPr/>
          <p:nvPr/>
        </p:nvSpPr>
        <p:spPr>
          <a:xfrm>
            <a:off x="841320" y="4544640"/>
            <a:ext cx="4831920" cy="1050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 u="none" strike="noStrike">
                <a:solidFill>
                  <a:srgbClr val="5A6B75"/>
                </a:solidFill>
                <a:latin typeface="Calibri"/>
                <a:ea typeface="Calibri"/>
                <a:cs typeface="Calibri"/>
                <a:sym typeface="Calibri"/>
              </a:rPr>
              <a:t>Si heredas solo para reutilizar dos métodos, o si la jerarquía pasa de tres niveles, casi siempre tocaba componer.</a:t>
            </a:r>
            <a:endParaRPr b="0" sz="13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7"/>
          <p:cNvSpPr/>
          <p:nvPr/>
        </p:nvSpPr>
        <p:spPr>
          <a:xfrm>
            <a:off x="6240960" y="3767400"/>
            <a:ext cx="5380560" cy="2010960"/>
          </a:xfrm>
          <a:prstGeom prst="roundRect">
            <a:avLst>
              <a:gd fmla="val 2727" name="adj"/>
            </a:avLst>
          </a:prstGeom>
          <a:solidFill>
            <a:srgbClr val="EDF3F3"/>
          </a:solidFill>
          <a:ln cap="flat" cmpd="sng" w="12700">
            <a:solidFill>
              <a:srgbClr val="E1E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7"/>
          <p:cNvSpPr/>
          <p:nvPr/>
        </p:nvSpPr>
        <p:spPr>
          <a:xfrm>
            <a:off x="6496920" y="4005000"/>
            <a:ext cx="419760" cy="419760"/>
          </a:xfrm>
          <a:prstGeom prst="ellipse">
            <a:avLst/>
          </a:prstGeom>
          <a:solidFill>
            <a:srgbClr val="0E7C7B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7"/>
          <p:cNvSpPr/>
          <p:nvPr/>
        </p:nvSpPr>
        <p:spPr>
          <a:xfrm>
            <a:off x="6496920" y="4005000"/>
            <a:ext cx="419760" cy="41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7"/>
          <p:cNvSpPr/>
          <p:nvPr/>
        </p:nvSpPr>
        <p:spPr>
          <a:xfrm>
            <a:off x="7027200" y="4023360"/>
            <a:ext cx="4374720" cy="410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Regla práctica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7"/>
          <p:cNvSpPr/>
          <p:nvPr/>
        </p:nvSpPr>
        <p:spPr>
          <a:xfrm>
            <a:off x="6515280" y="4544640"/>
            <a:ext cx="4831920" cy="1050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 u="none" strike="noStrike">
                <a:solidFill>
                  <a:srgbClr val="5A6B75"/>
                </a:solidFill>
                <a:latin typeface="Calibri"/>
                <a:ea typeface="Calibri"/>
                <a:cs typeface="Calibri"/>
                <a:sym typeface="Calibri"/>
              </a:rPr>
              <a:t>Empieza componiendo; hereda cuando varias clases deban ser intercambiables bajo el mismo contrato.</a:t>
            </a:r>
            <a:endParaRPr b="0" sz="13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202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8"/>
          <p:cNvSpPr/>
          <p:nvPr/>
        </p:nvSpPr>
        <p:spPr>
          <a:xfrm>
            <a:off x="567000" y="457200"/>
            <a:ext cx="1105452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 u="none" strike="noStrike">
                <a:solidFill>
                  <a:srgbClr val="17BEBB"/>
                </a:solidFill>
                <a:latin typeface="Calibri"/>
                <a:ea typeface="Calibri"/>
                <a:cs typeface="Calibri"/>
                <a:sym typeface="Calibri"/>
              </a:rPr>
              <a:t>PRÁCTICA 4.2 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8"/>
          <p:cNvSpPr/>
          <p:nvPr/>
        </p:nvSpPr>
        <p:spPr>
          <a:xfrm>
            <a:off x="567000" y="749880"/>
            <a:ext cx="11054520" cy="639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Jerarquía de figuras y modelos</a:t>
            </a:r>
            <a:endParaRPr b="0" sz="30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8"/>
          <p:cNvSpPr/>
          <p:nvPr/>
        </p:nvSpPr>
        <p:spPr>
          <a:xfrm>
            <a:off x="567000" y="1600200"/>
            <a:ext cx="5394240" cy="4205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3080" lvl="0" marL="34308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E2E8"/>
              </a:buClr>
              <a:buSzPts val="1500"/>
              <a:buFont typeface="Noto Sans Symbols"/>
              <a:buChar char="🞂"/>
            </a:pPr>
            <a:r>
              <a:rPr b="0" lang="en-US" sz="1500" u="none" strike="noStrike">
                <a:solidFill>
                  <a:srgbClr val="D6E2E8"/>
                </a:solidFill>
                <a:latin typeface="Calibri"/>
                <a:ea typeface="Calibri"/>
                <a:cs typeface="Calibri"/>
                <a:sym typeface="Calibri"/>
              </a:rPr>
              <a:t>E4.5 · Clase abstracta Figura con area() y perimetro(); implementa Circulo, Rectangulo y Cuadrado.</a:t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D6E2E8"/>
              </a:buClr>
              <a:buSzPts val="1500"/>
              <a:buFont typeface="Noto Sans Symbols"/>
              <a:buChar char="🞂"/>
            </a:pPr>
            <a:r>
              <a:rPr b="0" lang="en-US" sz="1500" u="none" strike="noStrike">
                <a:solidFill>
                  <a:srgbClr val="D6E2E8"/>
                </a:solidFill>
                <a:latin typeface="Calibri"/>
                <a:ea typeface="Calibri"/>
                <a:cs typeface="Calibri"/>
                <a:sym typeface="Calibri"/>
              </a:rPr>
              <a:t>E4.6 · Ordena una lista mixta de figuras por área usando sorted con key, sin comprobar tipos.</a:t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D6E2E8"/>
              </a:buClr>
              <a:buSzPts val="1500"/>
              <a:buFont typeface="Noto Sans Symbols"/>
              <a:buChar char="🞂"/>
            </a:pPr>
            <a:r>
              <a:rPr b="0" lang="en-US" sz="1500" u="none" strike="noStrike">
                <a:solidFill>
                  <a:srgbClr val="D6E2E8"/>
                </a:solidFill>
                <a:latin typeface="Calibri"/>
                <a:ea typeface="Calibri"/>
                <a:cs typeface="Calibri"/>
                <a:sym typeface="Calibri"/>
              </a:rPr>
              <a:t>E4.7 · Define __str__ en cada figura y muestra un listado formateado con dos decimales.</a:t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D6E2E8"/>
              </a:buClr>
              <a:buSzPts val="1500"/>
              <a:buFont typeface="Noto Sans Symbols"/>
              <a:buChar char="🞂"/>
            </a:pPr>
            <a:r>
              <a:rPr b="0" lang="en-US" sz="1500" u="none" strike="noStrike">
                <a:solidFill>
                  <a:srgbClr val="D6E2E8"/>
                </a:solidFill>
                <a:latin typeface="Calibri"/>
                <a:ea typeface="Calibri"/>
                <a:cs typeface="Calibri"/>
                <a:sym typeface="Calibri"/>
              </a:rPr>
              <a:t>E4.8 · Añade una clase ModeloAleatorio que cumpla el contrato Modelo y compárala con ModeloMayoritario.</a:t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8"/>
          <p:cNvSpPr/>
          <p:nvPr/>
        </p:nvSpPr>
        <p:spPr>
          <a:xfrm>
            <a:off x="6309360" y="1600200"/>
            <a:ext cx="5302800" cy="3289680"/>
          </a:xfrm>
          <a:prstGeom prst="roundRect">
            <a:avLst>
              <a:gd fmla="val 2223" name="adj"/>
            </a:avLst>
          </a:prstGeom>
          <a:solidFill>
            <a:srgbClr val="1A2F3D"/>
          </a:solidFill>
          <a:ln cap="flat" cmpd="sng" w="12700">
            <a:solidFill>
              <a:srgbClr val="2B42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8"/>
          <p:cNvSpPr/>
          <p:nvPr/>
        </p:nvSpPr>
        <p:spPr>
          <a:xfrm>
            <a:off x="6492240" y="2011680"/>
            <a:ext cx="4982760" cy="374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abc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ABC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abstractmethod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math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pi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Figura(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ABC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@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abstractmethod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area(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): ...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Circulo(Figura):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__init__(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radio):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.radio = radio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area(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pi *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.radio **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8"/>
          <p:cNvSpPr/>
          <p:nvPr/>
        </p:nvSpPr>
        <p:spPr>
          <a:xfrm>
            <a:off x="6492240" y="1710000"/>
            <a:ext cx="4937040" cy="227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E8390"/>
                </a:solidFill>
                <a:latin typeface="Courier New"/>
                <a:ea typeface="Courier New"/>
                <a:cs typeface="Courier New"/>
                <a:sym typeface="Courier New"/>
              </a:rPr>
              <a:t>e4_5.py</a:t>
            </a:r>
            <a:endParaRPr b="0" sz="10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8"/>
          <p:cNvSpPr/>
          <p:nvPr/>
        </p:nvSpPr>
        <p:spPr>
          <a:xfrm>
            <a:off x="567000" y="6035040"/>
            <a:ext cx="5485680" cy="319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E4B363"/>
                </a:solidFill>
                <a:latin typeface="Calibri"/>
                <a:ea typeface="Calibri"/>
                <a:cs typeface="Calibri"/>
                <a:sym typeface="Calibri"/>
              </a:rPr>
              <a:t>Cuadrado: ¿hereda de Rectangulo o no? </a:t>
            </a:r>
            <a:endParaRPr b="0" sz="1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202B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9"/>
          <p:cNvSpPr/>
          <p:nvPr/>
        </p:nvSpPr>
        <p:spPr>
          <a:xfrm>
            <a:off x="567000" y="1920240"/>
            <a:ext cx="1736640" cy="137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400" u="none" strike="noStrike">
                <a:solidFill>
                  <a:srgbClr val="0E7C7B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sz="8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9"/>
          <p:cNvSpPr/>
          <p:nvPr/>
        </p:nvSpPr>
        <p:spPr>
          <a:xfrm>
            <a:off x="2286000" y="2148840"/>
            <a:ext cx="8960400" cy="822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 u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Proyecto final · Clasificador k-NN</a:t>
            </a:r>
            <a:endParaRPr b="0" sz="3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9"/>
          <p:cNvSpPr/>
          <p:nvPr/>
        </p:nvSpPr>
        <p:spPr>
          <a:xfrm>
            <a:off x="2331720" y="3017520"/>
            <a:ext cx="8777520" cy="822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50" u="none" strike="noStrike">
                <a:solidFill>
                  <a:srgbClr val="A9BAC4"/>
                </a:solidFill>
                <a:latin typeface="Calibri"/>
                <a:ea typeface="Calibri"/>
                <a:cs typeface="Calibri"/>
                <a:sym typeface="Calibri"/>
              </a:rPr>
              <a:t>Sin scikit-learn, sin NumPy: solo Python. Entender el algoritmo antes de llamarlo en una línea.</a:t>
            </a:r>
            <a:endParaRPr b="0" sz="15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9"/>
          <p:cNvSpPr/>
          <p:nvPr/>
        </p:nvSpPr>
        <p:spPr>
          <a:xfrm>
            <a:off x="2331720" y="3886200"/>
            <a:ext cx="5485680" cy="36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0"/>
          <p:cNvSpPr/>
          <p:nvPr/>
        </p:nvSpPr>
        <p:spPr>
          <a:xfrm>
            <a:off x="567000" y="384120"/>
            <a:ext cx="1105452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EL ALGORITMO K-NN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20"/>
          <p:cNvSpPr/>
          <p:nvPr/>
        </p:nvSpPr>
        <p:spPr>
          <a:xfrm>
            <a:off x="567000" y="658440"/>
            <a:ext cx="11054520" cy="639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 strike="noStrike">
                <a:solidFill>
                  <a:srgbClr val="17262E"/>
                </a:solidFill>
                <a:latin typeface="Cambria"/>
                <a:ea typeface="Cambria"/>
                <a:cs typeface="Cambria"/>
                <a:sym typeface="Cambria"/>
              </a:rPr>
              <a:t>La idea: dime con quién andas…</a:t>
            </a:r>
            <a:endParaRPr b="0" sz="3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20"/>
          <p:cNvSpPr/>
          <p:nvPr/>
        </p:nvSpPr>
        <p:spPr>
          <a:xfrm>
            <a:off x="567000" y="1463040"/>
            <a:ext cx="4754160" cy="822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 u="none" strike="noStrike">
                <a:solidFill>
                  <a:srgbClr val="5A6B75"/>
                </a:solidFill>
                <a:latin typeface="Calibri"/>
                <a:ea typeface="Calibri"/>
                <a:cs typeface="Calibri"/>
                <a:sym typeface="Calibri"/>
              </a:rPr>
              <a:t>Para clasificar una flor nueva, miramos a qué clase pertenecen las flores conocidas más parecidas a ella.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20"/>
          <p:cNvSpPr/>
          <p:nvPr/>
        </p:nvSpPr>
        <p:spPr>
          <a:xfrm>
            <a:off x="567000" y="2377440"/>
            <a:ext cx="4754160" cy="2193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3080" lvl="0" marL="34308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7262E"/>
              </a:buClr>
              <a:buSzPts val="1500"/>
              <a:buFont typeface="Noto Sans Symbols"/>
              <a:buChar char="●"/>
            </a:pPr>
            <a:r>
              <a:rPr b="0" lang="en-US" sz="15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Cada flor es un punto: aquí, largo y ancho del pétalo.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12000"/>
              </a:lnSpc>
              <a:spcBef>
                <a:spcPts val="901"/>
              </a:spcBef>
              <a:spcAft>
                <a:spcPts val="0"/>
              </a:spcAft>
              <a:buClr>
                <a:srgbClr val="17262E"/>
              </a:buClr>
              <a:buSzPts val="1500"/>
              <a:buFont typeface="Noto Sans Symbols"/>
              <a:buChar char="●"/>
            </a:pPr>
            <a:r>
              <a:rPr b="0" lang="en-US" sz="15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La flor nueva (rojo) cae entre versicolor y virginica.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12000"/>
              </a:lnSpc>
              <a:spcBef>
                <a:spcPts val="901"/>
              </a:spcBef>
              <a:spcAft>
                <a:spcPts val="0"/>
              </a:spcAft>
              <a:buClr>
                <a:srgbClr val="17262E"/>
              </a:buClr>
              <a:buSzPts val="1500"/>
              <a:buFont typeface="Noto Sans Symbols"/>
              <a:buChar char="●"/>
            </a:pPr>
            <a:r>
              <a:rPr b="0" lang="en-US" sz="15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Sus 5 vecinos más próximos: 4 versicolor y 1 virginica.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12000"/>
              </a:lnSpc>
              <a:spcBef>
                <a:spcPts val="901"/>
              </a:spcBef>
              <a:spcAft>
                <a:spcPts val="0"/>
              </a:spcAft>
              <a:buClr>
                <a:srgbClr val="17262E"/>
              </a:buClr>
              <a:buSzPts val="1500"/>
              <a:buFont typeface="Noto Sans Symbols"/>
              <a:buChar char="●"/>
            </a:pPr>
            <a:r>
              <a:rPr b="0" lang="en-US" sz="15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Por mayoría, el modelo predice versicolor.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20"/>
          <p:cNvSpPr/>
          <p:nvPr/>
        </p:nvSpPr>
        <p:spPr>
          <a:xfrm>
            <a:off x="567000" y="4956120"/>
            <a:ext cx="145440" cy="145440"/>
          </a:xfrm>
          <a:prstGeom prst="ellipse">
            <a:avLst/>
          </a:prstGeom>
          <a:solidFill>
            <a:srgbClr val="0E7C7B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72700" spcFirstLastPara="1" rIns="727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20"/>
          <p:cNvSpPr/>
          <p:nvPr/>
        </p:nvSpPr>
        <p:spPr>
          <a:xfrm>
            <a:off x="841320" y="4892040"/>
            <a:ext cx="182808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setosa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0"/>
          <p:cNvSpPr/>
          <p:nvPr/>
        </p:nvSpPr>
        <p:spPr>
          <a:xfrm>
            <a:off x="567000" y="5285160"/>
            <a:ext cx="145440" cy="145440"/>
          </a:xfrm>
          <a:prstGeom prst="ellipse">
            <a:avLst/>
          </a:prstGeom>
          <a:solidFill>
            <a:srgbClr val="E4B363"/>
          </a:solidFill>
          <a:ln cap="flat" cmpd="sng" w="12700">
            <a:solidFill>
              <a:srgbClr val="E4B3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72700" spcFirstLastPara="1" rIns="727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20"/>
          <p:cNvSpPr/>
          <p:nvPr/>
        </p:nvSpPr>
        <p:spPr>
          <a:xfrm>
            <a:off x="841320" y="5221080"/>
            <a:ext cx="182808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versicolor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20"/>
          <p:cNvSpPr/>
          <p:nvPr/>
        </p:nvSpPr>
        <p:spPr>
          <a:xfrm>
            <a:off x="567000" y="5614560"/>
            <a:ext cx="145440" cy="145440"/>
          </a:xfrm>
          <a:prstGeom prst="ellipse">
            <a:avLst/>
          </a:prstGeom>
          <a:solidFill>
            <a:srgbClr val="3E5563"/>
          </a:solidFill>
          <a:ln cap="flat" cmpd="sng" w="12700">
            <a:solidFill>
              <a:srgbClr val="3E5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72700" spcFirstLastPara="1" rIns="727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0"/>
          <p:cNvSpPr/>
          <p:nvPr/>
        </p:nvSpPr>
        <p:spPr>
          <a:xfrm>
            <a:off x="841320" y="5550480"/>
            <a:ext cx="182808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virginica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20"/>
          <p:cNvSpPr/>
          <p:nvPr/>
        </p:nvSpPr>
        <p:spPr>
          <a:xfrm>
            <a:off x="2578680" y="4937760"/>
            <a:ext cx="182160" cy="182160"/>
          </a:xfrm>
          <a:prstGeom prst="ellipse">
            <a:avLst/>
          </a:prstGeom>
          <a:solidFill>
            <a:srgbClr val="D1495B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20"/>
          <p:cNvSpPr/>
          <p:nvPr/>
        </p:nvSpPr>
        <p:spPr>
          <a:xfrm>
            <a:off x="2853000" y="4892040"/>
            <a:ext cx="237672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flor nueva (4.9, 1.6)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20"/>
          <p:cNvSpPr/>
          <p:nvPr/>
        </p:nvSpPr>
        <p:spPr>
          <a:xfrm>
            <a:off x="6446520" y="1417320"/>
            <a:ext cx="5119920" cy="4342680"/>
          </a:xfrm>
          <a:prstGeom prst="rect">
            <a:avLst/>
          </a:prstGeom>
          <a:solidFill>
            <a:srgbClr val="F7FAFA"/>
          </a:solidFill>
          <a:ln cap="flat" cmpd="sng" w="9525">
            <a:solidFill>
              <a:srgbClr val="D8E2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0"/>
          <p:cNvSpPr/>
          <p:nvPr/>
        </p:nvSpPr>
        <p:spPr>
          <a:xfrm>
            <a:off x="6629400" y="5806440"/>
            <a:ext cx="365040" cy="227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5A6B7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20"/>
          <p:cNvSpPr/>
          <p:nvPr/>
        </p:nvSpPr>
        <p:spPr>
          <a:xfrm>
            <a:off x="7360920" y="5806440"/>
            <a:ext cx="365040" cy="227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5A6B7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20"/>
          <p:cNvSpPr/>
          <p:nvPr/>
        </p:nvSpPr>
        <p:spPr>
          <a:xfrm>
            <a:off x="8092440" y="5806440"/>
            <a:ext cx="365040" cy="227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5A6B7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20"/>
          <p:cNvSpPr/>
          <p:nvPr/>
        </p:nvSpPr>
        <p:spPr>
          <a:xfrm>
            <a:off x="8823960" y="5806440"/>
            <a:ext cx="365040" cy="227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5A6B75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20"/>
          <p:cNvSpPr/>
          <p:nvPr/>
        </p:nvSpPr>
        <p:spPr>
          <a:xfrm>
            <a:off x="9555480" y="5806440"/>
            <a:ext cx="365040" cy="227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5A6B75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20"/>
          <p:cNvSpPr/>
          <p:nvPr/>
        </p:nvSpPr>
        <p:spPr>
          <a:xfrm>
            <a:off x="10287000" y="5806440"/>
            <a:ext cx="365040" cy="227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5A6B75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20"/>
          <p:cNvSpPr/>
          <p:nvPr/>
        </p:nvSpPr>
        <p:spPr>
          <a:xfrm>
            <a:off x="11018520" y="5806440"/>
            <a:ext cx="365040" cy="227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5A6B75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20"/>
          <p:cNvSpPr/>
          <p:nvPr/>
        </p:nvSpPr>
        <p:spPr>
          <a:xfrm>
            <a:off x="6035040" y="5650920"/>
            <a:ext cx="346680" cy="21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5A6B75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20"/>
          <p:cNvSpPr/>
          <p:nvPr/>
        </p:nvSpPr>
        <p:spPr>
          <a:xfrm>
            <a:off x="6035040" y="4875480"/>
            <a:ext cx="346680" cy="21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5A6B75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20"/>
          <p:cNvSpPr/>
          <p:nvPr/>
        </p:nvSpPr>
        <p:spPr>
          <a:xfrm>
            <a:off x="6035040" y="4099680"/>
            <a:ext cx="346680" cy="21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5A6B75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20"/>
          <p:cNvSpPr/>
          <p:nvPr/>
        </p:nvSpPr>
        <p:spPr>
          <a:xfrm>
            <a:off x="6035040" y="3324240"/>
            <a:ext cx="346680" cy="21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5A6B75"/>
                </a:solidFill>
                <a:latin typeface="Calibri"/>
                <a:ea typeface="Calibri"/>
                <a:cs typeface="Calibri"/>
                <a:sym typeface="Calibri"/>
              </a:rPr>
              <a:t>1.5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20"/>
          <p:cNvSpPr/>
          <p:nvPr/>
        </p:nvSpPr>
        <p:spPr>
          <a:xfrm>
            <a:off x="6035040" y="2548440"/>
            <a:ext cx="346680" cy="21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5A6B75"/>
                </a:solidFill>
                <a:latin typeface="Calibri"/>
                <a:ea typeface="Calibri"/>
                <a:cs typeface="Calibri"/>
                <a:sym typeface="Calibri"/>
              </a:rPr>
              <a:t>2.0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20"/>
          <p:cNvSpPr/>
          <p:nvPr/>
        </p:nvSpPr>
        <p:spPr>
          <a:xfrm>
            <a:off x="6035040" y="1773000"/>
            <a:ext cx="346680" cy="21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5A6B75"/>
                </a:solidFill>
                <a:latin typeface="Calibri"/>
                <a:ea typeface="Calibri"/>
                <a:cs typeface="Calibri"/>
                <a:sym typeface="Calibri"/>
              </a:rPr>
              <a:t>2.5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20"/>
          <p:cNvSpPr/>
          <p:nvPr/>
        </p:nvSpPr>
        <p:spPr>
          <a:xfrm>
            <a:off x="6446520" y="6062400"/>
            <a:ext cx="511992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5A6B75"/>
                </a:solidFill>
                <a:latin typeface="Calibri"/>
                <a:ea typeface="Calibri"/>
                <a:cs typeface="Calibri"/>
                <a:sym typeface="Calibri"/>
              </a:rPr>
              <a:t>Largo del pétalo (cm)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20"/>
          <p:cNvSpPr/>
          <p:nvPr/>
        </p:nvSpPr>
        <p:spPr>
          <a:xfrm rot="-5400000">
            <a:off x="5029200" y="3452760"/>
            <a:ext cx="201096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5A6B75"/>
                </a:solidFill>
                <a:latin typeface="Calibri"/>
                <a:ea typeface="Calibri"/>
                <a:cs typeface="Calibri"/>
                <a:sym typeface="Calibri"/>
              </a:rPr>
              <a:t>Ancho del pétalo (cm)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20"/>
          <p:cNvSpPr/>
          <p:nvPr/>
        </p:nvSpPr>
        <p:spPr>
          <a:xfrm>
            <a:off x="7053120" y="5415840"/>
            <a:ext cx="118080" cy="118080"/>
          </a:xfrm>
          <a:prstGeom prst="ellipse">
            <a:avLst/>
          </a:prstGeom>
          <a:solidFill>
            <a:srgbClr val="0E7C7B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20"/>
          <p:cNvSpPr/>
          <p:nvPr/>
        </p:nvSpPr>
        <p:spPr>
          <a:xfrm>
            <a:off x="7053120" y="5415840"/>
            <a:ext cx="118080" cy="118080"/>
          </a:xfrm>
          <a:prstGeom prst="ellipse">
            <a:avLst/>
          </a:prstGeom>
          <a:solidFill>
            <a:srgbClr val="0E7C7B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20"/>
          <p:cNvSpPr/>
          <p:nvPr/>
        </p:nvSpPr>
        <p:spPr>
          <a:xfrm>
            <a:off x="6973200" y="5395320"/>
            <a:ext cx="118080" cy="118080"/>
          </a:xfrm>
          <a:prstGeom prst="ellipse">
            <a:avLst/>
          </a:prstGeom>
          <a:solidFill>
            <a:srgbClr val="0E7C7B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20"/>
          <p:cNvSpPr/>
          <p:nvPr/>
        </p:nvSpPr>
        <p:spPr>
          <a:xfrm>
            <a:off x="7102800" y="5414400"/>
            <a:ext cx="118080" cy="118080"/>
          </a:xfrm>
          <a:prstGeom prst="ellipse">
            <a:avLst/>
          </a:prstGeom>
          <a:solidFill>
            <a:srgbClr val="0E7C7B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20"/>
          <p:cNvSpPr/>
          <p:nvPr/>
        </p:nvSpPr>
        <p:spPr>
          <a:xfrm>
            <a:off x="7053120" y="5415840"/>
            <a:ext cx="118080" cy="118080"/>
          </a:xfrm>
          <a:prstGeom prst="ellipse">
            <a:avLst/>
          </a:prstGeom>
          <a:solidFill>
            <a:srgbClr val="0E7C7B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0"/>
          <p:cNvSpPr/>
          <p:nvPr/>
        </p:nvSpPr>
        <p:spPr>
          <a:xfrm>
            <a:off x="7260840" y="5098320"/>
            <a:ext cx="118080" cy="118080"/>
          </a:xfrm>
          <a:prstGeom prst="ellipse">
            <a:avLst/>
          </a:prstGeom>
          <a:solidFill>
            <a:srgbClr val="0E7C7B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0"/>
          <p:cNvSpPr/>
          <p:nvPr/>
        </p:nvSpPr>
        <p:spPr>
          <a:xfrm>
            <a:off x="7052760" y="5244480"/>
            <a:ext cx="118080" cy="118080"/>
          </a:xfrm>
          <a:prstGeom prst="ellipse">
            <a:avLst/>
          </a:prstGeom>
          <a:solidFill>
            <a:srgbClr val="0E7C7B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0"/>
          <p:cNvSpPr/>
          <p:nvPr/>
        </p:nvSpPr>
        <p:spPr>
          <a:xfrm>
            <a:off x="7102800" y="5414400"/>
            <a:ext cx="118080" cy="118080"/>
          </a:xfrm>
          <a:prstGeom prst="ellipse">
            <a:avLst/>
          </a:prstGeom>
          <a:solidFill>
            <a:srgbClr val="0E7C7B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20"/>
          <p:cNvSpPr/>
          <p:nvPr/>
        </p:nvSpPr>
        <p:spPr>
          <a:xfrm>
            <a:off x="7053120" y="5415840"/>
            <a:ext cx="118080" cy="118080"/>
          </a:xfrm>
          <a:prstGeom prst="ellipse">
            <a:avLst/>
          </a:prstGeom>
          <a:solidFill>
            <a:srgbClr val="0E7C7B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20"/>
          <p:cNvSpPr/>
          <p:nvPr/>
        </p:nvSpPr>
        <p:spPr>
          <a:xfrm>
            <a:off x="7143840" y="5551920"/>
            <a:ext cx="118080" cy="118080"/>
          </a:xfrm>
          <a:prstGeom prst="ellipse">
            <a:avLst/>
          </a:prstGeom>
          <a:solidFill>
            <a:srgbClr val="0E7C7B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20"/>
          <p:cNvSpPr/>
          <p:nvPr/>
        </p:nvSpPr>
        <p:spPr>
          <a:xfrm>
            <a:off x="7102800" y="5414400"/>
            <a:ext cx="118080" cy="118080"/>
          </a:xfrm>
          <a:prstGeom prst="ellipse">
            <a:avLst/>
          </a:prstGeom>
          <a:solidFill>
            <a:srgbClr val="0E7C7B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20"/>
          <p:cNvSpPr/>
          <p:nvPr/>
        </p:nvSpPr>
        <p:spPr>
          <a:xfrm>
            <a:off x="7214040" y="5392080"/>
            <a:ext cx="118080" cy="118080"/>
          </a:xfrm>
          <a:prstGeom prst="ellipse">
            <a:avLst/>
          </a:prstGeom>
          <a:solidFill>
            <a:srgbClr val="0E7C7B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20"/>
          <p:cNvSpPr/>
          <p:nvPr/>
        </p:nvSpPr>
        <p:spPr>
          <a:xfrm>
            <a:off x="7025040" y="5571720"/>
            <a:ext cx="118080" cy="118080"/>
          </a:xfrm>
          <a:prstGeom prst="ellipse">
            <a:avLst/>
          </a:prstGeom>
          <a:solidFill>
            <a:srgbClr val="0E7C7B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20"/>
          <p:cNvSpPr/>
          <p:nvPr/>
        </p:nvSpPr>
        <p:spPr>
          <a:xfrm>
            <a:off x="6822360" y="5523120"/>
            <a:ext cx="118080" cy="118080"/>
          </a:xfrm>
          <a:prstGeom prst="ellipse">
            <a:avLst/>
          </a:prstGeom>
          <a:solidFill>
            <a:srgbClr val="0E7C7B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20"/>
          <p:cNvSpPr/>
          <p:nvPr/>
        </p:nvSpPr>
        <p:spPr>
          <a:xfrm>
            <a:off x="6889320" y="5370840"/>
            <a:ext cx="118080" cy="118080"/>
          </a:xfrm>
          <a:prstGeom prst="ellipse">
            <a:avLst/>
          </a:prstGeom>
          <a:solidFill>
            <a:srgbClr val="0E7C7B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20"/>
          <p:cNvSpPr/>
          <p:nvPr/>
        </p:nvSpPr>
        <p:spPr>
          <a:xfrm>
            <a:off x="7131960" y="5093640"/>
            <a:ext cx="118080" cy="118080"/>
          </a:xfrm>
          <a:prstGeom prst="ellipse">
            <a:avLst/>
          </a:prstGeom>
          <a:solidFill>
            <a:srgbClr val="0E7C7B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20"/>
          <p:cNvSpPr/>
          <p:nvPr/>
        </p:nvSpPr>
        <p:spPr>
          <a:xfrm>
            <a:off x="6997320" y="5053320"/>
            <a:ext cx="118080" cy="118080"/>
          </a:xfrm>
          <a:prstGeom prst="ellipse">
            <a:avLst/>
          </a:prstGeom>
          <a:solidFill>
            <a:srgbClr val="0E7C7B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0"/>
          <p:cNvSpPr/>
          <p:nvPr/>
        </p:nvSpPr>
        <p:spPr>
          <a:xfrm>
            <a:off x="7052760" y="5244480"/>
            <a:ext cx="118080" cy="118080"/>
          </a:xfrm>
          <a:prstGeom prst="ellipse">
            <a:avLst/>
          </a:prstGeom>
          <a:solidFill>
            <a:srgbClr val="0E7C7B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20"/>
          <p:cNvSpPr/>
          <p:nvPr/>
        </p:nvSpPr>
        <p:spPr>
          <a:xfrm>
            <a:off x="7282800" y="5232600"/>
            <a:ext cx="118080" cy="118080"/>
          </a:xfrm>
          <a:prstGeom prst="ellipse">
            <a:avLst/>
          </a:prstGeom>
          <a:solidFill>
            <a:srgbClr val="0E7C7B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20"/>
          <p:cNvSpPr/>
          <p:nvPr/>
        </p:nvSpPr>
        <p:spPr>
          <a:xfrm>
            <a:off x="7120080" y="5262480"/>
            <a:ext cx="118080" cy="118080"/>
          </a:xfrm>
          <a:prstGeom prst="ellipse">
            <a:avLst/>
          </a:prstGeom>
          <a:solidFill>
            <a:srgbClr val="0E7C7B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20"/>
          <p:cNvSpPr/>
          <p:nvPr/>
        </p:nvSpPr>
        <p:spPr>
          <a:xfrm>
            <a:off x="7238880" y="5368680"/>
            <a:ext cx="118080" cy="118080"/>
          </a:xfrm>
          <a:prstGeom prst="ellipse">
            <a:avLst/>
          </a:prstGeom>
          <a:solidFill>
            <a:srgbClr val="0E7C7B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20"/>
          <p:cNvSpPr/>
          <p:nvPr/>
        </p:nvSpPr>
        <p:spPr>
          <a:xfrm>
            <a:off x="7131960" y="5093640"/>
            <a:ext cx="118080" cy="118080"/>
          </a:xfrm>
          <a:prstGeom prst="ellipse">
            <a:avLst/>
          </a:prstGeom>
          <a:solidFill>
            <a:srgbClr val="0E7C7B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20"/>
          <p:cNvSpPr/>
          <p:nvPr/>
        </p:nvSpPr>
        <p:spPr>
          <a:xfrm>
            <a:off x="6729480" y="5381640"/>
            <a:ext cx="118080" cy="118080"/>
          </a:xfrm>
          <a:prstGeom prst="ellipse">
            <a:avLst/>
          </a:prstGeom>
          <a:solidFill>
            <a:srgbClr val="0E7C7B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20"/>
          <p:cNvSpPr/>
          <p:nvPr/>
        </p:nvSpPr>
        <p:spPr>
          <a:xfrm>
            <a:off x="7254000" y="4952880"/>
            <a:ext cx="118080" cy="118080"/>
          </a:xfrm>
          <a:prstGeom prst="ellipse">
            <a:avLst/>
          </a:prstGeom>
          <a:solidFill>
            <a:srgbClr val="0E7C7B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20"/>
          <p:cNvSpPr/>
          <p:nvPr/>
        </p:nvSpPr>
        <p:spPr>
          <a:xfrm>
            <a:off x="7385400" y="5384880"/>
            <a:ext cx="118080" cy="118080"/>
          </a:xfrm>
          <a:prstGeom prst="ellipse">
            <a:avLst/>
          </a:prstGeom>
          <a:solidFill>
            <a:srgbClr val="0E7C7B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20"/>
          <p:cNvSpPr/>
          <p:nvPr/>
        </p:nvSpPr>
        <p:spPr>
          <a:xfrm>
            <a:off x="7214040" y="5392080"/>
            <a:ext cx="118080" cy="118080"/>
          </a:xfrm>
          <a:prstGeom prst="ellipse">
            <a:avLst/>
          </a:prstGeom>
          <a:solidFill>
            <a:srgbClr val="0E7C7B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0"/>
          <p:cNvSpPr/>
          <p:nvPr/>
        </p:nvSpPr>
        <p:spPr>
          <a:xfrm>
            <a:off x="7187040" y="5108040"/>
            <a:ext cx="118080" cy="118080"/>
          </a:xfrm>
          <a:prstGeom prst="ellipse">
            <a:avLst/>
          </a:prstGeom>
          <a:solidFill>
            <a:srgbClr val="0E7C7B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20"/>
          <p:cNvSpPr/>
          <p:nvPr/>
        </p:nvSpPr>
        <p:spPr>
          <a:xfrm>
            <a:off x="7102800" y="5414400"/>
            <a:ext cx="118080" cy="118080"/>
          </a:xfrm>
          <a:prstGeom prst="ellipse">
            <a:avLst/>
          </a:prstGeom>
          <a:solidFill>
            <a:srgbClr val="0E7C7B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20"/>
          <p:cNvSpPr/>
          <p:nvPr/>
        </p:nvSpPr>
        <p:spPr>
          <a:xfrm>
            <a:off x="7053120" y="5415840"/>
            <a:ext cx="118080" cy="118080"/>
          </a:xfrm>
          <a:prstGeom prst="ellipse">
            <a:avLst/>
          </a:prstGeom>
          <a:solidFill>
            <a:srgbClr val="0E7C7B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20"/>
          <p:cNvSpPr/>
          <p:nvPr/>
        </p:nvSpPr>
        <p:spPr>
          <a:xfrm>
            <a:off x="7214040" y="5392080"/>
            <a:ext cx="118080" cy="118080"/>
          </a:xfrm>
          <a:prstGeom prst="ellipse">
            <a:avLst/>
          </a:prstGeom>
          <a:solidFill>
            <a:srgbClr val="0E7C7B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20"/>
          <p:cNvSpPr/>
          <p:nvPr/>
        </p:nvSpPr>
        <p:spPr>
          <a:xfrm>
            <a:off x="7214040" y="5392080"/>
            <a:ext cx="118080" cy="118080"/>
          </a:xfrm>
          <a:prstGeom prst="ellipse">
            <a:avLst/>
          </a:prstGeom>
          <a:solidFill>
            <a:srgbClr val="0E7C7B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20"/>
          <p:cNvSpPr/>
          <p:nvPr/>
        </p:nvSpPr>
        <p:spPr>
          <a:xfrm>
            <a:off x="7131960" y="5093640"/>
            <a:ext cx="118080" cy="118080"/>
          </a:xfrm>
          <a:prstGeom prst="ellipse">
            <a:avLst/>
          </a:prstGeom>
          <a:solidFill>
            <a:srgbClr val="0E7C7B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20"/>
          <p:cNvSpPr/>
          <p:nvPr/>
        </p:nvSpPr>
        <p:spPr>
          <a:xfrm>
            <a:off x="7143840" y="5551920"/>
            <a:ext cx="118080" cy="118080"/>
          </a:xfrm>
          <a:prstGeom prst="ellipse">
            <a:avLst/>
          </a:prstGeom>
          <a:solidFill>
            <a:srgbClr val="0E7C7B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20"/>
          <p:cNvSpPr/>
          <p:nvPr/>
        </p:nvSpPr>
        <p:spPr>
          <a:xfrm>
            <a:off x="7053120" y="5415840"/>
            <a:ext cx="118080" cy="118080"/>
          </a:xfrm>
          <a:prstGeom prst="ellipse">
            <a:avLst/>
          </a:prstGeom>
          <a:solidFill>
            <a:srgbClr val="0E7C7B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20"/>
          <p:cNvSpPr/>
          <p:nvPr/>
        </p:nvSpPr>
        <p:spPr>
          <a:xfrm>
            <a:off x="7102800" y="5414400"/>
            <a:ext cx="118080" cy="118080"/>
          </a:xfrm>
          <a:prstGeom prst="ellipse">
            <a:avLst/>
          </a:prstGeom>
          <a:solidFill>
            <a:srgbClr val="0E7C7B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20"/>
          <p:cNvSpPr/>
          <p:nvPr/>
        </p:nvSpPr>
        <p:spPr>
          <a:xfrm>
            <a:off x="6889320" y="5370840"/>
            <a:ext cx="118080" cy="118080"/>
          </a:xfrm>
          <a:prstGeom prst="ellipse">
            <a:avLst/>
          </a:prstGeom>
          <a:solidFill>
            <a:srgbClr val="0E7C7B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20"/>
          <p:cNvSpPr/>
          <p:nvPr/>
        </p:nvSpPr>
        <p:spPr>
          <a:xfrm>
            <a:off x="6973200" y="5395320"/>
            <a:ext cx="118080" cy="118080"/>
          </a:xfrm>
          <a:prstGeom prst="ellipse">
            <a:avLst/>
          </a:prstGeom>
          <a:solidFill>
            <a:srgbClr val="0E7C7B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20"/>
          <p:cNvSpPr/>
          <p:nvPr/>
        </p:nvSpPr>
        <p:spPr>
          <a:xfrm>
            <a:off x="7025040" y="5571720"/>
            <a:ext cx="118080" cy="118080"/>
          </a:xfrm>
          <a:prstGeom prst="ellipse">
            <a:avLst/>
          </a:prstGeom>
          <a:solidFill>
            <a:srgbClr val="0E7C7B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20"/>
          <p:cNvSpPr/>
          <p:nvPr/>
        </p:nvSpPr>
        <p:spPr>
          <a:xfrm>
            <a:off x="6973200" y="5395320"/>
            <a:ext cx="118080" cy="118080"/>
          </a:xfrm>
          <a:prstGeom prst="ellipse">
            <a:avLst/>
          </a:prstGeom>
          <a:solidFill>
            <a:srgbClr val="0E7C7B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20"/>
          <p:cNvSpPr/>
          <p:nvPr/>
        </p:nvSpPr>
        <p:spPr>
          <a:xfrm>
            <a:off x="7102800" y="5414400"/>
            <a:ext cx="118080" cy="118080"/>
          </a:xfrm>
          <a:prstGeom prst="ellipse">
            <a:avLst/>
          </a:prstGeom>
          <a:solidFill>
            <a:srgbClr val="0E7C7B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20"/>
          <p:cNvSpPr/>
          <p:nvPr/>
        </p:nvSpPr>
        <p:spPr>
          <a:xfrm>
            <a:off x="6957000" y="5218920"/>
            <a:ext cx="118080" cy="118080"/>
          </a:xfrm>
          <a:prstGeom prst="ellipse">
            <a:avLst/>
          </a:prstGeom>
          <a:solidFill>
            <a:srgbClr val="0E7C7B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20"/>
          <p:cNvSpPr/>
          <p:nvPr/>
        </p:nvSpPr>
        <p:spPr>
          <a:xfrm>
            <a:off x="6957000" y="5218920"/>
            <a:ext cx="118080" cy="118080"/>
          </a:xfrm>
          <a:prstGeom prst="ellipse">
            <a:avLst/>
          </a:prstGeom>
          <a:solidFill>
            <a:srgbClr val="0E7C7B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20"/>
          <p:cNvSpPr/>
          <p:nvPr/>
        </p:nvSpPr>
        <p:spPr>
          <a:xfrm>
            <a:off x="6973200" y="5395320"/>
            <a:ext cx="118080" cy="118080"/>
          </a:xfrm>
          <a:prstGeom prst="ellipse">
            <a:avLst/>
          </a:prstGeom>
          <a:solidFill>
            <a:srgbClr val="0E7C7B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20"/>
          <p:cNvSpPr/>
          <p:nvPr/>
        </p:nvSpPr>
        <p:spPr>
          <a:xfrm>
            <a:off x="7165440" y="4766040"/>
            <a:ext cx="118080" cy="118080"/>
          </a:xfrm>
          <a:prstGeom prst="ellipse">
            <a:avLst/>
          </a:prstGeom>
          <a:solidFill>
            <a:srgbClr val="0E7C7B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20"/>
          <p:cNvSpPr/>
          <p:nvPr/>
        </p:nvSpPr>
        <p:spPr>
          <a:xfrm>
            <a:off x="7391520" y="5054400"/>
            <a:ext cx="118080" cy="118080"/>
          </a:xfrm>
          <a:prstGeom prst="ellipse">
            <a:avLst/>
          </a:prstGeom>
          <a:solidFill>
            <a:srgbClr val="0E7C7B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20"/>
          <p:cNvSpPr/>
          <p:nvPr/>
        </p:nvSpPr>
        <p:spPr>
          <a:xfrm>
            <a:off x="7052760" y="5244480"/>
            <a:ext cx="118080" cy="118080"/>
          </a:xfrm>
          <a:prstGeom prst="ellipse">
            <a:avLst/>
          </a:prstGeom>
          <a:solidFill>
            <a:srgbClr val="0E7C7B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20"/>
          <p:cNvSpPr/>
          <p:nvPr/>
        </p:nvSpPr>
        <p:spPr>
          <a:xfrm>
            <a:off x="7214040" y="5392080"/>
            <a:ext cx="118080" cy="118080"/>
          </a:xfrm>
          <a:prstGeom prst="ellipse">
            <a:avLst/>
          </a:prstGeom>
          <a:solidFill>
            <a:srgbClr val="0E7C7B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20"/>
          <p:cNvSpPr/>
          <p:nvPr/>
        </p:nvSpPr>
        <p:spPr>
          <a:xfrm>
            <a:off x="7053120" y="5415840"/>
            <a:ext cx="118080" cy="118080"/>
          </a:xfrm>
          <a:prstGeom prst="ellipse">
            <a:avLst/>
          </a:prstGeom>
          <a:solidFill>
            <a:srgbClr val="0E7C7B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20"/>
          <p:cNvSpPr/>
          <p:nvPr/>
        </p:nvSpPr>
        <p:spPr>
          <a:xfrm>
            <a:off x="7102800" y="5414400"/>
            <a:ext cx="118080" cy="118080"/>
          </a:xfrm>
          <a:prstGeom prst="ellipse">
            <a:avLst/>
          </a:prstGeom>
          <a:solidFill>
            <a:srgbClr val="0E7C7B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20"/>
          <p:cNvSpPr/>
          <p:nvPr/>
        </p:nvSpPr>
        <p:spPr>
          <a:xfrm>
            <a:off x="7053120" y="5415840"/>
            <a:ext cx="118080" cy="118080"/>
          </a:xfrm>
          <a:prstGeom prst="ellipse">
            <a:avLst/>
          </a:prstGeom>
          <a:solidFill>
            <a:srgbClr val="0E7C7B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20"/>
          <p:cNvSpPr/>
          <p:nvPr/>
        </p:nvSpPr>
        <p:spPr>
          <a:xfrm>
            <a:off x="9484560" y="3502800"/>
            <a:ext cx="118080" cy="118080"/>
          </a:xfrm>
          <a:prstGeom prst="ellipse">
            <a:avLst/>
          </a:prstGeom>
          <a:solidFill>
            <a:srgbClr val="E4B3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20"/>
          <p:cNvSpPr/>
          <p:nvPr/>
        </p:nvSpPr>
        <p:spPr>
          <a:xfrm>
            <a:off x="9314280" y="3397320"/>
            <a:ext cx="118080" cy="118080"/>
          </a:xfrm>
          <a:prstGeom prst="ellipse">
            <a:avLst/>
          </a:prstGeom>
          <a:solidFill>
            <a:srgbClr val="E4B3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20"/>
          <p:cNvSpPr/>
          <p:nvPr/>
        </p:nvSpPr>
        <p:spPr>
          <a:xfrm>
            <a:off x="9579600" y="3368880"/>
            <a:ext cx="118080" cy="118080"/>
          </a:xfrm>
          <a:prstGeom prst="ellipse">
            <a:avLst/>
          </a:prstGeom>
          <a:solidFill>
            <a:srgbClr val="E4B3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20"/>
          <p:cNvSpPr/>
          <p:nvPr/>
        </p:nvSpPr>
        <p:spPr>
          <a:xfrm>
            <a:off x="8933040" y="3659760"/>
            <a:ext cx="118080" cy="118080"/>
          </a:xfrm>
          <a:prstGeom prst="ellipse">
            <a:avLst/>
          </a:prstGeom>
          <a:solidFill>
            <a:srgbClr val="E4B3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20"/>
          <p:cNvSpPr/>
          <p:nvPr/>
        </p:nvSpPr>
        <p:spPr>
          <a:xfrm>
            <a:off x="9393840" y="3374640"/>
            <a:ext cx="118080" cy="118080"/>
          </a:xfrm>
          <a:prstGeom prst="ellipse">
            <a:avLst/>
          </a:prstGeom>
          <a:solidFill>
            <a:srgbClr val="E4B3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20"/>
          <p:cNvSpPr/>
          <p:nvPr/>
        </p:nvSpPr>
        <p:spPr>
          <a:xfrm>
            <a:off x="9289080" y="3668400"/>
            <a:ext cx="118080" cy="118080"/>
          </a:xfrm>
          <a:prstGeom prst="ellipse">
            <a:avLst/>
          </a:prstGeom>
          <a:solidFill>
            <a:srgbClr val="E4B3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20"/>
          <p:cNvSpPr/>
          <p:nvPr/>
        </p:nvSpPr>
        <p:spPr>
          <a:xfrm>
            <a:off x="9460800" y="3215160"/>
            <a:ext cx="118080" cy="118080"/>
          </a:xfrm>
          <a:prstGeom prst="ellipse">
            <a:avLst/>
          </a:prstGeom>
          <a:solidFill>
            <a:srgbClr val="E4B3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20"/>
          <p:cNvSpPr/>
          <p:nvPr/>
        </p:nvSpPr>
        <p:spPr>
          <a:xfrm>
            <a:off x="8410320" y="4168080"/>
            <a:ext cx="118080" cy="118080"/>
          </a:xfrm>
          <a:prstGeom prst="ellipse">
            <a:avLst/>
          </a:prstGeom>
          <a:solidFill>
            <a:srgbClr val="E4B3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20"/>
          <p:cNvSpPr/>
          <p:nvPr/>
        </p:nvSpPr>
        <p:spPr>
          <a:xfrm>
            <a:off x="9413280" y="3657240"/>
            <a:ext cx="118080" cy="118080"/>
          </a:xfrm>
          <a:prstGeom prst="ellipse">
            <a:avLst/>
          </a:prstGeom>
          <a:solidFill>
            <a:srgbClr val="E4B3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20"/>
          <p:cNvSpPr/>
          <p:nvPr/>
        </p:nvSpPr>
        <p:spPr>
          <a:xfrm>
            <a:off x="8847000" y="3524040"/>
            <a:ext cx="118080" cy="118080"/>
          </a:xfrm>
          <a:prstGeom prst="ellipse">
            <a:avLst/>
          </a:prstGeom>
          <a:solidFill>
            <a:srgbClr val="E4B3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20"/>
          <p:cNvSpPr/>
          <p:nvPr/>
        </p:nvSpPr>
        <p:spPr>
          <a:xfrm>
            <a:off x="8568360" y="4162320"/>
            <a:ext cx="118080" cy="118080"/>
          </a:xfrm>
          <a:prstGeom prst="ellipse">
            <a:avLst/>
          </a:prstGeom>
          <a:solidFill>
            <a:srgbClr val="E4B3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20"/>
          <p:cNvSpPr/>
          <p:nvPr/>
        </p:nvSpPr>
        <p:spPr>
          <a:xfrm>
            <a:off x="9070200" y="3354840"/>
            <a:ext cx="118080" cy="118080"/>
          </a:xfrm>
          <a:prstGeom prst="ellipse">
            <a:avLst/>
          </a:prstGeom>
          <a:solidFill>
            <a:srgbClr val="E4B3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20"/>
          <p:cNvSpPr/>
          <p:nvPr/>
        </p:nvSpPr>
        <p:spPr>
          <a:xfrm>
            <a:off x="8922600" y="4176720"/>
            <a:ext cx="118080" cy="118080"/>
          </a:xfrm>
          <a:prstGeom prst="ellipse">
            <a:avLst/>
          </a:prstGeom>
          <a:solidFill>
            <a:srgbClr val="E4B3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20"/>
          <p:cNvSpPr/>
          <p:nvPr/>
        </p:nvSpPr>
        <p:spPr>
          <a:xfrm>
            <a:off x="9484560" y="3502800"/>
            <a:ext cx="118080" cy="118080"/>
          </a:xfrm>
          <a:prstGeom prst="ellipse">
            <a:avLst/>
          </a:prstGeom>
          <a:solidFill>
            <a:srgbClr val="E4B3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20"/>
          <p:cNvSpPr/>
          <p:nvPr/>
        </p:nvSpPr>
        <p:spPr>
          <a:xfrm>
            <a:off x="8628480" y="3710520"/>
            <a:ext cx="118080" cy="118080"/>
          </a:xfrm>
          <a:prstGeom prst="ellipse">
            <a:avLst/>
          </a:prstGeom>
          <a:solidFill>
            <a:srgbClr val="E4B3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20"/>
          <p:cNvSpPr/>
          <p:nvPr/>
        </p:nvSpPr>
        <p:spPr>
          <a:xfrm>
            <a:off x="9234720" y="3554640"/>
            <a:ext cx="118080" cy="118080"/>
          </a:xfrm>
          <a:prstGeom prst="ellipse">
            <a:avLst/>
          </a:prstGeom>
          <a:solidFill>
            <a:srgbClr val="E4B3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20"/>
          <p:cNvSpPr/>
          <p:nvPr/>
        </p:nvSpPr>
        <p:spPr>
          <a:xfrm>
            <a:off x="9314280" y="3397320"/>
            <a:ext cx="118080" cy="118080"/>
          </a:xfrm>
          <a:prstGeom prst="ellipse">
            <a:avLst/>
          </a:prstGeom>
          <a:solidFill>
            <a:srgbClr val="E4B3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20"/>
          <p:cNvSpPr/>
          <p:nvPr/>
        </p:nvSpPr>
        <p:spPr>
          <a:xfrm>
            <a:off x="9047880" y="4170600"/>
            <a:ext cx="118080" cy="118080"/>
          </a:xfrm>
          <a:prstGeom prst="ellipse">
            <a:avLst/>
          </a:prstGeom>
          <a:solidFill>
            <a:srgbClr val="E4B3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20"/>
          <p:cNvSpPr/>
          <p:nvPr/>
        </p:nvSpPr>
        <p:spPr>
          <a:xfrm>
            <a:off x="9314280" y="3397320"/>
            <a:ext cx="118080" cy="118080"/>
          </a:xfrm>
          <a:prstGeom prst="ellipse">
            <a:avLst/>
          </a:prstGeom>
          <a:solidFill>
            <a:srgbClr val="E4B3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20"/>
          <p:cNvSpPr/>
          <p:nvPr/>
        </p:nvSpPr>
        <p:spPr>
          <a:xfrm>
            <a:off x="8867880" y="3981960"/>
            <a:ext cx="118080" cy="118080"/>
          </a:xfrm>
          <a:prstGeom prst="ellipse">
            <a:avLst/>
          </a:prstGeom>
          <a:solidFill>
            <a:srgbClr val="E4B3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20"/>
          <p:cNvSpPr/>
          <p:nvPr/>
        </p:nvSpPr>
        <p:spPr>
          <a:xfrm>
            <a:off x="9551160" y="2922120"/>
            <a:ext cx="118080" cy="118080"/>
          </a:xfrm>
          <a:prstGeom prst="ellipse">
            <a:avLst/>
          </a:prstGeom>
          <a:solidFill>
            <a:srgbClr val="E4B3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20"/>
          <p:cNvSpPr/>
          <p:nvPr/>
        </p:nvSpPr>
        <p:spPr>
          <a:xfrm>
            <a:off x="8933040" y="3659760"/>
            <a:ext cx="118080" cy="118080"/>
          </a:xfrm>
          <a:prstGeom prst="ellipse">
            <a:avLst/>
          </a:prstGeom>
          <a:solidFill>
            <a:srgbClr val="E4B3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20"/>
          <p:cNvSpPr/>
          <p:nvPr/>
        </p:nvSpPr>
        <p:spPr>
          <a:xfrm>
            <a:off x="9579600" y="3368880"/>
            <a:ext cx="118080" cy="118080"/>
          </a:xfrm>
          <a:prstGeom prst="ellipse">
            <a:avLst/>
          </a:prstGeom>
          <a:solidFill>
            <a:srgbClr val="E4B3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20"/>
          <p:cNvSpPr/>
          <p:nvPr/>
        </p:nvSpPr>
        <p:spPr>
          <a:xfrm>
            <a:off x="9480240" y="3847320"/>
            <a:ext cx="118080" cy="118080"/>
          </a:xfrm>
          <a:prstGeom prst="ellipse">
            <a:avLst/>
          </a:prstGeom>
          <a:solidFill>
            <a:srgbClr val="E4B3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20"/>
          <p:cNvSpPr/>
          <p:nvPr/>
        </p:nvSpPr>
        <p:spPr>
          <a:xfrm>
            <a:off x="9155520" y="3711240"/>
            <a:ext cx="118080" cy="118080"/>
          </a:xfrm>
          <a:prstGeom prst="ellipse">
            <a:avLst/>
          </a:prstGeom>
          <a:solidFill>
            <a:srgbClr val="E4B3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20"/>
          <p:cNvSpPr/>
          <p:nvPr/>
        </p:nvSpPr>
        <p:spPr>
          <a:xfrm>
            <a:off x="9234720" y="3554640"/>
            <a:ext cx="118080" cy="118080"/>
          </a:xfrm>
          <a:prstGeom prst="ellipse">
            <a:avLst/>
          </a:prstGeom>
          <a:solidFill>
            <a:srgbClr val="E4B3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20"/>
          <p:cNvSpPr/>
          <p:nvPr/>
        </p:nvSpPr>
        <p:spPr>
          <a:xfrm>
            <a:off x="9505440" y="3519720"/>
            <a:ext cx="118080" cy="118080"/>
          </a:xfrm>
          <a:prstGeom prst="ellipse">
            <a:avLst/>
          </a:prstGeom>
          <a:solidFill>
            <a:srgbClr val="E4B3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20"/>
          <p:cNvSpPr/>
          <p:nvPr/>
        </p:nvSpPr>
        <p:spPr>
          <a:xfrm>
            <a:off x="9691200" y="3043440"/>
            <a:ext cx="118080" cy="118080"/>
          </a:xfrm>
          <a:prstGeom prst="ellipse">
            <a:avLst/>
          </a:prstGeom>
          <a:solidFill>
            <a:srgbClr val="E4B3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20"/>
          <p:cNvSpPr/>
          <p:nvPr/>
        </p:nvSpPr>
        <p:spPr>
          <a:xfrm>
            <a:off x="9314280" y="3397320"/>
            <a:ext cx="118080" cy="118080"/>
          </a:xfrm>
          <a:prstGeom prst="ellipse">
            <a:avLst/>
          </a:prstGeom>
          <a:solidFill>
            <a:srgbClr val="E4B3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20"/>
          <p:cNvSpPr/>
          <p:nvPr/>
        </p:nvSpPr>
        <p:spPr>
          <a:xfrm>
            <a:off x="8568360" y="4162320"/>
            <a:ext cx="118080" cy="118080"/>
          </a:xfrm>
          <a:prstGeom prst="ellipse">
            <a:avLst/>
          </a:prstGeom>
          <a:solidFill>
            <a:srgbClr val="E4B3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20"/>
          <p:cNvSpPr/>
          <p:nvPr/>
        </p:nvSpPr>
        <p:spPr>
          <a:xfrm>
            <a:off x="8798760" y="3967560"/>
            <a:ext cx="118080" cy="118080"/>
          </a:xfrm>
          <a:prstGeom prst="ellipse">
            <a:avLst/>
          </a:prstGeom>
          <a:solidFill>
            <a:srgbClr val="E4B3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20"/>
          <p:cNvSpPr/>
          <p:nvPr/>
        </p:nvSpPr>
        <p:spPr>
          <a:xfrm>
            <a:off x="8732160" y="4122720"/>
            <a:ext cx="118080" cy="118080"/>
          </a:xfrm>
          <a:prstGeom prst="ellipse">
            <a:avLst/>
          </a:prstGeom>
          <a:solidFill>
            <a:srgbClr val="E4B3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20"/>
          <p:cNvSpPr/>
          <p:nvPr/>
        </p:nvSpPr>
        <p:spPr>
          <a:xfrm>
            <a:off x="8865720" y="3813480"/>
            <a:ext cx="118080" cy="118080"/>
          </a:xfrm>
          <a:prstGeom prst="ellipse">
            <a:avLst/>
          </a:prstGeom>
          <a:solidFill>
            <a:srgbClr val="E4B3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20"/>
          <p:cNvSpPr/>
          <p:nvPr/>
        </p:nvSpPr>
        <p:spPr>
          <a:xfrm>
            <a:off x="9778680" y="3241440"/>
            <a:ext cx="118080" cy="118080"/>
          </a:xfrm>
          <a:prstGeom prst="ellipse">
            <a:avLst/>
          </a:prstGeom>
          <a:solidFill>
            <a:srgbClr val="E4B3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20"/>
          <p:cNvSpPr/>
          <p:nvPr/>
        </p:nvSpPr>
        <p:spPr>
          <a:xfrm>
            <a:off x="9314280" y="3397320"/>
            <a:ext cx="118080" cy="118080"/>
          </a:xfrm>
          <a:prstGeom prst="ellipse">
            <a:avLst/>
          </a:prstGeom>
          <a:solidFill>
            <a:srgbClr val="E4B3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20"/>
          <p:cNvSpPr/>
          <p:nvPr/>
        </p:nvSpPr>
        <p:spPr>
          <a:xfrm>
            <a:off x="9297720" y="3246120"/>
            <a:ext cx="118080" cy="118080"/>
          </a:xfrm>
          <a:prstGeom prst="ellipse">
            <a:avLst/>
          </a:prstGeom>
          <a:solidFill>
            <a:srgbClr val="E4B3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20"/>
          <p:cNvSpPr/>
          <p:nvPr/>
        </p:nvSpPr>
        <p:spPr>
          <a:xfrm>
            <a:off x="9443880" y="3351960"/>
            <a:ext cx="118080" cy="118080"/>
          </a:xfrm>
          <a:prstGeom prst="ellipse">
            <a:avLst/>
          </a:prstGeom>
          <a:solidFill>
            <a:srgbClr val="E4B3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20"/>
          <p:cNvSpPr/>
          <p:nvPr/>
        </p:nvSpPr>
        <p:spPr>
          <a:xfrm>
            <a:off x="9258840" y="3693960"/>
            <a:ext cx="118080" cy="118080"/>
          </a:xfrm>
          <a:prstGeom prst="ellipse">
            <a:avLst/>
          </a:prstGeom>
          <a:solidFill>
            <a:srgbClr val="E4B3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20"/>
          <p:cNvSpPr/>
          <p:nvPr/>
        </p:nvSpPr>
        <p:spPr>
          <a:xfrm>
            <a:off x="9026640" y="3680640"/>
            <a:ext cx="118080" cy="118080"/>
          </a:xfrm>
          <a:prstGeom prst="ellipse">
            <a:avLst/>
          </a:prstGeom>
          <a:solidFill>
            <a:srgbClr val="E4B3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20"/>
          <p:cNvSpPr/>
          <p:nvPr/>
        </p:nvSpPr>
        <p:spPr>
          <a:xfrm>
            <a:off x="8933040" y="3659760"/>
            <a:ext cx="118080" cy="118080"/>
          </a:xfrm>
          <a:prstGeom prst="ellipse">
            <a:avLst/>
          </a:prstGeom>
          <a:solidFill>
            <a:srgbClr val="E4B3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20"/>
          <p:cNvSpPr/>
          <p:nvPr/>
        </p:nvSpPr>
        <p:spPr>
          <a:xfrm>
            <a:off x="9213480" y="3827520"/>
            <a:ext cx="118080" cy="118080"/>
          </a:xfrm>
          <a:prstGeom prst="ellipse">
            <a:avLst/>
          </a:prstGeom>
          <a:solidFill>
            <a:srgbClr val="E4B3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20"/>
          <p:cNvSpPr/>
          <p:nvPr/>
        </p:nvSpPr>
        <p:spPr>
          <a:xfrm>
            <a:off x="9365760" y="3510000"/>
            <a:ext cx="118080" cy="118080"/>
          </a:xfrm>
          <a:prstGeom prst="ellipse">
            <a:avLst/>
          </a:prstGeom>
          <a:solidFill>
            <a:srgbClr val="E4B3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20"/>
          <p:cNvSpPr/>
          <p:nvPr/>
        </p:nvSpPr>
        <p:spPr>
          <a:xfrm>
            <a:off x="8947080" y="3831120"/>
            <a:ext cx="118080" cy="118080"/>
          </a:xfrm>
          <a:prstGeom prst="ellipse">
            <a:avLst/>
          </a:prstGeom>
          <a:solidFill>
            <a:srgbClr val="E4B3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20"/>
          <p:cNvSpPr/>
          <p:nvPr/>
        </p:nvSpPr>
        <p:spPr>
          <a:xfrm>
            <a:off x="8410320" y="4168080"/>
            <a:ext cx="118080" cy="118080"/>
          </a:xfrm>
          <a:prstGeom prst="ellipse">
            <a:avLst/>
          </a:prstGeom>
          <a:solidFill>
            <a:srgbClr val="E4B3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20"/>
          <p:cNvSpPr/>
          <p:nvPr/>
        </p:nvSpPr>
        <p:spPr>
          <a:xfrm>
            <a:off x="9096480" y="3705120"/>
            <a:ext cx="118080" cy="118080"/>
          </a:xfrm>
          <a:prstGeom prst="ellipse">
            <a:avLst/>
          </a:prstGeom>
          <a:solidFill>
            <a:srgbClr val="E4B3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20"/>
          <p:cNvSpPr/>
          <p:nvPr/>
        </p:nvSpPr>
        <p:spPr>
          <a:xfrm>
            <a:off x="9077040" y="3867120"/>
            <a:ext cx="118080" cy="118080"/>
          </a:xfrm>
          <a:prstGeom prst="ellipse">
            <a:avLst/>
          </a:prstGeom>
          <a:solidFill>
            <a:srgbClr val="E4B3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20"/>
          <p:cNvSpPr/>
          <p:nvPr/>
        </p:nvSpPr>
        <p:spPr>
          <a:xfrm>
            <a:off x="9096480" y="3705120"/>
            <a:ext cx="118080" cy="118080"/>
          </a:xfrm>
          <a:prstGeom prst="ellipse">
            <a:avLst/>
          </a:prstGeom>
          <a:solidFill>
            <a:srgbClr val="E4B3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20"/>
          <p:cNvSpPr/>
          <p:nvPr/>
        </p:nvSpPr>
        <p:spPr>
          <a:xfrm>
            <a:off x="9155520" y="3711240"/>
            <a:ext cx="118080" cy="118080"/>
          </a:xfrm>
          <a:prstGeom prst="ellipse">
            <a:avLst/>
          </a:prstGeom>
          <a:solidFill>
            <a:srgbClr val="E4B3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20"/>
          <p:cNvSpPr/>
          <p:nvPr/>
        </p:nvSpPr>
        <p:spPr>
          <a:xfrm>
            <a:off x="8203680" y="3992400"/>
            <a:ext cx="118080" cy="118080"/>
          </a:xfrm>
          <a:prstGeom prst="ellipse">
            <a:avLst/>
          </a:prstGeom>
          <a:solidFill>
            <a:srgbClr val="E4B3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20"/>
          <p:cNvSpPr/>
          <p:nvPr/>
        </p:nvSpPr>
        <p:spPr>
          <a:xfrm>
            <a:off x="9026640" y="3680640"/>
            <a:ext cx="118080" cy="118080"/>
          </a:xfrm>
          <a:prstGeom prst="ellipse">
            <a:avLst/>
          </a:prstGeom>
          <a:solidFill>
            <a:srgbClr val="E4B3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20"/>
          <p:cNvSpPr/>
          <p:nvPr/>
        </p:nvSpPr>
        <p:spPr>
          <a:xfrm>
            <a:off x="10391760" y="1841040"/>
            <a:ext cx="118080" cy="118080"/>
          </a:xfrm>
          <a:prstGeom prst="ellipse">
            <a:avLst/>
          </a:prstGeom>
          <a:solidFill>
            <a:srgbClr val="3E55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20"/>
          <p:cNvSpPr/>
          <p:nvPr/>
        </p:nvSpPr>
        <p:spPr>
          <a:xfrm>
            <a:off x="9761040" y="2726640"/>
            <a:ext cx="118080" cy="118080"/>
          </a:xfrm>
          <a:prstGeom prst="ellipse">
            <a:avLst/>
          </a:prstGeom>
          <a:solidFill>
            <a:srgbClr val="3E55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20"/>
          <p:cNvSpPr/>
          <p:nvPr/>
        </p:nvSpPr>
        <p:spPr>
          <a:xfrm>
            <a:off x="10312200" y="2416320"/>
            <a:ext cx="118080" cy="118080"/>
          </a:xfrm>
          <a:prstGeom prst="ellipse">
            <a:avLst/>
          </a:prstGeom>
          <a:solidFill>
            <a:srgbClr val="3E55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20"/>
          <p:cNvSpPr/>
          <p:nvPr/>
        </p:nvSpPr>
        <p:spPr>
          <a:xfrm>
            <a:off x="10091520" y="2884680"/>
            <a:ext cx="118080" cy="118080"/>
          </a:xfrm>
          <a:prstGeom prst="ellipse">
            <a:avLst/>
          </a:prstGeom>
          <a:solidFill>
            <a:srgbClr val="3E55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20"/>
          <p:cNvSpPr/>
          <p:nvPr/>
        </p:nvSpPr>
        <p:spPr>
          <a:xfrm>
            <a:off x="10256760" y="2294640"/>
            <a:ext cx="118080" cy="118080"/>
          </a:xfrm>
          <a:prstGeom prst="ellipse">
            <a:avLst/>
          </a:prstGeom>
          <a:solidFill>
            <a:srgbClr val="3E55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20"/>
          <p:cNvSpPr/>
          <p:nvPr/>
        </p:nvSpPr>
        <p:spPr>
          <a:xfrm>
            <a:off x="10841760" y="2421360"/>
            <a:ext cx="118080" cy="118080"/>
          </a:xfrm>
          <a:prstGeom prst="ellipse">
            <a:avLst/>
          </a:prstGeom>
          <a:solidFill>
            <a:srgbClr val="3E55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20"/>
          <p:cNvSpPr/>
          <p:nvPr/>
        </p:nvSpPr>
        <p:spPr>
          <a:xfrm>
            <a:off x="9338400" y="3077640"/>
            <a:ext cx="118080" cy="118080"/>
          </a:xfrm>
          <a:prstGeom prst="ellipse">
            <a:avLst/>
          </a:prstGeom>
          <a:solidFill>
            <a:srgbClr val="3E55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20"/>
          <p:cNvSpPr/>
          <p:nvPr/>
        </p:nvSpPr>
        <p:spPr>
          <a:xfrm>
            <a:off x="10607040" y="2881800"/>
            <a:ext cx="118080" cy="118080"/>
          </a:xfrm>
          <a:prstGeom prst="ellipse">
            <a:avLst/>
          </a:prstGeom>
          <a:solidFill>
            <a:srgbClr val="3E55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20"/>
          <p:cNvSpPr/>
          <p:nvPr/>
        </p:nvSpPr>
        <p:spPr>
          <a:xfrm>
            <a:off x="10247760" y="2906640"/>
            <a:ext cx="118080" cy="118080"/>
          </a:xfrm>
          <a:prstGeom prst="ellipse">
            <a:avLst/>
          </a:prstGeom>
          <a:solidFill>
            <a:srgbClr val="3E55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20"/>
          <p:cNvSpPr/>
          <p:nvPr/>
        </p:nvSpPr>
        <p:spPr>
          <a:xfrm>
            <a:off x="10495080" y="1815480"/>
            <a:ext cx="118080" cy="118080"/>
          </a:xfrm>
          <a:prstGeom prst="ellipse">
            <a:avLst/>
          </a:prstGeom>
          <a:solidFill>
            <a:srgbClr val="3E55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20"/>
          <p:cNvSpPr/>
          <p:nvPr/>
        </p:nvSpPr>
        <p:spPr>
          <a:xfrm>
            <a:off x="9730800" y="2578680"/>
            <a:ext cx="118080" cy="118080"/>
          </a:xfrm>
          <a:prstGeom prst="ellipse">
            <a:avLst/>
          </a:prstGeom>
          <a:solidFill>
            <a:srgbClr val="3E55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20"/>
          <p:cNvSpPr/>
          <p:nvPr/>
        </p:nvSpPr>
        <p:spPr>
          <a:xfrm>
            <a:off x="9889920" y="2766240"/>
            <a:ext cx="118080" cy="118080"/>
          </a:xfrm>
          <a:prstGeom prst="ellipse">
            <a:avLst/>
          </a:prstGeom>
          <a:solidFill>
            <a:srgbClr val="3E55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20"/>
          <p:cNvSpPr/>
          <p:nvPr/>
        </p:nvSpPr>
        <p:spPr>
          <a:xfrm>
            <a:off x="10048680" y="2463120"/>
            <a:ext cx="118080" cy="118080"/>
          </a:xfrm>
          <a:prstGeom prst="ellipse">
            <a:avLst/>
          </a:prstGeom>
          <a:solidFill>
            <a:srgbClr val="3E55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20"/>
          <p:cNvSpPr/>
          <p:nvPr/>
        </p:nvSpPr>
        <p:spPr>
          <a:xfrm>
            <a:off x="9704520" y="2603160"/>
            <a:ext cx="118080" cy="118080"/>
          </a:xfrm>
          <a:prstGeom prst="ellipse">
            <a:avLst/>
          </a:prstGeom>
          <a:solidFill>
            <a:srgbClr val="3E55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20"/>
          <p:cNvSpPr/>
          <p:nvPr/>
        </p:nvSpPr>
        <p:spPr>
          <a:xfrm>
            <a:off x="9751680" y="1995840"/>
            <a:ext cx="118080" cy="118080"/>
          </a:xfrm>
          <a:prstGeom prst="ellipse">
            <a:avLst/>
          </a:prstGeom>
          <a:solidFill>
            <a:srgbClr val="3E55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20"/>
          <p:cNvSpPr/>
          <p:nvPr/>
        </p:nvSpPr>
        <p:spPr>
          <a:xfrm>
            <a:off x="9924120" y="2124360"/>
            <a:ext cx="118080" cy="118080"/>
          </a:xfrm>
          <a:prstGeom prst="ellipse">
            <a:avLst/>
          </a:prstGeom>
          <a:solidFill>
            <a:srgbClr val="3E55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20"/>
          <p:cNvSpPr/>
          <p:nvPr/>
        </p:nvSpPr>
        <p:spPr>
          <a:xfrm>
            <a:off x="10072080" y="2906280"/>
            <a:ext cx="118080" cy="118080"/>
          </a:xfrm>
          <a:prstGeom prst="ellipse">
            <a:avLst/>
          </a:prstGeom>
          <a:solidFill>
            <a:srgbClr val="3E55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20"/>
          <p:cNvSpPr/>
          <p:nvPr/>
        </p:nvSpPr>
        <p:spPr>
          <a:xfrm>
            <a:off x="10920960" y="2269080"/>
            <a:ext cx="118080" cy="118080"/>
          </a:xfrm>
          <a:prstGeom prst="ellipse">
            <a:avLst/>
          </a:prstGeom>
          <a:solidFill>
            <a:srgbClr val="3E55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20"/>
          <p:cNvSpPr/>
          <p:nvPr/>
        </p:nvSpPr>
        <p:spPr>
          <a:xfrm>
            <a:off x="11072520" y="2143080"/>
            <a:ext cx="118080" cy="118080"/>
          </a:xfrm>
          <a:prstGeom prst="ellipse">
            <a:avLst/>
          </a:prstGeom>
          <a:solidFill>
            <a:srgbClr val="3E55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20"/>
          <p:cNvSpPr/>
          <p:nvPr/>
        </p:nvSpPr>
        <p:spPr>
          <a:xfrm>
            <a:off x="9706320" y="3393720"/>
            <a:ext cx="118080" cy="118080"/>
          </a:xfrm>
          <a:prstGeom prst="ellipse">
            <a:avLst/>
          </a:prstGeom>
          <a:solidFill>
            <a:srgbClr val="3E55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20"/>
          <p:cNvSpPr/>
          <p:nvPr/>
        </p:nvSpPr>
        <p:spPr>
          <a:xfrm>
            <a:off x="10206720" y="2158200"/>
            <a:ext cx="118080" cy="118080"/>
          </a:xfrm>
          <a:prstGeom prst="ellipse">
            <a:avLst/>
          </a:prstGeom>
          <a:solidFill>
            <a:srgbClr val="3E55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20"/>
          <p:cNvSpPr/>
          <p:nvPr/>
        </p:nvSpPr>
        <p:spPr>
          <a:xfrm>
            <a:off x="9578520" y="2624040"/>
            <a:ext cx="118080" cy="118080"/>
          </a:xfrm>
          <a:prstGeom prst="ellipse">
            <a:avLst/>
          </a:prstGeom>
          <a:solidFill>
            <a:srgbClr val="3E55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20"/>
          <p:cNvSpPr/>
          <p:nvPr/>
        </p:nvSpPr>
        <p:spPr>
          <a:xfrm>
            <a:off x="10897200" y="2619360"/>
            <a:ext cx="118080" cy="118080"/>
          </a:xfrm>
          <a:prstGeom prst="ellipse">
            <a:avLst/>
          </a:prstGeom>
          <a:solidFill>
            <a:srgbClr val="3E55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20"/>
          <p:cNvSpPr/>
          <p:nvPr/>
        </p:nvSpPr>
        <p:spPr>
          <a:xfrm>
            <a:off x="9594720" y="2896200"/>
            <a:ext cx="118080" cy="118080"/>
          </a:xfrm>
          <a:prstGeom prst="ellipse">
            <a:avLst/>
          </a:prstGeom>
          <a:solidFill>
            <a:srgbClr val="3E55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20"/>
          <p:cNvSpPr/>
          <p:nvPr/>
        </p:nvSpPr>
        <p:spPr>
          <a:xfrm>
            <a:off x="10177920" y="2454120"/>
            <a:ext cx="118080" cy="118080"/>
          </a:xfrm>
          <a:prstGeom prst="ellipse">
            <a:avLst/>
          </a:prstGeom>
          <a:solidFill>
            <a:srgbClr val="3E55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20"/>
          <p:cNvSpPr/>
          <p:nvPr/>
        </p:nvSpPr>
        <p:spPr>
          <a:xfrm>
            <a:off x="10410840" y="2935080"/>
            <a:ext cx="118080" cy="118080"/>
          </a:xfrm>
          <a:prstGeom prst="ellipse">
            <a:avLst/>
          </a:prstGeom>
          <a:solidFill>
            <a:srgbClr val="3E55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20"/>
          <p:cNvSpPr/>
          <p:nvPr/>
        </p:nvSpPr>
        <p:spPr>
          <a:xfrm>
            <a:off x="9551160" y="2922120"/>
            <a:ext cx="118080" cy="118080"/>
          </a:xfrm>
          <a:prstGeom prst="ellipse">
            <a:avLst/>
          </a:prstGeom>
          <a:solidFill>
            <a:srgbClr val="3E55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20"/>
          <p:cNvSpPr/>
          <p:nvPr/>
        </p:nvSpPr>
        <p:spPr>
          <a:xfrm>
            <a:off x="9594720" y="2896200"/>
            <a:ext cx="118080" cy="118080"/>
          </a:xfrm>
          <a:prstGeom prst="ellipse">
            <a:avLst/>
          </a:prstGeom>
          <a:solidFill>
            <a:srgbClr val="3E55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20"/>
          <p:cNvSpPr/>
          <p:nvPr/>
        </p:nvSpPr>
        <p:spPr>
          <a:xfrm>
            <a:off x="10122840" y="2470680"/>
            <a:ext cx="118080" cy="118080"/>
          </a:xfrm>
          <a:prstGeom prst="ellipse">
            <a:avLst/>
          </a:prstGeom>
          <a:solidFill>
            <a:srgbClr val="3E55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20"/>
          <p:cNvSpPr/>
          <p:nvPr/>
        </p:nvSpPr>
        <p:spPr>
          <a:xfrm>
            <a:off x="10276920" y="3246840"/>
            <a:ext cx="118080" cy="118080"/>
          </a:xfrm>
          <a:prstGeom prst="ellipse">
            <a:avLst/>
          </a:prstGeom>
          <a:solidFill>
            <a:srgbClr val="3E55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20"/>
          <p:cNvSpPr/>
          <p:nvPr/>
        </p:nvSpPr>
        <p:spPr>
          <a:xfrm>
            <a:off x="10477440" y="2778480"/>
            <a:ext cx="118080" cy="118080"/>
          </a:xfrm>
          <a:prstGeom prst="ellipse">
            <a:avLst/>
          </a:prstGeom>
          <a:solidFill>
            <a:srgbClr val="3E55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20"/>
          <p:cNvSpPr/>
          <p:nvPr/>
        </p:nvSpPr>
        <p:spPr>
          <a:xfrm>
            <a:off x="10708200" y="2575440"/>
            <a:ext cx="118080" cy="118080"/>
          </a:xfrm>
          <a:prstGeom prst="ellipse">
            <a:avLst/>
          </a:prstGeom>
          <a:solidFill>
            <a:srgbClr val="3E55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20"/>
          <p:cNvSpPr/>
          <p:nvPr/>
        </p:nvSpPr>
        <p:spPr>
          <a:xfrm>
            <a:off x="10127880" y="2311200"/>
            <a:ext cx="118080" cy="118080"/>
          </a:xfrm>
          <a:prstGeom prst="ellipse">
            <a:avLst/>
          </a:prstGeom>
          <a:solidFill>
            <a:srgbClr val="3E55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20"/>
          <p:cNvSpPr/>
          <p:nvPr/>
        </p:nvSpPr>
        <p:spPr>
          <a:xfrm>
            <a:off x="9726120" y="3401280"/>
            <a:ext cx="118080" cy="118080"/>
          </a:xfrm>
          <a:prstGeom prst="ellipse">
            <a:avLst/>
          </a:prstGeom>
          <a:solidFill>
            <a:srgbClr val="3E55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20"/>
          <p:cNvSpPr/>
          <p:nvPr/>
        </p:nvSpPr>
        <p:spPr>
          <a:xfrm>
            <a:off x="10140120" y="3555360"/>
            <a:ext cx="118080" cy="118080"/>
          </a:xfrm>
          <a:prstGeom prst="ellipse">
            <a:avLst/>
          </a:prstGeom>
          <a:solidFill>
            <a:srgbClr val="3E55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20"/>
          <p:cNvSpPr/>
          <p:nvPr/>
        </p:nvSpPr>
        <p:spPr>
          <a:xfrm>
            <a:off x="10466280" y="2107800"/>
            <a:ext cx="118080" cy="118080"/>
          </a:xfrm>
          <a:prstGeom prst="ellipse">
            <a:avLst/>
          </a:prstGeom>
          <a:solidFill>
            <a:srgbClr val="3E55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20"/>
          <p:cNvSpPr/>
          <p:nvPr/>
        </p:nvSpPr>
        <p:spPr>
          <a:xfrm>
            <a:off x="10145160" y="1961280"/>
            <a:ext cx="118080" cy="118080"/>
          </a:xfrm>
          <a:prstGeom prst="ellipse">
            <a:avLst/>
          </a:prstGeom>
          <a:solidFill>
            <a:srgbClr val="3E55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20"/>
          <p:cNvSpPr/>
          <p:nvPr/>
        </p:nvSpPr>
        <p:spPr>
          <a:xfrm>
            <a:off x="10072080" y="2906280"/>
            <a:ext cx="118080" cy="118080"/>
          </a:xfrm>
          <a:prstGeom prst="ellipse">
            <a:avLst/>
          </a:prstGeom>
          <a:solidFill>
            <a:srgbClr val="3E55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20"/>
          <p:cNvSpPr/>
          <p:nvPr/>
        </p:nvSpPr>
        <p:spPr>
          <a:xfrm>
            <a:off x="9551160" y="2922120"/>
            <a:ext cx="118080" cy="118080"/>
          </a:xfrm>
          <a:prstGeom prst="ellipse">
            <a:avLst/>
          </a:prstGeom>
          <a:solidFill>
            <a:srgbClr val="3E55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20"/>
          <p:cNvSpPr/>
          <p:nvPr/>
        </p:nvSpPr>
        <p:spPr>
          <a:xfrm>
            <a:off x="9959040" y="2438640"/>
            <a:ext cx="118080" cy="118080"/>
          </a:xfrm>
          <a:prstGeom prst="ellipse">
            <a:avLst/>
          </a:prstGeom>
          <a:solidFill>
            <a:srgbClr val="3E55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20"/>
          <p:cNvSpPr/>
          <p:nvPr/>
        </p:nvSpPr>
        <p:spPr>
          <a:xfrm>
            <a:off x="10145160" y="1961280"/>
            <a:ext cx="118080" cy="118080"/>
          </a:xfrm>
          <a:prstGeom prst="ellipse">
            <a:avLst/>
          </a:prstGeom>
          <a:solidFill>
            <a:srgbClr val="3E55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20"/>
          <p:cNvSpPr/>
          <p:nvPr/>
        </p:nvSpPr>
        <p:spPr>
          <a:xfrm>
            <a:off x="9767160" y="2160720"/>
            <a:ext cx="118080" cy="118080"/>
          </a:xfrm>
          <a:prstGeom prst="ellipse">
            <a:avLst/>
          </a:prstGeom>
          <a:solidFill>
            <a:srgbClr val="3E55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20"/>
          <p:cNvSpPr/>
          <p:nvPr/>
        </p:nvSpPr>
        <p:spPr>
          <a:xfrm>
            <a:off x="9761040" y="2726640"/>
            <a:ext cx="118080" cy="118080"/>
          </a:xfrm>
          <a:prstGeom prst="ellipse">
            <a:avLst/>
          </a:prstGeom>
          <a:solidFill>
            <a:srgbClr val="3E55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20"/>
          <p:cNvSpPr/>
          <p:nvPr/>
        </p:nvSpPr>
        <p:spPr>
          <a:xfrm>
            <a:off x="10336320" y="2134800"/>
            <a:ext cx="118080" cy="118080"/>
          </a:xfrm>
          <a:prstGeom prst="ellipse">
            <a:avLst/>
          </a:prstGeom>
          <a:solidFill>
            <a:srgbClr val="3E55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20"/>
          <p:cNvSpPr/>
          <p:nvPr/>
        </p:nvSpPr>
        <p:spPr>
          <a:xfrm>
            <a:off x="10218240" y="1810080"/>
            <a:ext cx="118080" cy="118080"/>
          </a:xfrm>
          <a:prstGeom prst="ellipse">
            <a:avLst/>
          </a:prstGeom>
          <a:solidFill>
            <a:srgbClr val="3E55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20"/>
          <p:cNvSpPr/>
          <p:nvPr/>
        </p:nvSpPr>
        <p:spPr>
          <a:xfrm>
            <a:off x="9803520" y="2149920"/>
            <a:ext cx="118080" cy="118080"/>
          </a:xfrm>
          <a:prstGeom prst="ellipse">
            <a:avLst/>
          </a:prstGeom>
          <a:solidFill>
            <a:srgbClr val="3E55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20"/>
          <p:cNvSpPr/>
          <p:nvPr/>
        </p:nvSpPr>
        <p:spPr>
          <a:xfrm>
            <a:off x="9662400" y="2737440"/>
            <a:ext cx="118080" cy="118080"/>
          </a:xfrm>
          <a:prstGeom prst="ellipse">
            <a:avLst/>
          </a:prstGeom>
          <a:solidFill>
            <a:srgbClr val="3E55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20"/>
          <p:cNvSpPr/>
          <p:nvPr/>
        </p:nvSpPr>
        <p:spPr>
          <a:xfrm>
            <a:off x="9839880" y="2572200"/>
            <a:ext cx="118080" cy="118080"/>
          </a:xfrm>
          <a:prstGeom prst="ellipse">
            <a:avLst/>
          </a:prstGeom>
          <a:solidFill>
            <a:srgbClr val="3E55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20"/>
          <p:cNvSpPr/>
          <p:nvPr/>
        </p:nvSpPr>
        <p:spPr>
          <a:xfrm>
            <a:off x="9944280" y="2107080"/>
            <a:ext cx="118080" cy="118080"/>
          </a:xfrm>
          <a:prstGeom prst="ellipse">
            <a:avLst/>
          </a:prstGeom>
          <a:solidFill>
            <a:srgbClr val="3E55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20"/>
          <p:cNvSpPr/>
          <p:nvPr/>
        </p:nvSpPr>
        <p:spPr>
          <a:xfrm>
            <a:off x="9758160" y="2891520"/>
            <a:ext cx="118080" cy="118080"/>
          </a:xfrm>
          <a:prstGeom prst="ellipse">
            <a:avLst/>
          </a:prstGeom>
          <a:solidFill>
            <a:srgbClr val="3E5563">
              <a:alpha val="85098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8875" lIns="59025" spcFirstLastPara="1" rIns="59025" wrap="square" tIns="3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20"/>
          <p:cNvSpPr/>
          <p:nvPr/>
        </p:nvSpPr>
        <p:spPr>
          <a:xfrm>
            <a:off x="9496800" y="2922120"/>
            <a:ext cx="335880" cy="712800"/>
          </a:xfrm>
          <a:prstGeom prst="ellipse">
            <a:avLst/>
          </a:prstGeom>
          <a:solidFill>
            <a:srgbClr val="D1495B">
              <a:alpha val="12157"/>
            </a:srgbClr>
          </a:solidFill>
          <a:ln cap="flat" cmpd="sng" w="19050">
            <a:solidFill>
              <a:srgbClr val="D1495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20"/>
          <p:cNvSpPr/>
          <p:nvPr/>
        </p:nvSpPr>
        <p:spPr>
          <a:xfrm>
            <a:off x="9573840" y="3187440"/>
            <a:ext cx="182160" cy="182160"/>
          </a:xfrm>
          <a:prstGeom prst="ellipse">
            <a:avLst/>
          </a:prstGeom>
          <a:solidFill>
            <a:srgbClr val="D1495B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0" name="Google Shape;490;p20"/>
          <p:cNvCxnSpPr/>
          <p:nvPr/>
        </p:nvCxnSpPr>
        <p:spPr>
          <a:xfrm>
            <a:off x="8201880" y="2318400"/>
            <a:ext cx="1325880" cy="777240"/>
          </a:xfrm>
          <a:prstGeom prst="straightConnector1">
            <a:avLst/>
          </a:prstGeom>
          <a:noFill/>
          <a:ln cap="flat" cmpd="sng" w="15875">
            <a:solidFill>
              <a:srgbClr val="D1495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91" name="Google Shape;491;p20"/>
          <p:cNvSpPr/>
          <p:nvPr/>
        </p:nvSpPr>
        <p:spPr>
          <a:xfrm>
            <a:off x="6922080" y="2044440"/>
            <a:ext cx="173664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D1495B"/>
                </a:solidFill>
                <a:latin typeface="Calibri"/>
                <a:ea typeface="Calibri"/>
                <a:cs typeface="Calibri"/>
                <a:sym typeface="Calibri"/>
              </a:rPr>
              <a:t>k = 5 vecinos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20"/>
          <p:cNvSpPr/>
          <p:nvPr/>
        </p:nvSpPr>
        <p:spPr>
          <a:xfrm>
            <a:off x="6446520" y="1398960"/>
            <a:ext cx="502848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strike="noStrike">
                <a:solidFill>
                  <a:srgbClr val="5A6B75"/>
                </a:solidFill>
                <a:latin typeface="Calibri"/>
                <a:ea typeface="Calibri"/>
                <a:cs typeface="Calibri"/>
                <a:sym typeface="Calibri"/>
              </a:rPr>
              <a:t>Datos reales: las 150 flores del conjunto Iris</a:t>
            </a:r>
            <a:endParaRPr b="0" sz="10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1"/>
          <p:cNvSpPr/>
          <p:nvPr/>
        </p:nvSpPr>
        <p:spPr>
          <a:xfrm>
            <a:off x="567000" y="384120"/>
            <a:ext cx="1105452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EL ALGORITMO K-NN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21"/>
          <p:cNvSpPr/>
          <p:nvPr/>
        </p:nvSpPr>
        <p:spPr>
          <a:xfrm>
            <a:off x="567000" y="658440"/>
            <a:ext cx="11054520" cy="639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 strike="noStrike">
                <a:solidFill>
                  <a:srgbClr val="17262E"/>
                </a:solidFill>
                <a:latin typeface="Cambria"/>
                <a:ea typeface="Cambria"/>
                <a:cs typeface="Cambria"/>
                <a:sym typeface="Cambria"/>
              </a:rPr>
              <a:t>Cuatro pasos para cada muestra nueva</a:t>
            </a:r>
            <a:endParaRPr b="0" sz="3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21"/>
          <p:cNvSpPr/>
          <p:nvPr/>
        </p:nvSpPr>
        <p:spPr>
          <a:xfrm>
            <a:off x="567000" y="1371600"/>
            <a:ext cx="11054520" cy="36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 u="none" strike="noStrike">
                <a:solidFill>
                  <a:srgbClr val="5A6B75"/>
                </a:solidFill>
                <a:latin typeface="Calibri"/>
                <a:ea typeface="Calibri"/>
                <a:cs typeface="Calibri"/>
                <a:sym typeface="Calibri"/>
              </a:rPr>
              <a:t>No hay ecuación que ajustar: la "inteligencia" está en las propias muestras conocidas.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21"/>
          <p:cNvSpPr/>
          <p:nvPr/>
        </p:nvSpPr>
        <p:spPr>
          <a:xfrm>
            <a:off x="567000" y="1874520"/>
            <a:ext cx="2543760" cy="2010960"/>
          </a:xfrm>
          <a:prstGeom prst="roundRect">
            <a:avLst>
              <a:gd fmla="val 2727" name="adj"/>
            </a:avLst>
          </a:prstGeom>
          <a:solidFill>
            <a:srgbClr val="EDF3F3"/>
          </a:solidFill>
          <a:ln cap="flat" cmpd="sng" w="12700">
            <a:solidFill>
              <a:srgbClr val="E1E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21"/>
          <p:cNvSpPr/>
          <p:nvPr/>
        </p:nvSpPr>
        <p:spPr>
          <a:xfrm>
            <a:off x="822960" y="2112120"/>
            <a:ext cx="419760" cy="419760"/>
          </a:xfrm>
          <a:prstGeom prst="ellipse">
            <a:avLst/>
          </a:prstGeom>
          <a:solidFill>
            <a:srgbClr val="0E7C7B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21"/>
          <p:cNvSpPr/>
          <p:nvPr/>
        </p:nvSpPr>
        <p:spPr>
          <a:xfrm>
            <a:off x="822960" y="2112120"/>
            <a:ext cx="419760" cy="41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21"/>
          <p:cNvSpPr/>
          <p:nvPr/>
        </p:nvSpPr>
        <p:spPr>
          <a:xfrm>
            <a:off x="1353240" y="2130480"/>
            <a:ext cx="1537920" cy="410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Medir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21"/>
          <p:cNvSpPr/>
          <p:nvPr/>
        </p:nvSpPr>
        <p:spPr>
          <a:xfrm>
            <a:off x="841320" y="2651760"/>
            <a:ext cx="1995120" cy="1050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 u="none" strike="noStrike">
                <a:solidFill>
                  <a:srgbClr val="5A6B75"/>
                </a:solidFill>
                <a:latin typeface="Calibri"/>
                <a:ea typeface="Calibri"/>
                <a:cs typeface="Calibri"/>
                <a:sym typeface="Calibri"/>
              </a:rPr>
              <a:t>Calcula la distancia de la muestra nueva a cada una de las muestras de entrenamiento.</a:t>
            </a:r>
            <a:endParaRPr b="0" sz="13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21"/>
          <p:cNvSpPr/>
          <p:nvPr/>
        </p:nvSpPr>
        <p:spPr>
          <a:xfrm>
            <a:off x="3403800" y="1874520"/>
            <a:ext cx="2543760" cy="2010960"/>
          </a:xfrm>
          <a:prstGeom prst="roundRect">
            <a:avLst>
              <a:gd fmla="val 2727" name="adj"/>
            </a:avLst>
          </a:prstGeom>
          <a:solidFill>
            <a:srgbClr val="EDF3F3"/>
          </a:solidFill>
          <a:ln cap="flat" cmpd="sng" w="12700">
            <a:solidFill>
              <a:srgbClr val="E1E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21"/>
          <p:cNvSpPr/>
          <p:nvPr/>
        </p:nvSpPr>
        <p:spPr>
          <a:xfrm>
            <a:off x="3659760" y="2112120"/>
            <a:ext cx="419760" cy="419760"/>
          </a:xfrm>
          <a:prstGeom prst="ellipse">
            <a:avLst/>
          </a:prstGeom>
          <a:solidFill>
            <a:srgbClr val="0E7C7B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21"/>
          <p:cNvSpPr/>
          <p:nvPr/>
        </p:nvSpPr>
        <p:spPr>
          <a:xfrm>
            <a:off x="3659760" y="2112120"/>
            <a:ext cx="419760" cy="41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21"/>
          <p:cNvSpPr/>
          <p:nvPr/>
        </p:nvSpPr>
        <p:spPr>
          <a:xfrm>
            <a:off x="4190400" y="2130480"/>
            <a:ext cx="1537920" cy="410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Ordenar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21"/>
          <p:cNvSpPr/>
          <p:nvPr/>
        </p:nvSpPr>
        <p:spPr>
          <a:xfrm>
            <a:off x="3678120" y="2651760"/>
            <a:ext cx="1995120" cy="1050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 u="none" strike="noStrike">
                <a:solidFill>
                  <a:srgbClr val="5A6B75"/>
                </a:solidFill>
                <a:latin typeface="Calibri"/>
                <a:ea typeface="Calibri"/>
                <a:cs typeface="Calibri"/>
                <a:sym typeface="Calibri"/>
              </a:rPr>
              <a:t>Ordena las muestras de entrenamiento de la más cercana a la más lejana.</a:t>
            </a:r>
            <a:endParaRPr b="0" sz="13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21"/>
          <p:cNvSpPr/>
          <p:nvPr/>
        </p:nvSpPr>
        <p:spPr>
          <a:xfrm>
            <a:off x="6240960" y="1874520"/>
            <a:ext cx="2543760" cy="2010960"/>
          </a:xfrm>
          <a:prstGeom prst="roundRect">
            <a:avLst>
              <a:gd fmla="val 2727" name="adj"/>
            </a:avLst>
          </a:prstGeom>
          <a:solidFill>
            <a:srgbClr val="EDF3F3"/>
          </a:solidFill>
          <a:ln cap="flat" cmpd="sng" w="12700">
            <a:solidFill>
              <a:srgbClr val="E1E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21"/>
          <p:cNvSpPr/>
          <p:nvPr/>
        </p:nvSpPr>
        <p:spPr>
          <a:xfrm>
            <a:off x="6496920" y="2112120"/>
            <a:ext cx="419760" cy="419760"/>
          </a:xfrm>
          <a:prstGeom prst="ellipse">
            <a:avLst/>
          </a:prstGeom>
          <a:solidFill>
            <a:srgbClr val="0E7C7B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21"/>
          <p:cNvSpPr/>
          <p:nvPr/>
        </p:nvSpPr>
        <p:spPr>
          <a:xfrm>
            <a:off x="6496920" y="2112120"/>
            <a:ext cx="419760" cy="41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21"/>
          <p:cNvSpPr/>
          <p:nvPr/>
        </p:nvSpPr>
        <p:spPr>
          <a:xfrm>
            <a:off x="7027200" y="2130480"/>
            <a:ext cx="1537920" cy="410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Seleccionar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21"/>
          <p:cNvSpPr/>
          <p:nvPr/>
        </p:nvSpPr>
        <p:spPr>
          <a:xfrm>
            <a:off x="6515280" y="2651760"/>
            <a:ext cx="1995120" cy="1050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 u="none" strike="noStrike">
                <a:solidFill>
                  <a:srgbClr val="5A6B75"/>
                </a:solidFill>
                <a:latin typeface="Calibri"/>
                <a:ea typeface="Calibri"/>
                <a:cs typeface="Calibri"/>
                <a:sym typeface="Calibri"/>
              </a:rPr>
              <a:t>Quédate con las k primeras: son sus k vecinos más cercanos.</a:t>
            </a:r>
            <a:endParaRPr b="0" sz="13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21"/>
          <p:cNvSpPr/>
          <p:nvPr/>
        </p:nvSpPr>
        <p:spPr>
          <a:xfrm>
            <a:off x="9077760" y="1874520"/>
            <a:ext cx="2543760" cy="2010960"/>
          </a:xfrm>
          <a:prstGeom prst="roundRect">
            <a:avLst>
              <a:gd fmla="val 2727" name="adj"/>
            </a:avLst>
          </a:prstGeom>
          <a:solidFill>
            <a:srgbClr val="EDF3F3"/>
          </a:solidFill>
          <a:ln cap="flat" cmpd="sng" w="12700">
            <a:solidFill>
              <a:srgbClr val="E1E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21"/>
          <p:cNvSpPr/>
          <p:nvPr/>
        </p:nvSpPr>
        <p:spPr>
          <a:xfrm>
            <a:off x="9333720" y="2112120"/>
            <a:ext cx="419760" cy="419760"/>
          </a:xfrm>
          <a:prstGeom prst="ellipse">
            <a:avLst/>
          </a:prstGeom>
          <a:solidFill>
            <a:srgbClr val="0E7C7B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21"/>
          <p:cNvSpPr/>
          <p:nvPr/>
        </p:nvSpPr>
        <p:spPr>
          <a:xfrm>
            <a:off x="9333720" y="2112120"/>
            <a:ext cx="419760" cy="41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21"/>
          <p:cNvSpPr/>
          <p:nvPr/>
        </p:nvSpPr>
        <p:spPr>
          <a:xfrm>
            <a:off x="9864000" y="2130480"/>
            <a:ext cx="1537920" cy="410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Votar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21"/>
          <p:cNvSpPr/>
          <p:nvPr/>
        </p:nvSpPr>
        <p:spPr>
          <a:xfrm>
            <a:off x="9352080" y="2651760"/>
            <a:ext cx="1995120" cy="1050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 u="none" strike="noStrike">
                <a:solidFill>
                  <a:srgbClr val="5A6B75"/>
                </a:solidFill>
                <a:latin typeface="Calibri"/>
                <a:ea typeface="Calibri"/>
                <a:cs typeface="Calibri"/>
                <a:sym typeface="Calibri"/>
              </a:rPr>
              <a:t>La clase más repetida entre esos k vecinos es la predicción.</a:t>
            </a:r>
            <a:endParaRPr b="0" sz="13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22"/>
          <p:cNvSpPr/>
          <p:nvPr/>
        </p:nvSpPr>
        <p:spPr>
          <a:xfrm>
            <a:off x="567000" y="384120"/>
            <a:ext cx="1105452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PASO 1 · MEDIR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22"/>
          <p:cNvSpPr/>
          <p:nvPr/>
        </p:nvSpPr>
        <p:spPr>
          <a:xfrm>
            <a:off x="567000" y="658440"/>
            <a:ext cx="11054520" cy="639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 strike="noStrike">
                <a:solidFill>
                  <a:srgbClr val="17262E"/>
                </a:solidFill>
                <a:latin typeface="Cambria"/>
                <a:ea typeface="Cambria"/>
                <a:cs typeface="Cambria"/>
                <a:sym typeface="Cambria"/>
              </a:rPr>
              <a:t>La distancia euclídea</a:t>
            </a:r>
            <a:endParaRPr b="0" sz="3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22"/>
          <p:cNvSpPr/>
          <p:nvPr/>
        </p:nvSpPr>
        <p:spPr>
          <a:xfrm>
            <a:off x="567000" y="1444680"/>
            <a:ext cx="5028480" cy="7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 u="none" strike="noStrike">
                <a:solidFill>
                  <a:srgbClr val="5A6B75"/>
                </a:solidFill>
                <a:latin typeface="Calibri"/>
                <a:ea typeface="Calibri"/>
                <a:cs typeface="Calibri"/>
                <a:sym typeface="Calibri"/>
              </a:rPr>
              <a:t>El teorema de Pitágoras, generalizado a tantas dimensiones como medidas.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22"/>
          <p:cNvSpPr/>
          <p:nvPr/>
        </p:nvSpPr>
        <p:spPr>
          <a:xfrm>
            <a:off x="567000" y="2221920"/>
            <a:ext cx="5028480" cy="3976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3080" lvl="0" marL="34308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262E"/>
              </a:buClr>
              <a:buSzPts val="1500"/>
              <a:buFont typeface="Noto Sans Symbols"/>
              <a:buChar char="●"/>
            </a:pPr>
            <a:r>
              <a:rPr b="0" lang="en-US" sz="15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d(a, b) = √( (a₁ − b₁)² + (a₂ − b₂)² + … + (a_d − b_d)² )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15000"/>
              </a:lnSpc>
              <a:spcBef>
                <a:spcPts val="901"/>
              </a:spcBef>
              <a:spcAft>
                <a:spcPts val="0"/>
              </a:spcAft>
              <a:buClr>
                <a:srgbClr val="17262E"/>
              </a:buClr>
              <a:buSzPts val="1500"/>
              <a:buFont typeface="Noto Sans Symbols"/>
              <a:buChar char="●"/>
            </a:pPr>
            <a:r>
              <a:rPr b="0" lang="en-US" sz="15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En 2D es la longitud del segmento que une los dos puntos.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15000"/>
              </a:lnSpc>
              <a:spcBef>
                <a:spcPts val="901"/>
              </a:spcBef>
              <a:spcAft>
                <a:spcPts val="0"/>
              </a:spcAft>
              <a:buClr>
                <a:srgbClr val="17262E"/>
              </a:buClr>
              <a:buSzPts val="1500"/>
              <a:buFont typeface="Noto Sans Symbols"/>
              <a:buChar char="●"/>
            </a:pPr>
            <a:r>
              <a:rPr b="0" lang="en-US" sz="15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Con las 4 medidas del Iris es igual: 4 restas en lugar de 2.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15000"/>
              </a:lnSpc>
              <a:spcBef>
                <a:spcPts val="901"/>
              </a:spcBef>
              <a:spcAft>
                <a:spcPts val="0"/>
              </a:spcAft>
              <a:buClr>
                <a:srgbClr val="17262E"/>
              </a:buClr>
              <a:buSzPts val="1500"/>
              <a:buFont typeface="Noto Sans Symbols"/>
              <a:buChar char="●"/>
            </a:pPr>
            <a:r>
              <a:rPr b="0" lang="en-US" sz="15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Alternativa: distancia Manhattan, Σ |aᵢ − bᵢ| (ampliación del proyecto).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22"/>
          <p:cNvSpPr/>
          <p:nvPr/>
        </p:nvSpPr>
        <p:spPr>
          <a:xfrm>
            <a:off x="5943600" y="1444680"/>
            <a:ext cx="5668560" cy="3357360"/>
          </a:xfrm>
          <a:prstGeom prst="roundRect">
            <a:avLst>
              <a:gd fmla="val 2178" name="adj"/>
            </a:avLst>
          </a:prstGeom>
          <a:solidFill>
            <a:srgbClr val="10202B"/>
          </a:solidFill>
          <a:ln cap="flat" cmpd="sng" w="12700">
            <a:solidFill>
              <a:srgbClr val="102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22"/>
          <p:cNvSpPr/>
          <p:nvPr/>
        </p:nvSpPr>
        <p:spPr>
          <a:xfrm>
            <a:off x="6144840" y="1618560"/>
            <a:ext cx="95400" cy="95400"/>
          </a:xfrm>
          <a:prstGeom prst="ellipse">
            <a:avLst/>
          </a:prstGeom>
          <a:solidFill>
            <a:srgbClr val="E4B363"/>
          </a:solidFill>
          <a:ln cap="flat" cmpd="sng" w="12700">
            <a:solidFill>
              <a:srgbClr val="E4B3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875" spcFirstLastPara="1" rIns="47875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22"/>
          <p:cNvSpPr/>
          <p:nvPr/>
        </p:nvSpPr>
        <p:spPr>
          <a:xfrm>
            <a:off x="6346080" y="1618560"/>
            <a:ext cx="95400" cy="95400"/>
          </a:xfrm>
          <a:prstGeom prst="ellipse">
            <a:avLst/>
          </a:prstGeom>
          <a:solidFill>
            <a:srgbClr val="17BEBB"/>
          </a:solidFill>
          <a:ln cap="flat" cmpd="sng" w="12700">
            <a:solidFill>
              <a:srgbClr val="17BE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875" spcFirstLastPara="1" rIns="47875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22"/>
          <p:cNvSpPr/>
          <p:nvPr/>
        </p:nvSpPr>
        <p:spPr>
          <a:xfrm>
            <a:off x="6546960" y="1618560"/>
            <a:ext cx="95400" cy="95400"/>
          </a:xfrm>
          <a:prstGeom prst="ellipse">
            <a:avLst/>
          </a:prstGeom>
          <a:solidFill>
            <a:srgbClr val="3E5563"/>
          </a:solidFill>
          <a:ln cap="flat" cmpd="sng" w="12700">
            <a:solidFill>
              <a:srgbClr val="3E5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875" spcFirstLastPara="1" rIns="47875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22"/>
          <p:cNvSpPr/>
          <p:nvPr/>
        </p:nvSpPr>
        <p:spPr>
          <a:xfrm>
            <a:off x="6812280" y="1545480"/>
            <a:ext cx="4571280" cy="227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E8390"/>
                </a:solidFill>
                <a:latin typeface="Courier New"/>
                <a:ea typeface="Courier New"/>
                <a:cs typeface="Courier New"/>
                <a:sym typeface="Courier New"/>
              </a:rPr>
              <a:t>distancia.py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22"/>
          <p:cNvSpPr/>
          <p:nvPr/>
        </p:nvSpPr>
        <p:spPr>
          <a:xfrm>
            <a:off x="6126480" y="1856160"/>
            <a:ext cx="5348520" cy="285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a = [</a:t>
            </a:r>
            <a:r>
              <a:rPr b="0" lang="en-US" sz="11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4.8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1.7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       </a:t>
            </a:r>
            <a:r>
              <a:rPr b="0" lang="en-US" sz="11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flor nueva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b = [</a:t>
            </a:r>
            <a:r>
              <a:rPr b="0" lang="en-US" sz="11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4.7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1.4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       </a:t>
            </a:r>
            <a:r>
              <a:rPr b="0" lang="en-US" sz="11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flor conocida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paso a paso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dif  = [x - y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x, y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lang="en-US" sz="110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zip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(a, b)]   </a:t>
            </a:r>
            <a:r>
              <a:rPr b="0" lang="en-US" sz="11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[0.1, 0.3]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cuad = [d ** </a:t>
            </a:r>
            <a:r>
              <a:rPr b="0" lang="en-US" sz="11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d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dif]           </a:t>
            </a:r>
            <a:r>
              <a:rPr b="0" lang="en-US" sz="11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[0.01, 0.09]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dist = </a:t>
            </a:r>
            <a:r>
              <a:rPr b="0" lang="en-US" sz="110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(cuad) ** </a:t>
            </a:r>
            <a:r>
              <a:rPr b="0" lang="en-US" sz="11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0.5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</a:t>
            </a:r>
            <a:r>
              <a:rPr b="0" lang="en-US" sz="11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0.316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en una función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distancia(a, b):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lang="en-US" sz="110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((x - y) ** </a:t>
            </a:r>
            <a:r>
              <a:rPr b="0" lang="en-US" sz="11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x, y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lang="en-US" sz="110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zip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(a, b)) ** </a:t>
            </a:r>
            <a:r>
              <a:rPr b="0" lang="en-US" sz="11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0.5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math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math.dist(a, b)                        </a:t>
            </a:r>
            <a:r>
              <a:rPr b="0" lang="en-US" sz="11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0.316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23"/>
          <p:cNvSpPr/>
          <p:nvPr/>
        </p:nvSpPr>
        <p:spPr>
          <a:xfrm>
            <a:off x="567000" y="384120"/>
            <a:ext cx="1105452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EJEMPLO RESUELTO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23"/>
          <p:cNvSpPr/>
          <p:nvPr/>
        </p:nvSpPr>
        <p:spPr>
          <a:xfrm>
            <a:off x="567000" y="658440"/>
            <a:ext cx="11054520" cy="639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 strike="noStrike">
                <a:solidFill>
                  <a:srgbClr val="17262E"/>
                </a:solidFill>
                <a:latin typeface="Cambria"/>
                <a:ea typeface="Cambria"/>
                <a:cs typeface="Cambria"/>
                <a:sym typeface="Cambria"/>
              </a:rPr>
              <a:t>Clasificar a mano la flor (4.8, 1.7)</a:t>
            </a:r>
            <a:endParaRPr b="0" sz="3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23"/>
          <p:cNvSpPr/>
          <p:nvPr/>
        </p:nvSpPr>
        <p:spPr>
          <a:xfrm>
            <a:off x="567000" y="1371600"/>
            <a:ext cx="11054520" cy="36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 u="none" strike="noStrike">
                <a:solidFill>
                  <a:srgbClr val="5A6B75"/>
                </a:solidFill>
                <a:latin typeface="Calibri"/>
                <a:ea typeface="Calibri"/>
                <a:cs typeface="Calibri"/>
                <a:sym typeface="Calibri"/>
              </a:rPr>
              <a:t>Seis flores de entrenamiento, ya ordenadas por distancia a la flor nueva.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44" name="Google Shape;544;p23"/>
          <p:cNvGraphicFramePr/>
          <p:nvPr/>
        </p:nvGraphicFramePr>
        <p:xfrm>
          <a:off x="567000" y="1874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{1F292CDA-5254-4C19-B225-4A7F84EEFDC2}</a:tableStyleId>
              </a:tblPr>
              <a:tblGrid>
                <a:gridCol w="1737350"/>
                <a:gridCol w="1737350"/>
                <a:gridCol w="4297675"/>
                <a:gridCol w="1463050"/>
                <a:gridCol w="1819450"/>
              </a:tblGrid>
              <a:tr h="383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Flor conocida</a:t>
                      </a:r>
                      <a:endParaRPr b="0" sz="14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75" marB="73075" marR="73075" marL="73075" anchor="ctr">
                    <a:lnL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Clase</a:t>
                      </a:r>
                      <a:endParaRPr b="0" sz="14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75" marB="73075" marR="73075" marL="73075" anchor="ctr">
                    <a:lnL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Cálculo</a:t>
                      </a:r>
                      <a:endParaRPr b="0" sz="14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75" marB="73075" marR="73075" marL="73075" anchor="ctr">
                    <a:lnL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Distancia</a:t>
                      </a:r>
                      <a:endParaRPr b="0" sz="14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75" marB="73075" marR="73075" marL="73075" anchor="ctr">
                    <a:lnL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Puesto</a:t>
                      </a:r>
                      <a:endParaRPr b="0" sz="14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75" marB="73075" marR="73075" marL="73075" anchor="ctr">
                    <a:lnL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7B"/>
                    </a:solidFill>
                  </a:tcPr>
                </a:tc>
              </a:tr>
              <a:tr h="383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7262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(4.7, 1.4)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75" marB="73075" marR="73075" marL="73075" anchor="ctr">
                    <a:lnL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7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versicolor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75" marB="73075" marR="73075" marL="73075" anchor="ctr">
                    <a:lnL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7262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√(0.1² + 0.3²)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75" marB="73075" marR="73075" marL="73075" anchor="ctr">
                    <a:lnL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7262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0.32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75" marB="73075" marR="73075" marL="73075" anchor="ctr">
                    <a:lnL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7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1.º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75" marB="73075" marR="73075" marL="73075" anchor="ctr">
                    <a:lnL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3F3"/>
                    </a:solidFill>
                  </a:tcPr>
                </a:tc>
              </a:tr>
              <a:tr h="383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7262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(4.5, 1.5)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75" marB="73075" marR="73075" marL="73075" anchor="ctr">
                    <a:lnL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7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versicolor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75" marB="73075" marR="73075" marL="73075" anchor="ctr">
                    <a:lnL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7262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√(0.3² + 0.2²)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75" marB="73075" marR="73075" marL="73075" anchor="ctr">
                    <a:lnL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7262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0.36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75" marB="73075" marR="73075" marL="73075" anchor="ctr">
                    <a:lnL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7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2.º (empate)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75" marB="73075" marR="73075" marL="73075" anchor="ctr">
                    <a:lnL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3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7262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(5.1, 1.9)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75" marB="73075" marR="73075" marL="73075" anchor="ctr">
                    <a:lnL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7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virginica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75" marB="73075" marR="73075" marL="73075" anchor="ctr">
                    <a:lnL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7262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√(0.3² + 0.2²)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75" marB="73075" marR="73075" marL="73075" anchor="ctr">
                    <a:lnL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7262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0.36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75" marB="73075" marR="73075" marL="73075" anchor="ctr">
                    <a:lnL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7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2.º (empate)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75" marB="73075" marR="73075" marL="73075" anchor="ctr">
                    <a:lnL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3F3"/>
                    </a:solidFill>
                  </a:tcPr>
                </a:tc>
              </a:tr>
              <a:tr h="383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7262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(5.6, 2.4)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75" marB="73075" marR="73075" marL="73075" anchor="ctr">
                    <a:lnL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7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virginica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75" marB="73075" marR="73075" marL="73075" anchor="ctr">
                    <a:lnL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7262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√(0.8² + 0.7²)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75" marB="73075" marR="73075" marL="73075" anchor="ctr">
                    <a:lnL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7262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1.06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75" marB="73075" marR="73075" marL="73075" anchor="ctr">
                    <a:lnL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7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4.º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75" marB="73075" marR="73075" marL="73075" anchor="ctr">
                    <a:lnL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3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7262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(1.7, 0.4)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75" marB="73075" marR="73075" marL="73075" anchor="ctr">
                    <a:lnL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7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setosa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75" marB="73075" marR="73075" marL="73075" anchor="ctr">
                    <a:lnL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7262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√(3.1² + 1.3²)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75" marB="73075" marR="73075" marL="73075" anchor="ctr">
                    <a:lnL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7262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3.36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75" marB="73075" marR="73075" marL="73075" anchor="ctr">
                    <a:lnL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7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5.º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75" marB="73075" marR="73075" marL="73075" anchor="ctr">
                    <a:lnL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3F3"/>
                    </a:solidFill>
                  </a:tcPr>
                </a:tc>
              </a:tr>
              <a:tr h="383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7262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(1.4, 0.2)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75" marB="73075" marR="73075" marL="73075" anchor="ctr">
                    <a:lnL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7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setosa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75" marB="73075" marR="73075" marL="73075" anchor="ctr">
                    <a:lnL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7262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√(3.4² + 1.5²)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75" marB="73075" marR="73075" marL="73075" anchor="ctr">
                    <a:lnL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7262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3.72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75" marB="73075" marR="73075" marL="73075" anchor="ctr">
                    <a:lnL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7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6.º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75" marB="73075" marR="73075" marL="73075" anchor="ctr">
                    <a:lnL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45" name="Google Shape;545;p23"/>
          <p:cNvSpPr/>
          <p:nvPr/>
        </p:nvSpPr>
        <p:spPr>
          <a:xfrm>
            <a:off x="567000" y="4754880"/>
            <a:ext cx="3501360" cy="1142280"/>
          </a:xfrm>
          <a:prstGeom prst="roundRect">
            <a:avLst>
              <a:gd fmla="val 4800" name="adj"/>
            </a:avLst>
          </a:prstGeom>
          <a:solidFill>
            <a:srgbClr val="EDF3F3"/>
          </a:solidFill>
          <a:ln cap="flat" cmpd="sng" w="12700">
            <a:solidFill>
              <a:srgbClr val="E1E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23"/>
          <p:cNvSpPr/>
          <p:nvPr/>
        </p:nvSpPr>
        <p:spPr>
          <a:xfrm>
            <a:off x="795600" y="4864680"/>
            <a:ext cx="3044160" cy="319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0E7C7B"/>
                </a:solidFill>
                <a:latin typeface="Courier New"/>
                <a:ea typeface="Courier New"/>
                <a:cs typeface="Courier New"/>
                <a:sym typeface="Courier New"/>
              </a:rPr>
              <a:t>k = 1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23"/>
          <p:cNvSpPr/>
          <p:nvPr/>
        </p:nvSpPr>
        <p:spPr>
          <a:xfrm>
            <a:off x="795600" y="5184720"/>
            <a:ext cx="304416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A6B75"/>
                </a:solidFill>
                <a:latin typeface="Calibri"/>
                <a:ea typeface="Calibri"/>
                <a:cs typeface="Calibri"/>
                <a:sym typeface="Calibri"/>
              </a:rPr>
              <a:t>1 versicolor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23"/>
          <p:cNvSpPr/>
          <p:nvPr/>
        </p:nvSpPr>
        <p:spPr>
          <a:xfrm>
            <a:off x="795600" y="5486400"/>
            <a:ext cx="3044160" cy="291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→ versicolor</a:t>
            </a:r>
            <a:endParaRPr b="0" sz="14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23"/>
          <p:cNvSpPr/>
          <p:nvPr/>
        </p:nvSpPr>
        <p:spPr>
          <a:xfrm>
            <a:off x="4343400" y="4754880"/>
            <a:ext cx="3501360" cy="1142280"/>
          </a:xfrm>
          <a:prstGeom prst="roundRect">
            <a:avLst>
              <a:gd fmla="val 4800" name="adj"/>
            </a:avLst>
          </a:prstGeom>
          <a:solidFill>
            <a:srgbClr val="EDF3F3"/>
          </a:solidFill>
          <a:ln cap="flat" cmpd="sng" w="12700">
            <a:solidFill>
              <a:srgbClr val="E1E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23"/>
          <p:cNvSpPr/>
          <p:nvPr/>
        </p:nvSpPr>
        <p:spPr>
          <a:xfrm>
            <a:off x="4572000" y="4864680"/>
            <a:ext cx="3044160" cy="319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0E7C7B"/>
                </a:solidFill>
                <a:latin typeface="Courier New"/>
                <a:ea typeface="Courier New"/>
                <a:cs typeface="Courier New"/>
                <a:sym typeface="Courier New"/>
              </a:rPr>
              <a:t>k = 3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23"/>
          <p:cNvSpPr/>
          <p:nvPr/>
        </p:nvSpPr>
        <p:spPr>
          <a:xfrm>
            <a:off x="4572000" y="5184720"/>
            <a:ext cx="304416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A6B75"/>
                </a:solidFill>
                <a:latin typeface="Calibri"/>
                <a:ea typeface="Calibri"/>
                <a:cs typeface="Calibri"/>
                <a:sym typeface="Calibri"/>
              </a:rPr>
              <a:t>2 versicolor · 1 virginica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23"/>
          <p:cNvSpPr/>
          <p:nvPr/>
        </p:nvSpPr>
        <p:spPr>
          <a:xfrm>
            <a:off x="4572000" y="5486400"/>
            <a:ext cx="3044160" cy="291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→ versicolor</a:t>
            </a:r>
            <a:endParaRPr b="0" sz="14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23"/>
          <p:cNvSpPr/>
          <p:nvPr/>
        </p:nvSpPr>
        <p:spPr>
          <a:xfrm>
            <a:off x="8119800" y="4754880"/>
            <a:ext cx="3501360" cy="1142280"/>
          </a:xfrm>
          <a:prstGeom prst="roundRect">
            <a:avLst>
              <a:gd fmla="val 4800" name="adj"/>
            </a:avLst>
          </a:prstGeom>
          <a:solidFill>
            <a:srgbClr val="FBEFD9"/>
          </a:solidFill>
          <a:ln cap="flat" cmpd="sng" w="12700">
            <a:solidFill>
              <a:srgbClr val="F0D9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23"/>
          <p:cNvSpPr/>
          <p:nvPr/>
        </p:nvSpPr>
        <p:spPr>
          <a:xfrm>
            <a:off x="8348400" y="4864680"/>
            <a:ext cx="3044160" cy="319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0E7C7B"/>
                </a:solidFill>
                <a:latin typeface="Courier New"/>
                <a:ea typeface="Courier New"/>
                <a:cs typeface="Courier New"/>
                <a:sym typeface="Courier New"/>
              </a:rPr>
              <a:t>k = 5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23"/>
          <p:cNvSpPr/>
          <p:nvPr/>
        </p:nvSpPr>
        <p:spPr>
          <a:xfrm>
            <a:off x="8348400" y="5184720"/>
            <a:ext cx="304416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5A6B75"/>
                </a:solidFill>
                <a:latin typeface="Calibri"/>
                <a:ea typeface="Calibri"/>
                <a:cs typeface="Calibri"/>
                <a:sym typeface="Calibri"/>
              </a:rPr>
              <a:t>2 versicolor · 2 virginica · 1 setosa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23"/>
          <p:cNvSpPr/>
          <p:nvPr/>
        </p:nvSpPr>
        <p:spPr>
          <a:xfrm>
            <a:off x="8348400" y="5486400"/>
            <a:ext cx="3044160" cy="291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 u="none" strike="noStrike">
                <a:solidFill>
                  <a:srgbClr val="B07A1E"/>
                </a:solidFill>
                <a:latin typeface="Calibri"/>
                <a:ea typeface="Calibri"/>
                <a:cs typeface="Calibri"/>
                <a:sym typeface="Calibri"/>
              </a:rPr>
              <a:t>→ ¡empate!</a:t>
            </a:r>
            <a:endParaRPr b="0" sz="14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24"/>
          <p:cNvSpPr/>
          <p:nvPr/>
        </p:nvSpPr>
        <p:spPr>
          <a:xfrm>
            <a:off x="567000" y="384120"/>
            <a:ext cx="1105452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EL HIPERPARÁMETRO K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24"/>
          <p:cNvSpPr/>
          <p:nvPr/>
        </p:nvSpPr>
        <p:spPr>
          <a:xfrm>
            <a:off x="567000" y="658440"/>
            <a:ext cx="11054520" cy="639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 strike="noStrike">
                <a:solidFill>
                  <a:srgbClr val="17262E"/>
                </a:solidFill>
                <a:latin typeface="Cambria"/>
                <a:ea typeface="Cambria"/>
                <a:cs typeface="Cambria"/>
                <a:sym typeface="Cambria"/>
              </a:rPr>
              <a:t>Cómo elegir k</a:t>
            </a:r>
            <a:endParaRPr b="0" sz="3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24"/>
          <p:cNvSpPr/>
          <p:nvPr/>
        </p:nvSpPr>
        <p:spPr>
          <a:xfrm>
            <a:off x="567000" y="1463040"/>
            <a:ext cx="5380560" cy="2010960"/>
          </a:xfrm>
          <a:prstGeom prst="roundRect">
            <a:avLst>
              <a:gd fmla="val 2727" name="adj"/>
            </a:avLst>
          </a:prstGeom>
          <a:solidFill>
            <a:srgbClr val="EDF3F3"/>
          </a:solidFill>
          <a:ln cap="flat" cmpd="sng" w="12700">
            <a:solidFill>
              <a:srgbClr val="E1E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24"/>
          <p:cNvSpPr/>
          <p:nvPr/>
        </p:nvSpPr>
        <p:spPr>
          <a:xfrm>
            <a:off x="822960" y="1700640"/>
            <a:ext cx="419760" cy="419760"/>
          </a:xfrm>
          <a:prstGeom prst="ellipse">
            <a:avLst/>
          </a:prstGeom>
          <a:solidFill>
            <a:srgbClr val="0E7C7B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24"/>
          <p:cNvSpPr/>
          <p:nvPr/>
        </p:nvSpPr>
        <p:spPr>
          <a:xfrm>
            <a:off x="822960" y="1700640"/>
            <a:ext cx="419760" cy="41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24"/>
          <p:cNvSpPr/>
          <p:nvPr/>
        </p:nvSpPr>
        <p:spPr>
          <a:xfrm>
            <a:off x="1353240" y="1719000"/>
            <a:ext cx="4374720" cy="410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k = 1: memoriza el ruido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24"/>
          <p:cNvSpPr/>
          <p:nvPr/>
        </p:nvSpPr>
        <p:spPr>
          <a:xfrm>
            <a:off x="841320" y="2240280"/>
            <a:ext cx="4831920" cy="1050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 u="none" strike="noStrike">
                <a:solidFill>
                  <a:srgbClr val="5A6B75"/>
                </a:solidFill>
                <a:latin typeface="Calibri"/>
                <a:ea typeface="Calibri"/>
                <a:cs typeface="Calibri"/>
                <a:sym typeface="Calibri"/>
              </a:rPr>
              <a:t>Sigue a un único vecino: una muestra mal etiquetada provoca errores alrededor de ella. Frontera muy irregular (sobreajuste).</a:t>
            </a:r>
            <a:endParaRPr b="0" sz="13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24"/>
          <p:cNvSpPr/>
          <p:nvPr/>
        </p:nvSpPr>
        <p:spPr>
          <a:xfrm>
            <a:off x="6240960" y="1463040"/>
            <a:ext cx="5380560" cy="2010960"/>
          </a:xfrm>
          <a:prstGeom prst="roundRect">
            <a:avLst>
              <a:gd fmla="val 2727" name="adj"/>
            </a:avLst>
          </a:prstGeom>
          <a:solidFill>
            <a:srgbClr val="EDF3F3"/>
          </a:solidFill>
          <a:ln cap="flat" cmpd="sng" w="12700">
            <a:solidFill>
              <a:srgbClr val="E1E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24"/>
          <p:cNvSpPr/>
          <p:nvPr/>
        </p:nvSpPr>
        <p:spPr>
          <a:xfrm>
            <a:off x="6496920" y="1700640"/>
            <a:ext cx="419760" cy="419760"/>
          </a:xfrm>
          <a:prstGeom prst="ellipse">
            <a:avLst/>
          </a:prstGeom>
          <a:solidFill>
            <a:srgbClr val="0E7C7B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24"/>
          <p:cNvSpPr/>
          <p:nvPr/>
        </p:nvSpPr>
        <p:spPr>
          <a:xfrm>
            <a:off x="6496920" y="1700640"/>
            <a:ext cx="419760" cy="41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∞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24"/>
          <p:cNvSpPr/>
          <p:nvPr/>
        </p:nvSpPr>
        <p:spPr>
          <a:xfrm>
            <a:off x="7027200" y="1719000"/>
            <a:ext cx="4374720" cy="410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k muy grande: todo es mayoría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24"/>
          <p:cNvSpPr/>
          <p:nvPr/>
        </p:nvSpPr>
        <p:spPr>
          <a:xfrm>
            <a:off x="6515280" y="2240280"/>
            <a:ext cx="4831920" cy="1050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 u="none" strike="noStrike">
                <a:solidFill>
                  <a:srgbClr val="5A6B75"/>
                </a:solidFill>
                <a:latin typeface="Calibri"/>
                <a:ea typeface="Calibri"/>
                <a:cs typeface="Calibri"/>
                <a:sym typeface="Calibri"/>
              </a:rPr>
              <a:t>Si k se acerca al total de muestras, gana siempre la clase más frecuente y el modelo degenera en ModeloMayoritario (subajuste).</a:t>
            </a:r>
            <a:endParaRPr b="0" sz="13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24"/>
          <p:cNvSpPr/>
          <p:nvPr/>
        </p:nvSpPr>
        <p:spPr>
          <a:xfrm>
            <a:off x="567000" y="3767400"/>
            <a:ext cx="5380560" cy="2010960"/>
          </a:xfrm>
          <a:prstGeom prst="roundRect">
            <a:avLst>
              <a:gd fmla="val 2727" name="adj"/>
            </a:avLst>
          </a:prstGeom>
          <a:solidFill>
            <a:srgbClr val="EDF3F3"/>
          </a:solidFill>
          <a:ln cap="flat" cmpd="sng" w="12700">
            <a:solidFill>
              <a:srgbClr val="E1E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24"/>
          <p:cNvSpPr/>
          <p:nvPr/>
        </p:nvSpPr>
        <p:spPr>
          <a:xfrm>
            <a:off x="822960" y="4005000"/>
            <a:ext cx="419760" cy="419760"/>
          </a:xfrm>
          <a:prstGeom prst="ellipse">
            <a:avLst/>
          </a:prstGeom>
          <a:solidFill>
            <a:srgbClr val="0E7C7B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24"/>
          <p:cNvSpPr/>
          <p:nvPr/>
        </p:nvSpPr>
        <p:spPr>
          <a:xfrm>
            <a:off x="822960" y="4005000"/>
            <a:ext cx="419760" cy="41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±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24"/>
          <p:cNvSpPr/>
          <p:nvPr/>
        </p:nvSpPr>
        <p:spPr>
          <a:xfrm>
            <a:off x="1353240" y="4023360"/>
            <a:ext cx="4374720" cy="410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Mejor impar, pero no basta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24"/>
          <p:cNvSpPr/>
          <p:nvPr/>
        </p:nvSpPr>
        <p:spPr>
          <a:xfrm>
            <a:off x="841320" y="4544640"/>
            <a:ext cx="4831920" cy="1050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 u="none" strike="noStrike">
                <a:solidFill>
                  <a:srgbClr val="5A6B75"/>
                </a:solidFill>
                <a:latin typeface="Calibri"/>
                <a:ea typeface="Calibri"/>
                <a:cs typeface="Calibri"/>
                <a:sym typeface="Calibri"/>
              </a:rPr>
              <a:t>Con dos clases, un k impar evita empates. Con tres o más puede haberlos igualmente: hay que decidir cómo desempatar.</a:t>
            </a:r>
            <a:endParaRPr b="0" sz="13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24"/>
          <p:cNvSpPr/>
          <p:nvPr/>
        </p:nvSpPr>
        <p:spPr>
          <a:xfrm>
            <a:off x="6240960" y="3767400"/>
            <a:ext cx="5380560" cy="2010960"/>
          </a:xfrm>
          <a:prstGeom prst="roundRect">
            <a:avLst>
              <a:gd fmla="val 2727" name="adj"/>
            </a:avLst>
          </a:prstGeom>
          <a:solidFill>
            <a:srgbClr val="EDF3F3"/>
          </a:solidFill>
          <a:ln cap="flat" cmpd="sng" w="12700">
            <a:solidFill>
              <a:srgbClr val="E1E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24"/>
          <p:cNvSpPr/>
          <p:nvPr/>
        </p:nvSpPr>
        <p:spPr>
          <a:xfrm>
            <a:off x="6496920" y="4005000"/>
            <a:ext cx="419760" cy="419760"/>
          </a:xfrm>
          <a:prstGeom prst="ellipse">
            <a:avLst/>
          </a:prstGeom>
          <a:solidFill>
            <a:srgbClr val="0E7C7B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24"/>
          <p:cNvSpPr/>
          <p:nvPr/>
        </p:nvSpPr>
        <p:spPr>
          <a:xfrm>
            <a:off x="6496920" y="4005000"/>
            <a:ext cx="419760" cy="41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24"/>
          <p:cNvSpPr/>
          <p:nvPr/>
        </p:nvSpPr>
        <p:spPr>
          <a:xfrm>
            <a:off x="7027200" y="4023360"/>
            <a:ext cx="4374720" cy="410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Se elige midiendo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24"/>
          <p:cNvSpPr/>
          <p:nvPr/>
        </p:nvSpPr>
        <p:spPr>
          <a:xfrm>
            <a:off x="6515280" y="4544640"/>
            <a:ext cx="4831920" cy="1050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 u="none" strike="noStrike">
                <a:solidFill>
                  <a:srgbClr val="5A6B75"/>
                </a:solidFill>
                <a:latin typeface="Calibri"/>
                <a:ea typeface="Calibri"/>
                <a:cs typeface="Calibri"/>
                <a:sym typeface="Calibri"/>
              </a:rPr>
              <a:t>Se prueban varios valores (1, 3, 5, 7, 11…) con datos que el modelo no ha visto y se elige el mejor. Punto de partida habitual: k ≈ √n.</a:t>
            </a:r>
            <a:endParaRPr b="0" sz="13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25"/>
          <p:cNvSpPr/>
          <p:nvPr/>
        </p:nvSpPr>
        <p:spPr>
          <a:xfrm>
            <a:off x="567000" y="384120"/>
            <a:ext cx="1105452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PREPARAR LOS DATOS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25"/>
          <p:cNvSpPr/>
          <p:nvPr/>
        </p:nvSpPr>
        <p:spPr>
          <a:xfrm>
            <a:off x="567000" y="658440"/>
            <a:ext cx="11054520" cy="639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 strike="noStrike">
                <a:solidFill>
                  <a:srgbClr val="17262E"/>
                </a:solidFill>
                <a:latin typeface="Cambria"/>
                <a:ea typeface="Cambria"/>
                <a:cs typeface="Cambria"/>
                <a:sym typeface="Cambria"/>
              </a:rPr>
              <a:t>Por qué hay que normalizar</a:t>
            </a:r>
            <a:endParaRPr b="0" sz="3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25"/>
          <p:cNvSpPr/>
          <p:nvPr/>
        </p:nvSpPr>
        <p:spPr>
          <a:xfrm>
            <a:off x="585360" y="1417320"/>
            <a:ext cx="5343840" cy="291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5A6B75"/>
                </a:solidFill>
                <a:latin typeface="Calibri"/>
                <a:ea typeface="Calibri"/>
                <a:cs typeface="Calibri"/>
                <a:sym typeface="Calibri"/>
              </a:rPr>
              <a:t>Sin normalizar: decide solo el salario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25"/>
          <p:cNvSpPr/>
          <p:nvPr/>
        </p:nvSpPr>
        <p:spPr>
          <a:xfrm>
            <a:off x="567000" y="1783080"/>
            <a:ext cx="5343840" cy="2511720"/>
          </a:xfrm>
          <a:prstGeom prst="roundRect">
            <a:avLst>
              <a:gd fmla="val 2912" name="adj"/>
            </a:avLst>
          </a:prstGeom>
          <a:solidFill>
            <a:srgbClr val="10202B"/>
          </a:solidFill>
          <a:ln cap="flat" cmpd="sng" w="12700">
            <a:solidFill>
              <a:srgbClr val="102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25"/>
          <p:cNvSpPr/>
          <p:nvPr/>
        </p:nvSpPr>
        <p:spPr>
          <a:xfrm>
            <a:off x="768240" y="1956960"/>
            <a:ext cx="95400" cy="95400"/>
          </a:xfrm>
          <a:prstGeom prst="ellipse">
            <a:avLst/>
          </a:prstGeom>
          <a:solidFill>
            <a:srgbClr val="E4B363"/>
          </a:solidFill>
          <a:ln cap="flat" cmpd="sng" w="12700">
            <a:solidFill>
              <a:srgbClr val="E4B3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875" spcFirstLastPara="1" rIns="47875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25"/>
          <p:cNvSpPr/>
          <p:nvPr/>
        </p:nvSpPr>
        <p:spPr>
          <a:xfrm>
            <a:off x="969120" y="1956960"/>
            <a:ext cx="95400" cy="95400"/>
          </a:xfrm>
          <a:prstGeom prst="ellipse">
            <a:avLst/>
          </a:prstGeom>
          <a:solidFill>
            <a:srgbClr val="17BEBB"/>
          </a:solidFill>
          <a:ln cap="flat" cmpd="sng" w="12700">
            <a:solidFill>
              <a:srgbClr val="17BE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875" spcFirstLastPara="1" rIns="47875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25"/>
          <p:cNvSpPr/>
          <p:nvPr/>
        </p:nvSpPr>
        <p:spPr>
          <a:xfrm>
            <a:off x="1170360" y="1956960"/>
            <a:ext cx="95400" cy="95400"/>
          </a:xfrm>
          <a:prstGeom prst="ellipse">
            <a:avLst/>
          </a:prstGeom>
          <a:solidFill>
            <a:srgbClr val="3E5563"/>
          </a:solidFill>
          <a:ln cap="flat" cmpd="sng" w="12700">
            <a:solidFill>
              <a:srgbClr val="3E5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875" spcFirstLastPara="1" rIns="47875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25"/>
          <p:cNvSpPr/>
          <p:nvPr/>
        </p:nvSpPr>
        <p:spPr>
          <a:xfrm>
            <a:off x="1435680" y="1883520"/>
            <a:ext cx="4246560" cy="227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E8390"/>
                </a:solidFill>
                <a:latin typeface="Courier New"/>
                <a:ea typeface="Courier New"/>
                <a:cs typeface="Courier New"/>
                <a:sym typeface="Courier New"/>
              </a:rPr>
              <a:t>sin_escalar.py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25"/>
          <p:cNvSpPr/>
          <p:nvPr/>
        </p:nvSpPr>
        <p:spPr>
          <a:xfrm>
            <a:off x="749880" y="2194560"/>
            <a:ext cx="5023800" cy="20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a = (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25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30_000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(edad, salario)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b = (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60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30_500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c = (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26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36_000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math.dist(a, b)  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501.2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math.dist(a, c)  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6000.0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El vecino de "a" es "b", aunque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se lleven 35 años: la edad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apenas pesa en la distancia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25"/>
          <p:cNvSpPr/>
          <p:nvPr/>
        </p:nvSpPr>
        <p:spPr>
          <a:xfrm>
            <a:off x="6295680" y="1417320"/>
            <a:ext cx="5343840" cy="291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Escalado 0-1: cuentan las dos medidas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25"/>
          <p:cNvSpPr/>
          <p:nvPr/>
        </p:nvSpPr>
        <p:spPr>
          <a:xfrm>
            <a:off x="6277320" y="1783080"/>
            <a:ext cx="5343840" cy="2511720"/>
          </a:xfrm>
          <a:prstGeom prst="roundRect">
            <a:avLst>
              <a:gd fmla="val 2912" name="adj"/>
            </a:avLst>
          </a:prstGeom>
          <a:solidFill>
            <a:srgbClr val="10202B"/>
          </a:solidFill>
          <a:ln cap="flat" cmpd="sng" w="12700">
            <a:solidFill>
              <a:srgbClr val="102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25"/>
          <p:cNvSpPr/>
          <p:nvPr/>
        </p:nvSpPr>
        <p:spPr>
          <a:xfrm>
            <a:off x="6478560" y="1956960"/>
            <a:ext cx="95400" cy="95400"/>
          </a:xfrm>
          <a:prstGeom prst="ellipse">
            <a:avLst/>
          </a:prstGeom>
          <a:solidFill>
            <a:srgbClr val="E4B363"/>
          </a:solidFill>
          <a:ln cap="flat" cmpd="sng" w="12700">
            <a:solidFill>
              <a:srgbClr val="E4B3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875" spcFirstLastPara="1" rIns="47875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25"/>
          <p:cNvSpPr/>
          <p:nvPr/>
        </p:nvSpPr>
        <p:spPr>
          <a:xfrm>
            <a:off x="6679800" y="1956960"/>
            <a:ext cx="95400" cy="95400"/>
          </a:xfrm>
          <a:prstGeom prst="ellipse">
            <a:avLst/>
          </a:prstGeom>
          <a:solidFill>
            <a:srgbClr val="17BEBB"/>
          </a:solidFill>
          <a:ln cap="flat" cmpd="sng" w="12700">
            <a:solidFill>
              <a:srgbClr val="17BE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875" spcFirstLastPara="1" rIns="47875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25"/>
          <p:cNvSpPr/>
          <p:nvPr/>
        </p:nvSpPr>
        <p:spPr>
          <a:xfrm>
            <a:off x="6881040" y="1956960"/>
            <a:ext cx="95400" cy="95400"/>
          </a:xfrm>
          <a:prstGeom prst="ellipse">
            <a:avLst/>
          </a:prstGeom>
          <a:solidFill>
            <a:srgbClr val="3E5563"/>
          </a:solidFill>
          <a:ln cap="flat" cmpd="sng" w="12700">
            <a:solidFill>
              <a:srgbClr val="3E5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875" spcFirstLastPara="1" rIns="47875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25"/>
          <p:cNvSpPr/>
          <p:nvPr/>
        </p:nvSpPr>
        <p:spPr>
          <a:xfrm>
            <a:off x="7146000" y="1883520"/>
            <a:ext cx="4246560" cy="227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E8390"/>
                </a:solidFill>
                <a:latin typeface="Courier New"/>
                <a:ea typeface="Courier New"/>
                <a:cs typeface="Courier New"/>
                <a:sym typeface="Courier New"/>
              </a:rPr>
              <a:t>escalado.py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25"/>
          <p:cNvSpPr/>
          <p:nvPr/>
        </p:nvSpPr>
        <p:spPr>
          <a:xfrm>
            <a:off x="6460200" y="2194560"/>
            <a:ext cx="5023800" cy="20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edad:    25 .. 60        -&gt; 0 .. 1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salario: 30000 .. 36000  -&gt; 0 .. 1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a = (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0.00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0.00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b = (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1.00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0.08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c = (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0.03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1.00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math.dist(a, b)  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1.00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math.dist(a, c)  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1.00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Ahora ambas medidas pesan igual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25"/>
          <p:cNvSpPr/>
          <p:nvPr/>
        </p:nvSpPr>
        <p:spPr>
          <a:xfrm>
            <a:off x="567000" y="5715000"/>
            <a:ext cx="11054520" cy="657720"/>
          </a:xfrm>
          <a:prstGeom prst="roundRect">
            <a:avLst>
              <a:gd fmla="val 8333" name="adj"/>
            </a:avLst>
          </a:prstGeom>
          <a:solidFill>
            <a:srgbClr val="EDF3F3"/>
          </a:solidFill>
          <a:ln cap="flat" cmpd="sng" w="12700">
            <a:solidFill>
              <a:srgbClr val="ED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25"/>
          <p:cNvSpPr/>
          <p:nvPr/>
        </p:nvSpPr>
        <p:spPr>
          <a:xfrm>
            <a:off x="768240" y="5715000"/>
            <a:ext cx="10643040" cy="65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Regla: </a:t>
            </a:r>
            <a:r>
              <a:rPr b="0" lang="en-US" sz="14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k-NN solo ve distancias: la medida con valores más grandes decide sola. Normaliza siempre, y calcula mínimo y máximo con el conjunto de entrenamiento, nunca con el de prueba.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26"/>
          <p:cNvSpPr/>
          <p:nvPr/>
        </p:nvSpPr>
        <p:spPr>
          <a:xfrm>
            <a:off x="567000" y="384120"/>
            <a:ext cx="1105452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CARACTERÍSTICAS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26"/>
          <p:cNvSpPr/>
          <p:nvPr/>
        </p:nvSpPr>
        <p:spPr>
          <a:xfrm>
            <a:off x="567000" y="658440"/>
            <a:ext cx="11054520" cy="639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 strike="noStrike">
                <a:solidFill>
                  <a:srgbClr val="17262E"/>
                </a:solidFill>
                <a:latin typeface="Cambria"/>
                <a:ea typeface="Cambria"/>
                <a:cs typeface="Cambria"/>
                <a:sym typeface="Cambria"/>
              </a:rPr>
              <a:t>Un algoritmo "perezoso"</a:t>
            </a:r>
            <a:endParaRPr b="0" sz="3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26"/>
          <p:cNvSpPr/>
          <p:nvPr/>
        </p:nvSpPr>
        <p:spPr>
          <a:xfrm>
            <a:off x="567000" y="1463040"/>
            <a:ext cx="5380560" cy="2010960"/>
          </a:xfrm>
          <a:prstGeom prst="roundRect">
            <a:avLst>
              <a:gd fmla="val 2727" name="adj"/>
            </a:avLst>
          </a:prstGeom>
          <a:solidFill>
            <a:srgbClr val="EDF3F3"/>
          </a:solidFill>
          <a:ln cap="flat" cmpd="sng" w="12700">
            <a:solidFill>
              <a:srgbClr val="E1E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26"/>
          <p:cNvSpPr/>
          <p:nvPr/>
        </p:nvSpPr>
        <p:spPr>
          <a:xfrm>
            <a:off x="822960" y="1700640"/>
            <a:ext cx="419760" cy="419760"/>
          </a:xfrm>
          <a:prstGeom prst="ellipse">
            <a:avLst/>
          </a:prstGeom>
          <a:solidFill>
            <a:srgbClr val="0E7C7B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26"/>
          <p:cNvSpPr/>
          <p:nvPr/>
        </p:nvSpPr>
        <p:spPr>
          <a:xfrm>
            <a:off x="822960" y="1700640"/>
            <a:ext cx="419760" cy="41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26"/>
          <p:cNvSpPr/>
          <p:nvPr/>
        </p:nvSpPr>
        <p:spPr>
          <a:xfrm>
            <a:off x="1353240" y="1719000"/>
            <a:ext cx="4374720" cy="410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Entrenar es memorizar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26"/>
          <p:cNvSpPr/>
          <p:nvPr/>
        </p:nvSpPr>
        <p:spPr>
          <a:xfrm>
            <a:off x="841320" y="2240280"/>
            <a:ext cx="4831920" cy="1050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 u="none" strike="noStrike">
                <a:solidFill>
                  <a:srgbClr val="5A6B75"/>
                </a:solidFill>
                <a:latin typeface="Calibri"/>
                <a:ea typeface="Calibri"/>
                <a:cs typeface="Calibri"/>
                <a:sym typeface="Calibri"/>
              </a:rPr>
              <a:t>No hay fase de ajuste: entrenar consiste en guardar las muestras. Por eso se habla de aprendizaje perezoso (lazy learning).</a:t>
            </a:r>
            <a:endParaRPr b="0" sz="13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26"/>
          <p:cNvSpPr/>
          <p:nvPr/>
        </p:nvSpPr>
        <p:spPr>
          <a:xfrm>
            <a:off x="6240960" y="1463040"/>
            <a:ext cx="5380560" cy="2010960"/>
          </a:xfrm>
          <a:prstGeom prst="roundRect">
            <a:avLst>
              <a:gd fmla="val 2727" name="adj"/>
            </a:avLst>
          </a:prstGeom>
          <a:solidFill>
            <a:srgbClr val="EDF3F3"/>
          </a:solidFill>
          <a:ln cap="flat" cmpd="sng" w="12700">
            <a:solidFill>
              <a:srgbClr val="E1E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26"/>
          <p:cNvSpPr/>
          <p:nvPr/>
        </p:nvSpPr>
        <p:spPr>
          <a:xfrm>
            <a:off x="6496920" y="1700640"/>
            <a:ext cx="419760" cy="419760"/>
          </a:xfrm>
          <a:prstGeom prst="ellipse">
            <a:avLst/>
          </a:prstGeom>
          <a:solidFill>
            <a:srgbClr val="0E7C7B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26"/>
          <p:cNvSpPr/>
          <p:nvPr/>
        </p:nvSpPr>
        <p:spPr>
          <a:xfrm>
            <a:off x="6496920" y="1700640"/>
            <a:ext cx="419760" cy="41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26"/>
          <p:cNvSpPr/>
          <p:nvPr/>
        </p:nvSpPr>
        <p:spPr>
          <a:xfrm>
            <a:off x="7027200" y="1719000"/>
            <a:ext cx="4374720" cy="410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Lo caro es predecir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26"/>
          <p:cNvSpPr/>
          <p:nvPr/>
        </p:nvSpPr>
        <p:spPr>
          <a:xfrm>
            <a:off x="6515280" y="2240280"/>
            <a:ext cx="4831920" cy="1050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 u="none" strike="noStrike">
                <a:solidFill>
                  <a:srgbClr val="5A6B75"/>
                </a:solidFill>
                <a:latin typeface="Calibri"/>
                <a:ea typeface="Calibri"/>
                <a:cs typeface="Calibri"/>
                <a:sym typeface="Calibri"/>
              </a:rPr>
              <a:t>Cada predicción mide la distancia a todas las muestras: n × d operaciones. Con millones de filas se usan índices espaciales (KD-tree, Ball-tree).</a:t>
            </a:r>
            <a:endParaRPr b="0" sz="13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26"/>
          <p:cNvSpPr/>
          <p:nvPr/>
        </p:nvSpPr>
        <p:spPr>
          <a:xfrm>
            <a:off x="567000" y="3767400"/>
            <a:ext cx="5380560" cy="2010960"/>
          </a:xfrm>
          <a:prstGeom prst="roundRect">
            <a:avLst>
              <a:gd fmla="val 2727" name="adj"/>
            </a:avLst>
          </a:prstGeom>
          <a:solidFill>
            <a:srgbClr val="EDF3F3"/>
          </a:solidFill>
          <a:ln cap="flat" cmpd="sng" w="12700">
            <a:solidFill>
              <a:srgbClr val="E1E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26"/>
          <p:cNvSpPr/>
          <p:nvPr/>
        </p:nvSpPr>
        <p:spPr>
          <a:xfrm>
            <a:off x="822960" y="4005000"/>
            <a:ext cx="419760" cy="419760"/>
          </a:xfrm>
          <a:prstGeom prst="ellipse">
            <a:avLst/>
          </a:prstGeom>
          <a:solidFill>
            <a:srgbClr val="0E7C7B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26"/>
          <p:cNvSpPr/>
          <p:nvPr/>
        </p:nvSpPr>
        <p:spPr>
          <a:xfrm>
            <a:off x="822960" y="4005000"/>
            <a:ext cx="419760" cy="41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26"/>
          <p:cNvSpPr/>
          <p:nvPr/>
        </p:nvSpPr>
        <p:spPr>
          <a:xfrm>
            <a:off x="1353240" y="4023360"/>
            <a:ext cx="4374720" cy="410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Ventajas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26"/>
          <p:cNvSpPr/>
          <p:nvPr/>
        </p:nvSpPr>
        <p:spPr>
          <a:xfrm>
            <a:off x="841320" y="4544640"/>
            <a:ext cx="4831920" cy="1050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 u="none" strike="noStrike">
                <a:solidFill>
                  <a:srgbClr val="5A6B75"/>
                </a:solidFill>
                <a:latin typeface="Calibri"/>
                <a:ea typeface="Calibri"/>
                <a:cs typeface="Calibri"/>
                <a:sym typeface="Calibri"/>
              </a:rPr>
              <a:t>Fácil de entender y de explicar, sin supuestos sobre la forma de los datos y multiclase de forma natural.</a:t>
            </a:r>
            <a:endParaRPr b="0" sz="13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26"/>
          <p:cNvSpPr/>
          <p:nvPr/>
        </p:nvSpPr>
        <p:spPr>
          <a:xfrm>
            <a:off x="6240960" y="3767400"/>
            <a:ext cx="5380560" cy="2010960"/>
          </a:xfrm>
          <a:prstGeom prst="roundRect">
            <a:avLst>
              <a:gd fmla="val 2727" name="adj"/>
            </a:avLst>
          </a:prstGeom>
          <a:solidFill>
            <a:srgbClr val="EDF3F3"/>
          </a:solidFill>
          <a:ln cap="flat" cmpd="sng" w="12700">
            <a:solidFill>
              <a:srgbClr val="E1E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26"/>
          <p:cNvSpPr/>
          <p:nvPr/>
        </p:nvSpPr>
        <p:spPr>
          <a:xfrm>
            <a:off x="6496920" y="4005000"/>
            <a:ext cx="419760" cy="419760"/>
          </a:xfrm>
          <a:prstGeom prst="ellipse">
            <a:avLst/>
          </a:prstGeom>
          <a:solidFill>
            <a:srgbClr val="0E7C7B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26"/>
          <p:cNvSpPr/>
          <p:nvPr/>
        </p:nvSpPr>
        <p:spPr>
          <a:xfrm>
            <a:off x="6496920" y="4005000"/>
            <a:ext cx="419760" cy="41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26"/>
          <p:cNvSpPr/>
          <p:nvPr/>
        </p:nvSpPr>
        <p:spPr>
          <a:xfrm>
            <a:off x="7027200" y="4023360"/>
            <a:ext cx="4374720" cy="410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Limitaciones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26"/>
          <p:cNvSpPr/>
          <p:nvPr/>
        </p:nvSpPr>
        <p:spPr>
          <a:xfrm>
            <a:off x="6515280" y="4544640"/>
            <a:ext cx="4831920" cy="1050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 u="none" strike="noStrike">
                <a:solidFill>
                  <a:srgbClr val="5A6B75"/>
                </a:solidFill>
                <a:latin typeface="Calibri"/>
                <a:ea typeface="Calibri"/>
                <a:cs typeface="Calibri"/>
                <a:sym typeface="Calibri"/>
              </a:rPr>
              <a:t>Sensible a la escala y a medidas irrelevantes, lento con muchos datos y peor cuantas más dimensiones (maldición de la dimensionalidad).</a:t>
            </a:r>
            <a:endParaRPr b="0" sz="13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27"/>
          <p:cNvSpPr/>
          <p:nvPr/>
        </p:nvSpPr>
        <p:spPr>
          <a:xfrm>
            <a:off x="567000" y="384120"/>
            <a:ext cx="1105452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DEL ALGORITMO AL CÓDIGO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27"/>
          <p:cNvSpPr/>
          <p:nvPr/>
        </p:nvSpPr>
        <p:spPr>
          <a:xfrm>
            <a:off x="567000" y="658440"/>
            <a:ext cx="11054520" cy="639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 strike="noStrike">
                <a:solidFill>
                  <a:srgbClr val="17262E"/>
                </a:solidFill>
                <a:latin typeface="Cambria"/>
                <a:ea typeface="Cambria"/>
                <a:cs typeface="Cambria"/>
                <a:sym typeface="Cambria"/>
              </a:rPr>
              <a:t>Todo lo que necesitas ya lo conoces</a:t>
            </a:r>
            <a:endParaRPr b="0" sz="3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27"/>
          <p:cNvSpPr/>
          <p:nvPr/>
        </p:nvSpPr>
        <p:spPr>
          <a:xfrm>
            <a:off x="585360" y="1417320"/>
            <a:ext cx="5343840" cy="291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5A6B75"/>
                </a:solidFill>
                <a:latin typeface="Calibri"/>
                <a:ea typeface="Calibri"/>
                <a:cs typeface="Calibri"/>
                <a:sym typeface="Calibri"/>
              </a:rPr>
              <a:t>Pseudocódigo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27"/>
          <p:cNvSpPr/>
          <p:nvPr/>
        </p:nvSpPr>
        <p:spPr>
          <a:xfrm>
            <a:off x="567000" y="1783080"/>
            <a:ext cx="5343840" cy="2316960"/>
          </a:xfrm>
          <a:prstGeom prst="roundRect">
            <a:avLst>
              <a:gd fmla="val 3156" name="adj"/>
            </a:avLst>
          </a:prstGeom>
          <a:solidFill>
            <a:srgbClr val="10202B"/>
          </a:solidFill>
          <a:ln cap="flat" cmpd="sng" w="12700">
            <a:solidFill>
              <a:srgbClr val="102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27"/>
          <p:cNvSpPr/>
          <p:nvPr/>
        </p:nvSpPr>
        <p:spPr>
          <a:xfrm>
            <a:off x="768240" y="1956960"/>
            <a:ext cx="95400" cy="95400"/>
          </a:xfrm>
          <a:prstGeom prst="ellipse">
            <a:avLst/>
          </a:prstGeom>
          <a:solidFill>
            <a:srgbClr val="E4B363"/>
          </a:solidFill>
          <a:ln cap="flat" cmpd="sng" w="12700">
            <a:solidFill>
              <a:srgbClr val="E4B3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875" spcFirstLastPara="1" rIns="47875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27"/>
          <p:cNvSpPr/>
          <p:nvPr/>
        </p:nvSpPr>
        <p:spPr>
          <a:xfrm>
            <a:off x="969120" y="1956960"/>
            <a:ext cx="95400" cy="95400"/>
          </a:xfrm>
          <a:prstGeom prst="ellipse">
            <a:avLst/>
          </a:prstGeom>
          <a:solidFill>
            <a:srgbClr val="17BEBB"/>
          </a:solidFill>
          <a:ln cap="flat" cmpd="sng" w="12700">
            <a:solidFill>
              <a:srgbClr val="17BE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875" spcFirstLastPara="1" rIns="47875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27"/>
          <p:cNvSpPr/>
          <p:nvPr/>
        </p:nvSpPr>
        <p:spPr>
          <a:xfrm>
            <a:off x="1170360" y="1956960"/>
            <a:ext cx="95400" cy="95400"/>
          </a:xfrm>
          <a:prstGeom prst="ellipse">
            <a:avLst/>
          </a:prstGeom>
          <a:solidFill>
            <a:srgbClr val="3E5563"/>
          </a:solidFill>
          <a:ln cap="flat" cmpd="sng" w="12700">
            <a:solidFill>
              <a:srgbClr val="3E5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875" spcFirstLastPara="1" rIns="47875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27"/>
          <p:cNvSpPr/>
          <p:nvPr/>
        </p:nvSpPr>
        <p:spPr>
          <a:xfrm>
            <a:off x="1435680" y="1883520"/>
            <a:ext cx="4246560" cy="227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E8390"/>
                </a:solidFill>
                <a:latin typeface="Courier New"/>
                <a:ea typeface="Courier New"/>
                <a:cs typeface="Courier New"/>
                <a:sym typeface="Courier New"/>
              </a:rPr>
              <a:t>algoritmo.txt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27"/>
          <p:cNvSpPr/>
          <p:nvPr/>
        </p:nvSpPr>
        <p:spPr>
          <a:xfrm>
            <a:off x="749880" y="2194560"/>
            <a:ext cx="5023800" cy="181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predecir(nueva, entrenamiento, k):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distancias = lista vacía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para cada m en entrenamiento: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d = distancia(nueva, m)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añadir (d, m.clase)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ordenar distancias de menor a mayor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vecinos = los k primeros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devolver la clase más repetida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entre los vecinos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27"/>
          <p:cNvSpPr/>
          <p:nvPr/>
        </p:nvSpPr>
        <p:spPr>
          <a:xfrm>
            <a:off x="6295680" y="1417320"/>
            <a:ext cx="5343840" cy="291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27"/>
          <p:cNvSpPr/>
          <p:nvPr/>
        </p:nvSpPr>
        <p:spPr>
          <a:xfrm>
            <a:off x="6277320" y="1783080"/>
            <a:ext cx="5343840" cy="2900520"/>
          </a:xfrm>
          <a:prstGeom prst="roundRect">
            <a:avLst>
              <a:gd fmla="val 2521" name="adj"/>
            </a:avLst>
          </a:prstGeom>
          <a:solidFill>
            <a:srgbClr val="10202B"/>
          </a:solidFill>
          <a:ln cap="flat" cmpd="sng" w="12700">
            <a:solidFill>
              <a:srgbClr val="102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27"/>
          <p:cNvSpPr/>
          <p:nvPr/>
        </p:nvSpPr>
        <p:spPr>
          <a:xfrm>
            <a:off x="6478560" y="1956960"/>
            <a:ext cx="95400" cy="95400"/>
          </a:xfrm>
          <a:prstGeom prst="ellipse">
            <a:avLst/>
          </a:prstGeom>
          <a:solidFill>
            <a:srgbClr val="E4B363"/>
          </a:solidFill>
          <a:ln cap="flat" cmpd="sng" w="12700">
            <a:solidFill>
              <a:srgbClr val="E4B3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875" spcFirstLastPara="1" rIns="47875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27"/>
          <p:cNvSpPr/>
          <p:nvPr/>
        </p:nvSpPr>
        <p:spPr>
          <a:xfrm>
            <a:off x="6679800" y="1956960"/>
            <a:ext cx="95400" cy="95400"/>
          </a:xfrm>
          <a:prstGeom prst="ellipse">
            <a:avLst/>
          </a:prstGeom>
          <a:solidFill>
            <a:srgbClr val="17BEBB"/>
          </a:solidFill>
          <a:ln cap="flat" cmpd="sng" w="12700">
            <a:solidFill>
              <a:srgbClr val="17BE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875" spcFirstLastPara="1" rIns="47875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27"/>
          <p:cNvSpPr/>
          <p:nvPr/>
        </p:nvSpPr>
        <p:spPr>
          <a:xfrm>
            <a:off x="6881040" y="1956960"/>
            <a:ext cx="95400" cy="95400"/>
          </a:xfrm>
          <a:prstGeom prst="ellipse">
            <a:avLst/>
          </a:prstGeom>
          <a:solidFill>
            <a:srgbClr val="3E5563"/>
          </a:solidFill>
          <a:ln cap="flat" cmpd="sng" w="12700">
            <a:solidFill>
              <a:srgbClr val="3E5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875" spcFirstLastPara="1" rIns="47875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27"/>
          <p:cNvSpPr/>
          <p:nvPr/>
        </p:nvSpPr>
        <p:spPr>
          <a:xfrm>
            <a:off x="7146000" y="1883520"/>
            <a:ext cx="4246560" cy="227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E8390"/>
                </a:solidFill>
                <a:latin typeface="Courier New"/>
                <a:ea typeface="Courier New"/>
                <a:cs typeface="Courier New"/>
                <a:sym typeface="Courier New"/>
              </a:rPr>
              <a:t>knn_funcion.py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27"/>
          <p:cNvSpPr/>
          <p:nvPr/>
        </p:nvSpPr>
        <p:spPr>
          <a:xfrm>
            <a:off x="6460200" y="2194560"/>
            <a:ext cx="5023800" cy="23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collections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Counter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predecir(nueva, entrenamiento, k):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vecinos = 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sorted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entrenamiento,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key=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lambda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m: distancia(nueva, m.medidas),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)[:k]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votos = 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Counter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(v.clase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v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vecinos)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votos.most_common(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)[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][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votos.most_common(1)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-&gt; [('versicolor', 2)]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27"/>
          <p:cNvSpPr/>
          <p:nvPr/>
        </p:nvSpPr>
        <p:spPr>
          <a:xfrm>
            <a:off x="567000" y="5715000"/>
            <a:ext cx="11054520" cy="657720"/>
          </a:xfrm>
          <a:prstGeom prst="roundRect">
            <a:avLst>
              <a:gd fmla="val 8333" name="adj"/>
            </a:avLst>
          </a:prstGeom>
          <a:solidFill>
            <a:srgbClr val="EDF3F3"/>
          </a:solidFill>
          <a:ln cap="flat" cmpd="sng" w="12700">
            <a:solidFill>
              <a:srgbClr val="ED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27"/>
          <p:cNvSpPr/>
          <p:nvPr/>
        </p:nvSpPr>
        <p:spPr>
          <a:xfrm>
            <a:off x="768240" y="5715000"/>
            <a:ext cx="10643040" cy="65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sorted con key y lambda, slicing y Counter salen del bloque 2. En el proyecto convertirás esta función en el método predecir de la clase ClasificadorKNN.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202B"/>
        </a:solidFill>
      </p:bgPr>
    </p:bg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28"/>
          <p:cNvSpPr/>
          <p:nvPr/>
        </p:nvSpPr>
        <p:spPr>
          <a:xfrm>
            <a:off x="567000" y="457200"/>
            <a:ext cx="1105452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 u="none" strike="noStrike">
                <a:solidFill>
                  <a:srgbClr val="17BEBB"/>
                </a:solidFill>
                <a:latin typeface="Calibri"/>
                <a:ea typeface="Calibri"/>
                <a:cs typeface="Calibri"/>
                <a:sym typeface="Calibri"/>
              </a:rPr>
              <a:t>PROYECTO FINAL · ENUNCIADO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28"/>
          <p:cNvSpPr/>
          <p:nvPr/>
        </p:nvSpPr>
        <p:spPr>
          <a:xfrm>
            <a:off x="567000" y="749880"/>
            <a:ext cx="11054520" cy="639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Un clasificador de vecinos más cercanos</a:t>
            </a:r>
            <a:endParaRPr b="0" sz="30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28"/>
          <p:cNvSpPr/>
          <p:nvPr/>
        </p:nvSpPr>
        <p:spPr>
          <a:xfrm>
            <a:off x="567000" y="1600200"/>
            <a:ext cx="5394240" cy="4205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3080" lvl="0" marL="34308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E2E8"/>
              </a:buClr>
              <a:buSzPts val="1500"/>
              <a:buFont typeface="Noto Sans Symbols"/>
              <a:buChar char="🞂"/>
            </a:pPr>
            <a:r>
              <a:rPr b="0" lang="en-US" sz="1500" u="none" strike="noStrike">
                <a:solidFill>
                  <a:srgbClr val="D6E2E8"/>
                </a:solidFill>
                <a:latin typeface="Calibri"/>
                <a:ea typeface="Calibri"/>
                <a:cs typeface="Calibri"/>
                <a:sym typeface="Calibri"/>
              </a:rPr>
              <a:t>Carga iris.csv con el módulo csv y construye objetos Muestra .</a:t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D6E2E8"/>
              </a:buClr>
              <a:buSzPts val="1500"/>
              <a:buFont typeface="Noto Sans Symbols"/>
              <a:buChar char="🞂"/>
            </a:pPr>
            <a:r>
              <a:rPr b="0" lang="en-US" sz="1500" u="none" strike="noStrike">
                <a:solidFill>
                  <a:srgbClr val="D6E2E8"/>
                </a:solidFill>
                <a:latin typeface="Calibri"/>
                <a:ea typeface="Calibri"/>
                <a:cs typeface="Calibri"/>
                <a:sym typeface="Calibri"/>
              </a:rPr>
              <a:t>Divide en entrenamiento y prueba (80/20) barajando con random.seed fijo para poder repetir el resultado.</a:t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D6E2E8"/>
              </a:buClr>
              <a:buSzPts val="1500"/>
              <a:buFont typeface="Noto Sans Symbols"/>
              <a:buChar char="🞂"/>
            </a:pPr>
            <a:r>
              <a:rPr b="0" lang="en-US" sz="1500" u="none" strike="noStrike">
                <a:solidFill>
                  <a:srgbClr val="D6E2E8"/>
                </a:solidFill>
                <a:latin typeface="Calibri"/>
                <a:ea typeface="Calibri"/>
                <a:cs typeface="Calibri"/>
                <a:sym typeface="Calibri"/>
              </a:rPr>
              <a:t>Normaliza las medidas con los valores mínimo y máximo del conjunto de entrenamiento.</a:t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D6E2E8"/>
              </a:buClr>
              <a:buSzPts val="1500"/>
              <a:buFont typeface="Noto Sans Symbols"/>
              <a:buChar char="🞂"/>
            </a:pPr>
            <a:r>
              <a:rPr b="0" lang="en-US" sz="1500" u="none" strike="noStrike">
                <a:solidFill>
                  <a:srgbClr val="D6E2E8"/>
                </a:solidFill>
                <a:latin typeface="Calibri"/>
                <a:ea typeface="Calibri"/>
                <a:cs typeface="Calibri"/>
                <a:sym typeface="Calibri"/>
              </a:rPr>
              <a:t>Implementa ClasificadorKNN: distancia euclídea, k vecinos más próximos y voto mayoritario.</a:t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D6E2E8"/>
              </a:buClr>
              <a:buSzPts val="1500"/>
              <a:buFont typeface="Noto Sans Symbols"/>
              <a:buChar char="🞂"/>
            </a:pPr>
            <a:r>
              <a:rPr b="0" lang="en-US" sz="1500" u="none" strike="noStrike">
                <a:solidFill>
                  <a:srgbClr val="D6E2E8"/>
                </a:solidFill>
                <a:latin typeface="Calibri"/>
                <a:ea typeface="Calibri"/>
                <a:cs typeface="Calibri"/>
                <a:sym typeface="Calibri"/>
              </a:rPr>
              <a:t>Compara con ModeloMayoritario y prueba k = 1, 3, 5, 7, 11. Comenta los resultados.</a:t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28"/>
          <p:cNvSpPr/>
          <p:nvPr/>
        </p:nvSpPr>
        <p:spPr>
          <a:xfrm>
            <a:off x="6309360" y="1600200"/>
            <a:ext cx="5302800" cy="3484440"/>
          </a:xfrm>
          <a:prstGeom prst="roundRect">
            <a:avLst>
              <a:gd fmla="val 2099" name="adj"/>
            </a:avLst>
          </a:prstGeom>
          <a:solidFill>
            <a:srgbClr val="1A2F3D"/>
          </a:solidFill>
          <a:ln cap="flat" cmpd="sng" w="12700">
            <a:solidFill>
              <a:srgbClr val="2B42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28"/>
          <p:cNvSpPr/>
          <p:nvPr/>
        </p:nvSpPr>
        <p:spPr>
          <a:xfrm>
            <a:off x="6492240" y="2011680"/>
            <a:ext cx="4982760" cy="374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ClasificadorKNN(Modelo):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__init__(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k=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super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().__init__(f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"k-NN (k={k})"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.k = k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predecir(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X):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._votar(x)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x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X]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_votar(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x):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vecinos = 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sorted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._muestras,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key=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lambda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m: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.distancia(x, m))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cercanos = vecinos[: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.k]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...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28"/>
          <p:cNvSpPr/>
          <p:nvPr/>
        </p:nvSpPr>
        <p:spPr>
          <a:xfrm>
            <a:off x="6492240" y="1710000"/>
            <a:ext cx="4937040" cy="227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E8390"/>
                </a:solidFill>
                <a:latin typeface="Courier New"/>
                <a:ea typeface="Courier New"/>
                <a:cs typeface="Courier New"/>
                <a:sym typeface="Courier New"/>
              </a:rPr>
              <a:t>knn.py</a:t>
            </a:r>
            <a:endParaRPr b="0" sz="10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28"/>
          <p:cNvSpPr/>
          <p:nvPr/>
        </p:nvSpPr>
        <p:spPr>
          <a:xfrm>
            <a:off x="567000" y="6035040"/>
            <a:ext cx="5485680" cy="319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2026-09-21T10:54:37Z</dcterms:created>
  <dc:creator>PptxGenJS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32</vt:i4>
  </property>
  <property fmtid="{D5CDD505-2E9C-101B-9397-08002B2CF9AE}" pid="3" name="PresentationFormat">
    <vt:lpwstr>On-screen Show (16:9)</vt:lpwstr>
  </property>
  <property fmtid="{D5CDD505-2E9C-101B-9397-08002B2CF9AE}" pid="4" name="Slides">
    <vt:i4>32</vt:i4>
  </property>
</Properties>
</file>